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78" r:id="rId2"/>
    <p:sldId id="315" r:id="rId3"/>
    <p:sldId id="377" r:id="rId4"/>
    <p:sldId id="318" r:id="rId5"/>
    <p:sldId id="317" r:id="rId6"/>
    <p:sldId id="375" r:id="rId7"/>
    <p:sldId id="322" r:id="rId8"/>
    <p:sldId id="365" r:id="rId9"/>
    <p:sldId id="326" r:id="rId10"/>
    <p:sldId id="320" r:id="rId11"/>
    <p:sldId id="324" r:id="rId12"/>
    <p:sldId id="323" r:id="rId13"/>
    <p:sldId id="371" r:id="rId14"/>
    <p:sldId id="325" r:id="rId15"/>
    <p:sldId id="309" r:id="rId16"/>
    <p:sldId id="367" r:id="rId17"/>
    <p:sldId id="368" r:id="rId18"/>
    <p:sldId id="328" r:id="rId19"/>
    <p:sldId id="329" r:id="rId20"/>
    <p:sldId id="369" r:id="rId21"/>
    <p:sldId id="352" r:id="rId22"/>
    <p:sldId id="353" r:id="rId23"/>
    <p:sldId id="336" r:id="rId24"/>
    <p:sldId id="332" r:id="rId25"/>
    <p:sldId id="339" r:id="rId26"/>
    <p:sldId id="370" r:id="rId27"/>
    <p:sldId id="358" r:id="rId28"/>
    <p:sldId id="374" r:id="rId29"/>
    <p:sldId id="287" r:id="rId30"/>
    <p:sldId id="361" r:id="rId31"/>
    <p:sldId id="362" r:id="rId32"/>
    <p:sldId id="360" r:id="rId33"/>
    <p:sldId id="364" r:id="rId34"/>
    <p:sldId id="294" r:id="rId3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D6EE76-2EED-433F-9637-FA0455F98D15}">
          <p14:sldIdLst>
            <p14:sldId id="378"/>
            <p14:sldId id="315"/>
            <p14:sldId id="377"/>
            <p14:sldId id="318"/>
            <p14:sldId id="317"/>
            <p14:sldId id="375"/>
            <p14:sldId id="322"/>
            <p14:sldId id="365"/>
            <p14:sldId id="326"/>
            <p14:sldId id="320"/>
            <p14:sldId id="324"/>
            <p14:sldId id="323"/>
            <p14:sldId id="371"/>
            <p14:sldId id="325"/>
            <p14:sldId id="309"/>
            <p14:sldId id="367"/>
            <p14:sldId id="368"/>
            <p14:sldId id="328"/>
            <p14:sldId id="329"/>
            <p14:sldId id="369"/>
          </p14:sldIdLst>
        </p14:section>
        <p14:section name="설계단계" id="{079FB007-4044-4E60-AD09-4E9512A5438F}">
          <p14:sldIdLst>
            <p14:sldId id="352"/>
            <p14:sldId id="353"/>
            <p14:sldId id="336"/>
            <p14:sldId id="332"/>
            <p14:sldId id="339"/>
            <p14:sldId id="370"/>
            <p14:sldId id="358"/>
            <p14:sldId id="374"/>
            <p14:sldId id="287"/>
            <p14:sldId id="361"/>
            <p14:sldId id="362"/>
            <p14:sldId id="360"/>
            <p14:sldId id="364"/>
            <p14:sldId id="294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AA8"/>
    <a:srgbClr val="003399"/>
    <a:srgbClr val="77787B"/>
    <a:srgbClr val="C40452"/>
    <a:srgbClr val="9999FF"/>
    <a:srgbClr val="E2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8" autoAdjust="0"/>
    <p:restoredTop sz="94766" autoAdjust="0"/>
  </p:normalViewPr>
  <p:slideViewPr>
    <p:cSldViewPr>
      <p:cViewPr varScale="1">
        <p:scale>
          <a:sx n="80" d="100"/>
          <a:sy n="80" d="100"/>
        </p:scale>
        <p:origin x="-106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5D5A-343A-4C1A-BC9D-610EC8B80F49}" type="datetimeFigureOut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D85EE-51FF-49B2-AE4A-EF643293EA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166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C18-F846-4F83-9E4A-EF96E909B73F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BE8A-08A0-4AE2-B806-C9B9A473B0ED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617245"/>
            <a:ext cx="2133600" cy="196131"/>
          </a:xfrm>
        </p:spPr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3E15-7006-4370-B5F6-60D7104AE3B4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0D11-2C95-44F2-9DFC-D0C737CB5390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845-0C4F-469E-8726-3EBFD71077A7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9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C019-3CDA-4483-987D-B12D1EB4D233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6E48-2907-481B-8F8C-35E94B4338B9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666-04C9-40C3-88DF-F7C22C7A6172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6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7B48-006F-4BC1-BDC8-3C8CA726AC13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DE9A-8BD0-4588-90EC-B8326F0668FE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B5EE-9957-45ED-8881-249F27AAE9BD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821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EC2E-D34C-4476-B4C7-64731BF56572}" type="datetime1">
              <a:rPr lang="ko-KR" altLang="en-US" smtClean="0"/>
              <a:pPr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0" y="4509120"/>
            <a:ext cx="9144000" cy="234888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21600000">
            <a:off x="0" y="764704"/>
            <a:ext cx="4716016" cy="35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115616" y="1916832"/>
            <a:ext cx="70823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SW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개발</a:t>
            </a:r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/HW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제작 설계서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3688" y="3933056"/>
            <a:ext cx="6389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프로젝트명 : CrackBot AI — 건축물 균열 탐지 및 안전점검 자동화 시스템</a:t>
            </a:r>
            <a:endParaRPr lang="ko-KR" altLang="en-US" sz="2400" b="1" spc="-150" dirty="0">
              <a:solidFill>
                <a:srgbClr val="77787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8680" y="4754468"/>
            <a:ext cx="7526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t>2026. 08. 00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193D47B2-ECB2-FCC5-FD1D-67B018129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수행 단계별 주요 산출물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61158"/>
              </p:ext>
            </p:extLst>
          </p:nvPr>
        </p:nvGraphicFramePr>
        <p:xfrm>
          <a:off x="1187625" y="1510757"/>
          <a:ext cx="7416822" cy="49502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01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5006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단계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산출물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일반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소프트웨어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하드웨어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54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∙모바일 </a:t>
                      </a:r>
                      <a:r>
                        <a:rPr lang="en-US" sz="700" b="1" kern="0" spc="0" dirty="0">
                          <a:effectLst/>
                        </a:rPr>
                        <a:t>APP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∙Web </a:t>
                      </a:r>
                      <a:r>
                        <a:rPr lang="ko-KR" altLang="en-US" sz="700" b="1" kern="0" spc="0" dirty="0">
                          <a:effectLst/>
                        </a:rPr>
                        <a:t>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빅데이터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∙인공지능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∙블록체인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en-US" sz="700" b="1" kern="0" spc="0" dirty="0" err="1">
                          <a:effectLst/>
                        </a:rPr>
                        <a:t>IoT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>
                          <a:effectLst/>
                        </a:rPr>
                        <a:t>로봇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드론</a:t>
                      </a:r>
                      <a:r>
                        <a:rPr lang="ko-KR" altLang="en-US" sz="700" b="1" kern="0" spc="0" dirty="0">
                          <a:effectLst/>
                        </a:rPr>
                        <a:t>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환경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시장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기술 환경 분석서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설문조사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인터뷰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0059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요구사항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요구사항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유즈케이스</a:t>
                      </a:r>
                      <a:r>
                        <a:rPr lang="ko-KR" altLang="en-US" sz="800" kern="0" spc="0" dirty="0">
                          <a:effectLst/>
                        </a:rPr>
                        <a:t>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1963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아키텍처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구성도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시스템 구성도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흐름도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데이터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UI/UX </a:t>
                      </a:r>
                      <a:r>
                        <a:rPr lang="ko-KR" altLang="en-US" sz="800" kern="0" spc="0" dirty="0">
                          <a:effectLst/>
                        </a:rPr>
                        <a:t>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센서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0059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기능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메뉴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화면 설계서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엔티티</a:t>
                      </a:r>
                      <a:r>
                        <a:rPr lang="ko-KR" altLang="en-US" sz="800" kern="0" spc="0" dirty="0">
                          <a:effectLst/>
                        </a:rPr>
                        <a:t> 관계도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기능 처리도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기능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알고리즘 명세서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설명서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데이터 수집처리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 설계도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개발 </a:t>
                      </a:r>
                      <a:r>
                        <a:rPr lang="en-US" altLang="ko-KR" sz="900" b="1" kern="0" spc="0" dirty="0">
                          <a:effectLst/>
                        </a:rPr>
                        <a:t>/ </a:t>
                      </a:r>
                      <a:r>
                        <a:rPr lang="ko-KR" altLang="en-US" sz="900" b="1" kern="0" spc="0" dirty="0">
                          <a:effectLst/>
                        </a:rPr>
                        <a:t>구현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프로그램 목록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테이블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핵심 소스코드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624" y="6453336"/>
            <a:ext cx="34563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※ ○ </a:t>
            </a:r>
            <a:r>
              <a:rPr lang="ko-KR" altLang="en-US" sz="1500" dirty="0"/>
              <a:t>필수</a:t>
            </a:r>
            <a:r>
              <a:rPr lang="en-US" altLang="ko-KR" sz="1500" dirty="0"/>
              <a:t>, △ </a:t>
            </a:r>
            <a:r>
              <a:rPr lang="ko-KR" altLang="en-US" sz="1500" dirty="0"/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5D688C9C-E99B-9A7D-A7C8-08A531376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시장</a:t>
            </a:r>
            <a:r>
              <a:rPr lang="en-US" altLang="ko-KR" sz="1700" b="1" noProof="0" dirty="0">
                <a:solidFill>
                  <a:schemeClr val="bg1"/>
                </a:solidFill>
                <a:latin typeface="+mn-ea"/>
                <a:cs typeface="+mj-cs"/>
              </a:rPr>
              <a:t>/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기술 동향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건축물 안전점검 시장 현황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16" y="1369871"/>
            <a:ext cx="7876108" cy="4699490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68DCFEA2-FD25-3801-86D6-6DE6784769A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국내 건축물 안전점검 시장
  - 국내 준공 후 30년 이상 건축물: 전체의 약 45% (2024 기준)
  - 연간 안전점검 대상 건물 수: 약 73만 동 (국토부 2023)
  - 안전점검 서비스 시장 규모: 연 5,000억원 이상, 연평균 8% 성장 예상
▶ 기존 점검 방식의 문제점
  - 육안 수작업 + 수기 기록 → 주관적 판단, 점검 편차 발생
  - 보고서 작성 시간: 현장 점검의 2~3배 소요
  - AI 기반 자동화 수요 급증 — 스마트시티, 건설테크 트렌드 연계
▶ 기술 동향
  - YOLO 계열 객체 탐지 모델: 건설·인프라 분야 적용 사례 급증
  - 국내외 AI 균열 탐지 특허 출원 2020~2024년 3배 이상 증가
  - 국토부 '스마트 건설 기술 로드맵': AI 안전점검 핵심 과제로 선정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E334B20-DDC3-CE57-4B9D-02AF7E5533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시장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기술 동향 분석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AI 건축물 점검 기술 동향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9836"/>
            <a:ext cx="4104455" cy="409141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147" y="1569836"/>
            <a:ext cx="4141366" cy="4091412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6">
            <a:extLst>
              <a:ext uri="{FF2B5EF4-FFF2-40B4-BE49-F238E27FC236}">
                <a16:creationId xmlns:a16="http://schemas.microsoft.com/office/drawing/2014/main" xmlns="" id="{2AEDE906-2236-DE9A-1320-CC105DEB0F9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YOLOv8 기반 균열 탐지 기술
  - Ultralytics YOLOv8: 실시간 객체 탐지 SOTA 모델, mAP 기준 최고 성능
  - 건축물 균열 공개 데이터셋: Roboflow, SDNET, CrackForest 등
  - 전이학습(Transfer Learning)으로 소규모 도메인 데이터셋에서도 높은 정확도 달성
▶ 경쟁사/유사 제품 분석
  ① KT AI 안전진단: 드론+AI 조합, 대형 건물 외벽 전용, 고비용
  ② 스마트 안전점검(CCTV 기반): 고정 카메라 필요, 모바일 미지원
  ③ 해외 Crack Monitor Pro: iOS 전용, 한국 건축법 기준 미반영
▶ CrackBot AI 포지셔닝
  - 스마트폰 카메라만으로 즉시 사용 가능 (추가 장비 불필요)
  - 국내 건축물 안전등급 기준(A~E) 반영, 한국어 보고서 자동 생성
  - 오픈소스 기반 저비용 구현 (Docker, FastAPI, React)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EC2219F-33AF-397A-E05B-99F2DF943D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4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설문조사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건축물 안전점검 실무자 설문조사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83" y="1484783"/>
            <a:ext cx="4349925" cy="2182341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421752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96" y="2180524"/>
            <a:ext cx="4163306" cy="309942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34" y="3667125"/>
            <a:ext cx="2304256" cy="1612819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1623" y="4458880"/>
            <a:ext cx="2346998" cy="1356107"/>
          </a:xfrm>
          <a:prstGeom prst="rect">
            <a:avLst/>
          </a:prstGeom>
        </p:spPr>
      </p:pic>
      <p:sp>
        <p:nvSpPr>
          <p:cNvPr id="18" name="사각형: 둥근 모서리 26">
            <a:extLst>
              <a:ext uri="{FF2B5EF4-FFF2-40B4-BE49-F238E27FC236}">
                <a16:creationId xmlns:a16="http://schemas.microsoft.com/office/drawing/2014/main" xmlns="" id="{32C8AE77-3E4B-DC03-95E5-F96B4E4F62F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조사 개요: 건축물 안전점검 실무자 30명 대상, 2026년 4월 실시
▶ 주요 문항 및 결과
  Q1. 현재 안전점검 보고서 작성에 소요되는 시간은?
      → 2~4시간(60%) / 4~6시간(27%) / 6시간 이상(13%)
  Q2. 균열 너비 측정 시 오차 발생 경험이 있는가?
      → 자주 있다(53%) / 가끔 있다(37%) / 거의 없다(10%)
  Q3. AI 자동 분석 도구가 있다면 사용하겠는가?
      → 매우 그렇다(67%) / 그렇다(27%) / 보통(6%)
  Q4. 가장 필요한 기능은?
      → 보고서 자동 생성(43%) / AI 균열 탐지(37%) / 안전등급 자동 판정(20%)
▶ 결론: 현장 점검사 90% 이상이 AI 자동화 도구 필요성에 동의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F11987E-FEA9-E0E4-2878-73A305AD00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95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인터뷰 결과서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현장 점검사 인터뷰 결과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31" y="1532568"/>
            <a:ext cx="7667625" cy="4457700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D283DBBF-9867-87D3-A776-7B0635AA87E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인터뷰 대상: 건축물 안전점검 경력 5년 이상 점검사 3명
▶ 인터뷰 일시: 2026년 4월 15일
인터뷰 A (경력 8년)
  "하루에 건물 2~3동을 점검하는데, 보고서 쓰는 시간이 절반 이상입니다.
   균열 사진 찍고, 크기 재고, Excel에 입력하고, 최종 보고서 만드는 게 너무 번거롭습니다."
인터뷰 B (경력 12년)
  "경험이 쌓이면 균열만 봐도 등급이 어느 정도인지 알지만,
   신규 점검사들은 기준이 모호해서 같은 균열도 다르게 판정하는 경우가 많습니다.
   AI가 객관적인 기준을 제공해주면 정말 도움이 될 것 같습니다."
인터뷰 C (경력 6년)
  "스마트폰으로 찍고 바로 결과를 볼 수 있다면, 현장에서 즉시 판단할 수 있어
   작업 효율이 훨씬 높아질 것 같습니다. 보고서도 자동으로 나오면 금상첨화죠."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1F10DA88-101A-4225-F94B-263090EBF3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7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요구사항 정의서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79930"/>
            <a:ext cx="8568952" cy="2747411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69659BEF-F123-08F4-4B5B-57C4F02FD4D3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기능 요구사항 (S/W)
  REQ-01: 사용자는 이메일/비밀번호로 로그인할 수 있어야 한다.
  REQ-02: 건축물(건물명, 주소, 층수, 건축연도)을 등록·수정·조회할 수 있어야 한다.
  REQ-03: 점검 프로젝트를 생성하고 구역(Zone)을 관리할 수 있어야 한다.
  REQ-04: 스마트폰/PC에서 건축물 사진을 업로드할 수 있어야 한다.
  REQ-05: AI가 업로드된 이미지에서 균열을 자동 탐지하고 바운딩박스로 표시해야 한다.
  REQ-06: 탐지 결과(위치, 너비, 심각도)를 DB에 저장하고 조회할 수 있어야 한다.
  REQ-07: 균열 너비 기준으로 A~E 안전등급을 자동 판정해야 한다.
  REQ-08: PDF 및 DOCX 형식의 점검 보고서를 자동 생성·다운로드할 수 있어야 한다.
  REQ-09: 모바일(768px 이하)과 데스크톱 환경 모두에서 동작해야 한다.
▶ 비기능 요구사항
  REQ-NF-01: API 응답 시간 평균 500ms 이하 (균열 탐지 제외)
  REQ-NF-02: 균열 탐지 정확도 mAP50 80% 이상
  REQ-NF-03: Docker 단일 명령으로 배포 가능해야 한다.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9EEBD11-4006-3594-59BB-DFE0EC923D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4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요구사항 정의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51520" y="1268760"/>
          <a:ext cx="4320480" cy="4968554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399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구분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기능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설명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4738">
                <a:tc rowSpan="1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S/W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로그인/인증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이메일+비밀번호 JWT 인증. Access Token(30분)+Refresh Token(7일) 자동 갱신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건축물 관리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건물 등록·수정·삭제·조회 (건물명, 주소, 층수, 건축연도, GPS 좌표)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점검 프로젝트 관리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프로젝트 생성·상태 관리(계획/진행/완료), 구역(Zone) 생성·조회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사진 업로드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PC/모바일에서 JPEG·PNG 이미지 파일 업로드 (드래그앤드롭 지원)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AI 균열 탐지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YOLOv8 모델로 균열 탐지. 바운딩박스·신뢰도·심각도·균열너비(mm) 반환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안전등급 자동 판정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균열너비 기준 A~E 5등급 자동 산출. 한국어 권장사항 자동 생성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39919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보고서 자동 생성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PDF(ReportLab)+DOCX(python-docx) 비동기 생성. 상태 폴링·다운로드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39919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반응형 UI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768px 기준 모바일(하단탭)/데스크톱(사이드바) 자동 전환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90893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탐지 이력 조회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구역별 사진·탐지 결과·오버레이 이미지 조회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프로필 관리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사용자 정보 확인 및 로그아웃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9473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오프라인 큐</a:t>
                      </a: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네트워크 불가 시 분석 요청 임시 저장 (UI 구현, 로직 개발 예정)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779677" y="1268760"/>
          <a:ext cx="4112803" cy="4968551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66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56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구분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기능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설명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1871">
                <a:tc rowSpan="8">
                  <a:txBody>
                    <a:bodyPr/>
                    <a:lstStyle/>
                    <a:p>
                      <a:pPr latinLnBrk="1"/>
                      <a:r>
                        <a:t>H/W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스마트폰 카메라</a:t>
                      </a:r>
                    </a:p>
                  </a:txBody>
                  <a:tcPr marL="30996" marR="30996" marT="8570" marB="8570" anchor="ctr"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이미지 촬영 디바이스. 별도 H/W 추가 구매 없이 기존 스마트폰 사용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서버 환경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Intel i7, RAM 16GB 이상 PC에서 YOLOv8 CPU 추론 (GPU 선택 사항)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네트워크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WiFi 또는 LTE 환경에서 이미지 업로드 및 API 통신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(없음)</a:t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IoT/센서/드론 등 별도 H/W 구성요소 없음 — 순수 S/W 프로젝트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88136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872220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996" marR="30996" marT="8570" marB="857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B851744A-AE4F-BFAF-4985-F81C612084E7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6A8DEEC-EDDD-D5BE-5FB2-FEBE84D68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3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 err="1">
                <a:solidFill>
                  <a:schemeClr val="bg1"/>
                </a:solidFill>
                <a:latin typeface="+mn-ea"/>
                <a:cs typeface="+mj-cs"/>
              </a:rPr>
              <a:t>유즈케이스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유즈케이스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224706"/>
            <a:ext cx="4733032" cy="405352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5322656"/>
            <a:ext cx="4760640" cy="90353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680" y="1664858"/>
            <a:ext cx="3577084" cy="3927202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2096E5B6-DD78-0BA2-8120-DB274B63CE3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액터: 점검사(Inspector)
▶ 주요 유즈케이스
  UC-01 로그인: 점검사가 이메일+비밀번호로 시스템에 로그인한다.
  UC-02 건물 등록: 점검 대상 건물 정보(이름, 주소, 층수 등)를 등록한다.
  UC-03 프로젝트 생성: 점검 프로젝트(제목, 기간, 구역)를 생성한다.
  UC-04 사진 촬영·업로드: 건물 구역을 촬영하여 시스템에 업로드한다.
  UC-05 AI 균열 분석: 업로드된 이미지로 AI 균열 탐지를 실행한다.
  UC-06 탐지 결과 확인: 바운딩박스 오버레이 이미지와 균열 데이터를 확인한다.
  UC-07 안전등급 확인: 구역별 안전등급(A~E)과 권장사항을 확인한다.
  UC-08 보고서 생성: PDF 또는 DOCX 보고서를 자동 생성하고 다운로드한다.
  UC-09 프로젝트 완료: 점검 프로젝트 상태를 '완료'로 전환한다.
  UC-10 로그아웃: 시스템에서 로그아웃한다.
[이미지 삽입: 유즈케이스 다이어그램 — 점검사↔시스템 관계도]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4062E413-BE7C-D6B2-00C8-783CC0EC24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서비스 구성도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t>CrackBot AI는 건축물 현장 사진 촬영 → AI 균열 탐지 → 안전등급 판정 → 보고서 자동 생성의 전 과정을 단일 웹 앱에서 처리합니다.</a:t>
            </a:r>
          </a:p>
          <a:p>
            <a:r>
              <a:t>사용자: 현장 점검사 (PC/모바일 브라우저)</a:t>
            </a:r>
          </a:p>
          <a:p>
            <a:r>
              <a:t>시스템: React SPA → FastAPI 서버 → YOLOv8 모델 → SQLite DB → 보고서 파일</a:t>
            </a:r>
          </a:p>
          <a:p>
            <a:r>
              <a:t>배포: Docker Compose (backend + nginx/frontend 컨테이너)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717594"/>
            <a:ext cx="3429000" cy="358361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950" y="1803808"/>
            <a:ext cx="3886200" cy="3231174"/>
          </a:xfrm>
          <a:prstGeom prst="rect">
            <a:avLst/>
          </a:prstGeom>
        </p:spPr>
      </p:pic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xmlns="" id="{9F55A738-B68E-6DDA-E059-7059C30E1FD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[이미지 삽입: 시스템 구성도 — 사용자→Nginx→FastAPI→YOLOv8→DB→보고서 흐름도]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BC05F760-5A43-8BEB-E2CD-64E1D6F25B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:a16="http://schemas.microsoft.com/office/drawing/2014/main" xmlns="" id="{7ADB48A4-E2D1-87A1-7382-1F1A160B2A07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818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서비스 시나리오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64" y="2204864"/>
            <a:ext cx="4205728" cy="27553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495" y="1627914"/>
            <a:ext cx="4144670" cy="4204593"/>
          </a:xfrm>
          <a:prstGeom prst="rect">
            <a:avLst/>
          </a:prstGeom>
        </p:spPr>
      </p:pic>
      <p:sp>
        <p:nvSpPr>
          <p:cNvPr id="17" name="사각형: 둥근 모서리 26">
            <a:extLst>
              <a:ext uri="{FF2B5EF4-FFF2-40B4-BE49-F238E27FC236}">
                <a16:creationId xmlns:a16="http://schemas.microsoft.com/office/drawing/2014/main" xmlns="" id="{D590C405-7030-BF99-7ED7-246D2BB2CE9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메인 시나리오: 건물 균열 점검 및 보고서 생성
  1. 점검사가 앱에 로그인한다.
  2. 점검 대상 건물을 등록하고 점검 프로젝트를 생성한다.
  3. 점검 구역(예: 1층 외벽, 지하 주차장)을 설정한다.
  4. 스마트폰으로 해당 구역 균열 의심 부위를 촬영하여 업로드한다.
  5. AI가 이미지를 분석하여 균열 위치·크기·심각도를 자동 탐지한다.
  6. 탐지 결과를 확인하고 바운딩박스 오버레이 이미지를 검토한다.
  7. 구역별 안전등급(A~E)이 자동으로 산출된다.
  8. [보고서 생성] 버튼을 눌러 PDF/DOCX 보고서를 생성·다운로드한다.
[이미지 삽입: 사용자 흐름 시나리오 다이어그램]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32A7EFF7-9AFA-3C51-BE4D-F3C6434AF8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71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흐름도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서비스 흐름도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775262"/>
            <a:ext cx="4343150" cy="316590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3" y="1704102"/>
            <a:ext cx="4320480" cy="3525098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6">
            <a:extLst>
              <a:ext uri="{FF2B5EF4-FFF2-40B4-BE49-F238E27FC236}">
                <a16:creationId xmlns:a16="http://schemas.microsoft.com/office/drawing/2014/main" xmlns="" id="{B8EE4F8C-2E58-A451-2719-48988A0B78B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데이터 흐름: 이미지 → 탐지 → 등급 → 보고서
  [사진 업로드] → POST /v1/photos/detect
  → [YOLOv8 추론] → DefectDetection 저장
  → [안전등급 계산] → SafetyGrade 저장
  → [보고서 생성 요청] → POST /v1/reports
  → [BackgroundTask] → PDF/DOCX 파일 생성
  → [폴링 완료] → GET /v1/reports/{id}/download-file
[이미지 삽입: 데이터 흐름도(DFD) 또는 시퀀스 다이어그램]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1BBF02A6-9C10-72D4-AC93-9BA89BC362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48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en-US" altLang="ko-KR" sz="1700" b="1" noProof="0">
                <a:solidFill>
                  <a:schemeClr val="bg1"/>
                </a:solidFill>
                <a:latin typeface="+mn-ea"/>
                <a:cs typeface="+mj-cs"/>
              </a:rPr>
              <a:t>UI/UX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정의서 </a:t>
            </a:r>
            <a:r>
              <a:rPr lang="en-US" altLang="ko-KR" sz="1400" b="1" noProof="0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 rot="5400000">
            <a:off x="-834231" y="3077394"/>
            <a:ext cx="4695825" cy="183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606060"/>
            </a:solidFill>
            <a:round/>
            <a:headEnd/>
            <a:tailEnd/>
          </a:ln>
          <a:effectLst>
            <a:outerShdw dist="38184" dir="2700000" algn="ctr" rotWithShape="0">
              <a:srgbClr val="BFBFBF"/>
            </a:outerShdw>
          </a:effectLst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ko-KR" altLang="en-US">
              <a:latin typeface="Arial" charset="0"/>
              <a:ea typeface="굴림" pitchFamily="48" charset="-127"/>
            </a:endParaRPr>
          </a:p>
        </p:txBody>
      </p:sp>
      <p:sp>
        <p:nvSpPr>
          <p:cNvPr id="30" name="Rectangle 2"/>
          <p:cNvSpPr>
            <a:spLocks noChangeArrowheads="1"/>
          </p:cNvSpPr>
          <p:nvPr/>
        </p:nvSpPr>
        <p:spPr bwMode="auto">
          <a:xfrm>
            <a:off x="592138" y="1647850"/>
            <a:ext cx="1836737" cy="107950"/>
          </a:xfrm>
          <a:prstGeom prst="rect">
            <a:avLst/>
          </a:prstGeom>
          <a:solidFill>
            <a:srgbClr val="D9D9D9"/>
          </a:solidFill>
          <a:ln w="6480">
            <a:solidFill>
              <a:srgbClr val="7F7F7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Status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592138" y="1758975"/>
            <a:ext cx="1836737" cy="244475"/>
          </a:xfrm>
          <a:prstGeom prst="rect">
            <a:avLst/>
          </a:pr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 b="1">
                <a:solidFill>
                  <a:srgbClr val="FFFFFF"/>
                </a:solidFill>
                <a:latin typeface="Trebuchet MS" pitchFamily="34" charset="0"/>
                <a:ea typeface="맑은 고딕" pitchFamily="50" charset="-127"/>
              </a:rPr>
              <a:t>간편가입</a:t>
            </a:r>
          </a:p>
        </p:txBody>
      </p:sp>
      <p:sp>
        <p:nvSpPr>
          <p:cNvPr id="33" name="AutoShape 4"/>
          <p:cNvSpPr>
            <a:spLocks noChangeArrowheads="1"/>
          </p:cNvSpPr>
          <p:nvPr/>
        </p:nvSpPr>
        <p:spPr bwMode="auto">
          <a:xfrm flipH="1">
            <a:off x="631825" y="1789137"/>
            <a:ext cx="295275" cy="165100"/>
          </a:xfrm>
          <a:prstGeom prst="homePlate">
            <a:avLst>
              <a:gd name="adj" fmla="val 50002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7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이전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595313" y="1997100"/>
            <a:ext cx="1836737" cy="255587"/>
          </a:xfrm>
          <a:prstGeom prst="rect">
            <a:avLst/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grpSp>
        <p:nvGrpSpPr>
          <p:cNvPr id="35" name="Group 6"/>
          <p:cNvGrpSpPr>
            <a:grpSpLocks/>
          </p:cNvGrpSpPr>
          <p:nvPr/>
        </p:nvGrpSpPr>
        <p:grpSpPr bwMode="auto">
          <a:xfrm>
            <a:off x="641350" y="2028850"/>
            <a:ext cx="1727200" cy="188912"/>
            <a:chOff x="494" y="1152"/>
            <a:chExt cx="1088" cy="119"/>
          </a:xfrm>
        </p:grpSpPr>
        <p:sp>
          <p:nvSpPr>
            <p:cNvPr id="36" name="AutoShape 7"/>
            <p:cNvSpPr>
              <a:spLocks noChangeArrowheads="1"/>
            </p:cNvSpPr>
            <p:nvPr/>
          </p:nvSpPr>
          <p:spPr bwMode="auto">
            <a:xfrm>
              <a:off x="494" y="1152"/>
              <a:ext cx="1088" cy="119"/>
            </a:xfrm>
            <a:prstGeom prst="roundRect">
              <a:avLst>
                <a:gd name="adj" fmla="val 16944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CBCBC"/>
                </a:gs>
              </a:gsLst>
              <a:lin ang="16200000" scaled="1"/>
            </a:gradFill>
            <a:ln w="9360">
              <a:solidFill>
                <a:srgbClr val="4D4D4D"/>
              </a:solidFill>
              <a:miter lim="800000"/>
              <a:headEnd/>
              <a:tailEnd/>
            </a:ln>
          </p:spPr>
          <p:txBody>
            <a:bodyPr wrap="none" lIns="90000" tIns="46800" rIns="72000" bIns="46800" anchor="ctr"/>
            <a:lstStyle>
              <a:lvl1pPr marL="92075" indent="-90488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2075" algn="l"/>
                  <a:tab pos="1006475" algn="l"/>
                  <a:tab pos="1920875" algn="l"/>
                  <a:tab pos="2835275" algn="l"/>
                  <a:tab pos="3749675" algn="l"/>
                  <a:tab pos="4664075" algn="l"/>
                  <a:tab pos="5578475" algn="l"/>
                  <a:tab pos="6492875" algn="l"/>
                  <a:tab pos="7407275" algn="l"/>
                  <a:tab pos="8321675" algn="l"/>
                  <a:tab pos="9236075" algn="l"/>
                  <a:tab pos="10150475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lang="en-US" altLang="ko-KR" sz="700">
                  <a:solidFill>
                    <a:srgbClr val="A6A6A6"/>
                  </a:solidFill>
                  <a:latin typeface="Trebuchet MS" pitchFamily="34" charset="0"/>
                  <a:ea typeface="맑은 고딕" pitchFamily="50" charset="-127"/>
                </a:rPr>
                <a:t>      </a:t>
              </a:r>
              <a:r>
                <a:rPr lang="ko-KR" altLang="ko-KR" sz="700">
                  <a:solidFill>
                    <a:srgbClr val="A6A6A6"/>
                  </a:solidFill>
                  <a:ea typeface="맑은 고딕" pitchFamily="50" charset="-127"/>
                </a:rPr>
                <a:t>간편</a:t>
              </a:r>
              <a:r>
                <a:rPr lang="en-US" altLang="ko-KR" sz="300">
                  <a:solidFill>
                    <a:srgbClr val="A6A6A6"/>
                  </a:solidFill>
                  <a:ea typeface="맑은 고딕" pitchFamily="50" charset="-127"/>
                </a:rPr>
                <a:t> </a:t>
              </a:r>
            </a:p>
          </p:txBody>
        </p:sp>
        <p:grpSp>
          <p:nvGrpSpPr>
            <p:cNvPr id="37" name="Group 8"/>
            <p:cNvGrpSpPr>
              <a:grpSpLocks/>
            </p:cNvGrpSpPr>
            <p:nvPr/>
          </p:nvGrpSpPr>
          <p:grpSpPr bwMode="auto">
            <a:xfrm>
              <a:off x="495" y="1158"/>
              <a:ext cx="362" cy="111"/>
              <a:chOff x="495" y="1158"/>
              <a:chExt cx="362" cy="111"/>
            </a:xfrm>
          </p:grpSpPr>
          <p:sp>
            <p:nvSpPr>
              <p:cNvPr id="42" name="AutoShape 9"/>
              <p:cNvSpPr>
                <a:spLocks noChangeArrowheads="1"/>
              </p:cNvSpPr>
              <p:nvPr/>
            </p:nvSpPr>
            <p:spPr bwMode="auto">
              <a:xfrm>
                <a:off x="495" y="1158"/>
                <a:ext cx="335" cy="111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CBCBC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0" bIns="46800" anchor="ctr"/>
              <a:lstStyle>
                <a:lvl1pPr marL="92075" indent="-90488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r>
                  <a:rPr lang="ko-KR" altLang="ko-KR" sz="700">
                    <a:solidFill>
                      <a:srgbClr val="000000"/>
                    </a:solidFill>
                    <a:latin typeface="Trebuchet MS" pitchFamily="34" charset="0"/>
                    <a:ea typeface="맑은 고딕" pitchFamily="50" charset="-127"/>
                  </a:rPr>
                  <a:t>기본정보</a:t>
                </a:r>
              </a:p>
            </p:txBody>
          </p:sp>
          <p:sp>
            <p:nvSpPr>
              <p:cNvPr id="43" name="AutoShape 10"/>
              <p:cNvSpPr>
                <a:spLocks noChangeArrowheads="1"/>
              </p:cNvSpPr>
              <p:nvPr/>
            </p:nvSpPr>
            <p:spPr bwMode="auto">
              <a:xfrm>
                <a:off x="810" y="1158"/>
                <a:ext cx="47" cy="111"/>
              </a:xfrm>
              <a:prstGeom prst="roundRect">
                <a:avLst>
                  <a:gd name="adj" fmla="val 0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CBCBC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>
              <a:off x="856" y="1152"/>
              <a:ext cx="0" cy="11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9" name="Group 12"/>
            <p:cNvGrpSpPr>
              <a:grpSpLocks/>
            </p:cNvGrpSpPr>
            <p:nvPr/>
          </p:nvGrpSpPr>
          <p:grpSpPr bwMode="auto">
            <a:xfrm>
              <a:off x="865" y="1152"/>
              <a:ext cx="363" cy="117"/>
              <a:chOff x="865" y="1152"/>
              <a:chExt cx="363" cy="117"/>
            </a:xfrm>
          </p:grpSpPr>
          <p:sp>
            <p:nvSpPr>
              <p:cNvPr id="40" name="AutoShape 13"/>
              <p:cNvSpPr>
                <a:spLocks noChangeArrowheads="1"/>
              </p:cNvSpPr>
              <p:nvPr/>
            </p:nvSpPr>
            <p:spPr bwMode="auto">
              <a:xfrm>
                <a:off x="865" y="1158"/>
                <a:ext cx="362" cy="111"/>
              </a:xfrm>
              <a:prstGeom prst="roundRect">
                <a:avLst>
                  <a:gd name="adj" fmla="val 0"/>
                </a:avLst>
              </a:prstGeom>
              <a:gradFill rotWithShape="0">
                <a:gsLst>
                  <a:gs pos="0">
                    <a:srgbClr val="85DFFF"/>
                  </a:gs>
                  <a:gs pos="100000">
                    <a:srgbClr val="00B6F6"/>
                  </a:gs>
                </a:gsLst>
                <a:lin ang="162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marL="92075" indent="-90488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92075" algn="l"/>
                    <a:tab pos="1006475" algn="l"/>
                    <a:tab pos="1920875" algn="l"/>
                    <a:tab pos="2835275" algn="l"/>
                    <a:tab pos="3749675" algn="l"/>
                    <a:tab pos="4664075" algn="l"/>
                    <a:tab pos="5578475" algn="l"/>
                    <a:tab pos="6492875" algn="l"/>
                    <a:tab pos="7407275" algn="l"/>
                    <a:tab pos="8321675" algn="l"/>
                    <a:tab pos="9236075" algn="l"/>
                    <a:tab pos="10150475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700">
                    <a:solidFill>
                      <a:srgbClr val="000000"/>
                    </a:solidFill>
                    <a:ea typeface="맑은 고딕" pitchFamily="50" charset="-127"/>
                  </a:rPr>
                  <a:t>정보</a:t>
                </a:r>
              </a:p>
            </p:txBody>
          </p:sp>
          <p:sp>
            <p:nvSpPr>
              <p:cNvPr id="41" name="Line 14"/>
              <p:cNvSpPr>
                <a:spLocks noChangeShapeType="1"/>
              </p:cNvSpPr>
              <p:nvPr/>
            </p:nvSpPr>
            <p:spPr bwMode="auto">
              <a:xfrm>
                <a:off x="1228" y="1152"/>
                <a:ext cx="0" cy="111"/>
              </a:xfrm>
              <a:prstGeom prst="line">
                <a:avLst/>
              </a:prstGeom>
              <a:noFill/>
              <a:ln w="324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44" name="AutoShape 15"/>
          <p:cNvSpPr>
            <a:spLocks noChangeArrowheads="1"/>
          </p:cNvSpPr>
          <p:nvPr/>
        </p:nvSpPr>
        <p:spPr bwMode="auto">
          <a:xfrm>
            <a:off x="623888" y="2262212"/>
            <a:ext cx="1778000" cy="3429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2F2F2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ko-KR" altLang="en-US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홍길동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남 </a:t>
            </a:r>
            <a:r>
              <a:rPr lang="en-US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55</a:t>
            </a:r>
            <a:r>
              <a:rPr lang="ko-KR" altLang="ko-KR" sz="7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세</a:t>
            </a:r>
          </a:p>
        </p:txBody>
      </p:sp>
      <p:graphicFrame>
        <p:nvGraphicFramePr>
          <p:cNvPr id="45" name="Group 16"/>
          <p:cNvGraphicFramePr>
            <a:graphicFrameLocks noGrp="1"/>
          </p:cNvGraphicFramePr>
          <p:nvPr/>
        </p:nvGraphicFramePr>
        <p:xfrm>
          <a:off x="603250" y="2638450"/>
          <a:ext cx="1828800" cy="156210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가입정보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지역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경기도 성남시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성별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남자</a:t>
                      </a:r>
                      <a:endParaRPr kumimoji="0" 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가입년도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6" name="AutoShape 35"/>
          <p:cNvSpPr>
            <a:spLocks noChangeArrowheads="1"/>
          </p:cNvSpPr>
          <p:nvPr/>
        </p:nvSpPr>
        <p:spPr bwMode="auto">
          <a:xfrm>
            <a:off x="1282700" y="3402037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1800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2012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r>
              <a:rPr lang="ko-KR" altLang="en-US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endParaRPr lang="ko-KR" altLang="ko-KR" sz="8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" name="Group 36"/>
          <p:cNvGraphicFramePr>
            <a:graphicFrameLocks noGrp="1"/>
          </p:cNvGraphicFramePr>
          <p:nvPr/>
        </p:nvGraphicFramePr>
        <p:xfrm>
          <a:off x="603250" y="3667150"/>
          <a:ext cx="1828800" cy="100965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2725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그룹정보</a:t>
                      </a:r>
                      <a:endParaRPr kumimoji="0" 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기간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 가입</a:t>
                      </a: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납입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20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년납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48" name="Group 55"/>
          <p:cNvGraphicFramePr>
            <a:graphicFrameLocks noGrp="1"/>
          </p:cNvGraphicFramePr>
          <p:nvPr/>
        </p:nvGraphicFramePr>
        <p:xfrm>
          <a:off x="603250" y="4941912"/>
          <a:ext cx="1828800" cy="1138238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1313">
                <a:tc gridSpan="2"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상품정보</a:t>
                      </a: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 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>
                      <a:noFill/>
                    </a:lnR>
                    <a:lnT w="288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보험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년만기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납입기간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3</a:t>
                      </a:r>
                      <a:r>
                        <a:rPr kumimoji="0" 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년납</a:t>
                      </a: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48" charset="-127"/>
                          <a:ea typeface="맑은 고딕" pitchFamily="48" charset="-127"/>
                        </a:rPr>
                        <a:t>가입금액</a:t>
                      </a:r>
                    </a:p>
                  </a:txBody>
                  <a:tcPr marL="54000" marR="36000" marT="53136" marB="36000" anchor="ctr" horzOverflow="overflow">
                    <a:lnL>
                      <a:noFill/>
                    </a:lnL>
                    <a:lnR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48" charset="-127"/>
                        <a:ea typeface="맑은 고딕" pitchFamily="48" charset="-127"/>
                      </a:endParaRPr>
                    </a:p>
                  </a:txBody>
                  <a:tcPr marL="72000" marR="108000" marT="53136" marB="36000" anchor="ctr" horzOverflow="overflow">
                    <a:lnL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6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9" name="AutoShape 74"/>
          <p:cNvSpPr>
            <a:spLocks noChangeArrowheads="1"/>
          </p:cNvSpPr>
          <p:nvPr/>
        </p:nvSpPr>
        <p:spPr bwMode="auto">
          <a:xfrm>
            <a:off x="1282700" y="5827737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1800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ko-KR"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</p:txBody>
      </p:sp>
      <p:sp>
        <p:nvSpPr>
          <p:cNvPr id="50" name="Text Box 75"/>
          <p:cNvSpPr txBox="1">
            <a:spLocks noChangeArrowheads="1"/>
          </p:cNvSpPr>
          <p:nvPr/>
        </p:nvSpPr>
        <p:spPr bwMode="auto">
          <a:xfrm>
            <a:off x="1204913" y="4699025"/>
            <a:ext cx="6746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……… n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</a:t>
            </a:r>
          </a:p>
        </p:txBody>
      </p:sp>
      <p:grpSp>
        <p:nvGrpSpPr>
          <p:cNvPr id="51" name="Group 76"/>
          <p:cNvGrpSpPr>
            <a:grpSpLocks/>
          </p:cNvGrpSpPr>
          <p:nvPr/>
        </p:nvGrpSpPr>
        <p:grpSpPr bwMode="auto">
          <a:xfrm>
            <a:off x="592138" y="6076975"/>
            <a:ext cx="1835150" cy="276225"/>
            <a:chOff x="463" y="3702"/>
            <a:chExt cx="1156" cy="174"/>
          </a:xfrm>
        </p:grpSpPr>
        <p:sp>
          <p:nvSpPr>
            <p:cNvPr id="52" name="Rectangle 77"/>
            <p:cNvSpPr>
              <a:spLocks noChangeArrowheads="1"/>
            </p:cNvSpPr>
            <p:nvPr/>
          </p:nvSpPr>
          <p:spPr bwMode="auto">
            <a:xfrm>
              <a:off x="463" y="3702"/>
              <a:ext cx="1156" cy="174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53" name="AutoShape 78"/>
            <p:cNvSpPr>
              <a:spLocks noChangeArrowheads="1"/>
            </p:cNvSpPr>
            <p:nvPr/>
          </p:nvSpPr>
          <p:spPr bwMode="auto">
            <a:xfrm>
              <a:off x="475" y="3710"/>
              <a:ext cx="225" cy="158"/>
            </a:xfrm>
            <a:prstGeom prst="roundRect">
              <a:avLst>
                <a:gd name="adj" fmla="val 16667"/>
              </a:avLst>
            </a:prstGeom>
            <a:solidFill>
              <a:srgbClr val="262626"/>
            </a:solidFill>
            <a:ln w="9360">
              <a:solidFill>
                <a:srgbClr val="262626"/>
              </a:solidFill>
              <a:miter lim="800000"/>
              <a:headEnd/>
              <a:tailEnd/>
            </a:ln>
          </p:spPr>
          <p:txBody>
            <a:bodyPr lIns="0" tIns="18000" rIns="0" bIns="7200" anchor="b" anchorCtr="1"/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600">
                  <a:solidFill>
                    <a:srgbClr val="FFFFFF"/>
                  </a:solidFill>
                  <a:ea typeface="맑은 고딕" pitchFamily="50" charset="-127"/>
                </a:rPr>
                <a:t>HOME</a:t>
              </a:r>
            </a:p>
          </p:txBody>
        </p:sp>
        <p:sp>
          <p:nvSpPr>
            <p:cNvPr id="54" name="Oval 79"/>
            <p:cNvSpPr>
              <a:spLocks noChangeArrowheads="1"/>
            </p:cNvSpPr>
            <p:nvPr/>
          </p:nvSpPr>
          <p:spPr bwMode="auto">
            <a:xfrm>
              <a:off x="554" y="3730"/>
              <a:ext cx="67" cy="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55" name="Group 80"/>
            <p:cNvGrpSpPr>
              <a:grpSpLocks/>
            </p:cNvGrpSpPr>
            <p:nvPr/>
          </p:nvGrpSpPr>
          <p:grpSpPr bwMode="auto">
            <a:xfrm>
              <a:off x="701" y="3710"/>
              <a:ext cx="225" cy="158"/>
              <a:chOff x="701" y="3710"/>
              <a:chExt cx="225" cy="158"/>
            </a:xfrm>
          </p:grpSpPr>
          <p:sp>
            <p:nvSpPr>
              <p:cNvPr id="66" name="AutoShape 81"/>
              <p:cNvSpPr>
                <a:spLocks noChangeArrowheads="1"/>
              </p:cNvSpPr>
              <p:nvPr/>
            </p:nvSpPr>
            <p:spPr bwMode="auto">
              <a:xfrm>
                <a:off x="701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공지사항</a:t>
                </a:r>
              </a:p>
            </p:txBody>
          </p:sp>
          <p:sp>
            <p:nvSpPr>
              <p:cNvPr id="67" name="Oval 82"/>
              <p:cNvSpPr>
                <a:spLocks noChangeArrowheads="1"/>
              </p:cNvSpPr>
              <p:nvPr/>
            </p:nvSpPr>
            <p:spPr bwMode="auto">
              <a:xfrm>
                <a:off x="781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6" name="Group 83"/>
            <p:cNvGrpSpPr>
              <a:grpSpLocks/>
            </p:cNvGrpSpPr>
            <p:nvPr/>
          </p:nvGrpSpPr>
          <p:grpSpPr bwMode="auto">
            <a:xfrm>
              <a:off x="927" y="3710"/>
              <a:ext cx="225" cy="158"/>
              <a:chOff x="927" y="3710"/>
              <a:chExt cx="225" cy="158"/>
            </a:xfrm>
          </p:grpSpPr>
          <p:sp>
            <p:nvSpPr>
              <p:cNvPr id="64" name="AutoShape 84"/>
              <p:cNvSpPr>
                <a:spLocks noChangeArrowheads="1"/>
              </p:cNvSpPr>
              <p:nvPr/>
            </p:nvSpPr>
            <p:spPr bwMode="auto">
              <a:xfrm>
                <a:off x="927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500">
                    <a:solidFill>
                      <a:srgbClr val="FFFFFF"/>
                    </a:solidFill>
                    <a:ea typeface="맑은 고딕" pitchFamily="50" charset="-127"/>
                  </a:rPr>
                  <a:t>헬프데스크</a:t>
                </a:r>
              </a:p>
            </p:txBody>
          </p:sp>
          <p:sp>
            <p:nvSpPr>
              <p:cNvPr id="65" name="Oval 85"/>
              <p:cNvSpPr>
                <a:spLocks noChangeArrowheads="1"/>
              </p:cNvSpPr>
              <p:nvPr/>
            </p:nvSpPr>
            <p:spPr bwMode="auto">
              <a:xfrm>
                <a:off x="1000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7" name="Group 86"/>
            <p:cNvGrpSpPr>
              <a:grpSpLocks/>
            </p:cNvGrpSpPr>
            <p:nvPr/>
          </p:nvGrpSpPr>
          <p:grpSpPr bwMode="auto">
            <a:xfrm>
              <a:off x="1380" y="3710"/>
              <a:ext cx="225" cy="158"/>
              <a:chOff x="1380" y="3710"/>
              <a:chExt cx="225" cy="158"/>
            </a:xfrm>
          </p:grpSpPr>
          <p:sp>
            <p:nvSpPr>
              <p:cNvPr id="62" name="AutoShape 87"/>
              <p:cNvSpPr>
                <a:spLocks noChangeArrowheads="1"/>
              </p:cNvSpPr>
              <p:nvPr/>
            </p:nvSpPr>
            <p:spPr bwMode="auto">
              <a:xfrm>
                <a:off x="1380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종료</a:t>
                </a:r>
              </a:p>
            </p:txBody>
          </p:sp>
          <p:sp>
            <p:nvSpPr>
              <p:cNvPr id="63" name="Oval 88"/>
              <p:cNvSpPr>
                <a:spLocks noChangeArrowheads="1"/>
              </p:cNvSpPr>
              <p:nvPr/>
            </p:nvSpPr>
            <p:spPr bwMode="auto">
              <a:xfrm>
                <a:off x="1456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58" name="Group 89"/>
            <p:cNvGrpSpPr>
              <a:grpSpLocks/>
            </p:cNvGrpSpPr>
            <p:nvPr/>
          </p:nvGrpSpPr>
          <p:grpSpPr bwMode="auto">
            <a:xfrm>
              <a:off x="1154" y="3710"/>
              <a:ext cx="225" cy="158"/>
              <a:chOff x="1154" y="3710"/>
              <a:chExt cx="225" cy="158"/>
            </a:xfrm>
          </p:grpSpPr>
          <p:sp>
            <p:nvSpPr>
              <p:cNvPr id="59" name="AutoShape 90"/>
              <p:cNvSpPr>
                <a:spLocks noChangeArrowheads="1"/>
              </p:cNvSpPr>
              <p:nvPr/>
            </p:nvSpPr>
            <p:spPr bwMode="auto">
              <a:xfrm>
                <a:off x="1154" y="3710"/>
                <a:ext cx="225" cy="158"/>
              </a:xfrm>
              <a:prstGeom prst="roundRect">
                <a:avLst>
                  <a:gd name="adj" fmla="val 16667"/>
                </a:avLst>
              </a:prstGeom>
              <a:solidFill>
                <a:srgbClr val="262626"/>
              </a:solidFill>
              <a:ln w="9360">
                <a:solidFill>
                  <a:srgbClr val="262626"/>
                </a:solidFill>
                <a:miter lim="800000"/>
                <a:headEnd/>
                <a:tailEnd/>
              </a:ln>
            </p:spPr>
            <p:txBody>
              <a:bodyPr lIns="0" tIns="18000" rIns="0" bIns="7200" anchor="b" anchorCtr="1"/>
              <a:lstStyle>
                <a:lvl1pPr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eaLnBrk="1" hangingPunct="1"/>
                <a:r>
                  <a:rPr lang="ko-KR" altLang="ko-KR" sz="600">
                    <a:solidFill>
                      <a:srgbClr val="FFFFFF"/>
                    </a:solidFill>
                    <a:ea typeface="맑은 고딕" pitchFamily="50" charset="-127"/>
                  </a:rPr>
                  <a:t>전체메뉴</a:t>
                </a:r>
              </a:p>
            </p:txBody>
          </p:sp>
          <p:sp>
            <p:nvSpPr>
              <p:cNvPr id="60" name="Oval 91"/>
              <p:cNvSpPr>
                <a:spLocks noChangeArrowheads="1"/>
              </p:cNvSpPr>
              <p:nvPr/>
            </p:nvSpPr>
            <p:spPr bwMode="auto">
              <a:xfrm>
                <a:off x="1227" y="3730"/>
                <a:ext cx="67" cy="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</p:grpSp>
      <p:sp>
        <p:nvSpPr>
          <p:cNvPr id="68" name="AutoShape 92"/>
          <p:cNvSpPr>
            <a:spLocks noChangeArrowheads="1"/>
          </p:cNvSpPr>
          <p:nvPr/>
        </p:nvSpPr>
        <p:spPr bwMode="auto">
          <a:xfrm>
            <a:off x="1292225" y="4425975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360">
            <a:solidFill>
              <a:srgbClr val="A6A6A6"/>
            </a:solidFill>
            <a:miter lim="800000"/>
            <a:headEnd/>
            <a:tailEnd/>
          </a:ln>
        </p:spPr>
        <p:txBody>
          <a:bodyPr lIns="36000" tIns="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ko-KR" altLang="ko-KR" sz="800" b="1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</p:txBody>
      </p:sp>
      <p:sp>
        <p:nvSpPr>
          <p:cNvPr id="69" name="AutoShape 93"/>
          <p:cNvSpPr>
            <a:spLocks noChangeArrowheads="1"/>
          </p:cNvSpPr>
          <p:nvPr/>
        </p:nvSpPr>
        <p:spPr bwMode="auto">
          <a:xfrm>
            <a:off x="1292225" y="4168800"/>
            <a:ext cx="1066800" cy="215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7F7F7F"/>
            </a:solidFill>
            <a:miter lim="800000"/>
            <a:headEnd/>
            <a:tailEnd/>
          </a:ln>
        </p:spPr>
        <p:txBody>
          <a:bodyPr lIns="36000" tIns="0" rIns="3600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년납▼</a:t>
            </a:r>
          </a:p>
        </p:txBody>
      </p:sp>
      <p:grpSp>
        <p:nvGrpSpPr>
          <p:cNvPr id="70" name="Group 94"/>
          <p:cNvGrpSpPr>
            <a:grpSpLocks/>
          </p:cNvGrpSpPr>
          <p:nvPr/>
        </p:nvGrpSpPr>
        <p:grpSpPr bwMode="auto">
          <a:xfrm>
            <a:off x="163513" y="2247925"/>
            <a:ext cx="387350" cy="1874837"/>
            <a:chOff x="193" y="1290"/>
            <a:chExt cx="244" cy="1181"/>
          </a:xfrm>
        </p:grpSpPr>
        <p:sp>
          <p:nvSpPr>
            <p:cNvPr id="71" name="Text Box 95"/>
            <p:cNvSpPr txBox="1">
              <a:spLocks noChangeArrowheads="1"/>
            </p:cNvSpPr>
            <p:nvPr/>
          </p:nvSpPr>
          <p:spPr bwMode="auto">
            <a:xfrm>
              <a:off x="193" y="1797"/>
              <a:ext cx="159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kumimoji="1" sz="1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lang="en-US" altLang="ko-KR" sz="800">
                  <a:solidFill>
                    <a:srgbClr val="000000"/>
                  </a:solidFill>
                  <a:latin typeface="Trebuchet MS" pitchFamily="34" charset="0"/>
                  <a:ea typeface="맑은 고딕" pitchFamily="50" charset="-127"/>
                </a:rPr>
                <a:t>Scroll</a:t>
              </a:r>
            </a:p>
            <a:p>
              <a:pPr algn="r" eaLnBrk="1" hangingPunct="1"/>
              <a:r>
                <a:rPr lang="ko-KR" altLang="ko-KR" sz="800">
                  <a:solidFill>
                    <a:srgbClr val="000000"/>
                  </a:solidFill>
                  <a:latin typeface="Trebuchet MS" pitchFamily="34" charset="0"/>
                  <a:ea typeface="맑은 고딕" pitchFamily="50" charset="-127"/>
                </a:rPr>
                <a:t>영역</a:t>
              </a:r>
            </a:p>
          </p:txBody>
        </p:sp>
        <p:sp>
          <p:nvSpPr>
            <p:cNvPr id="72" name="Line 96"/>
            <p:cNvSpPr>
              <a:spLocks noChangeShapeType="1"/>
            </p:cNvSpPr>
            <p:nvPr/>
          </p:nvSpPr>
          <p:spPr bwMode="auto">
            <a:xfrm>
              <a:off x="371" y="1291"/>
              <a:ext cx="0" cy="1171"/>
            </a:xfrm>
            <a:prstGeom prst="line">
              <a:avLst/>
            </a:prstGeom>
            <a:noFill/>
            <a:ln w="9360">
              <a:solidFill>
                <a:srgbClr val="7F7F7F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Line 97"/>
            <p:cNvSpPr>
              <a:spLocks noChangeShapeType="1"/>
            </p:cNvSpPr>
            <p:nvPr/>
          </p:nvSpPr>
          <p:spPr bwMode="auto">
            <a:xfrm>
              <a:off x="305" y="2472"/>
              <a:ext cx="132" cy="0"/>
            </a:xfrm>
            <a:prstGeom prst="line">
              <a:avLst/>
            </a:prstGeom>
            <a:noFill/>
            <a:ln w="9360">
              <a:solidFill>
                <a:srgbClr val="D9D9D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Line 98"/>
            <p:cNvSpPr>
              <a:spLocks noChangeShapeType="1"/>
            </p:cNvSpPr>
            <p:nvPr/>
          </p:nvSpPr>
          <p:spPr bwMode="auto">
            <a:xfrm>
              <a:off x="305" y="1290"/>
              <a:ext cx="132" cy="0"/>
            </a:xfrm>
            <a:prstGeom prst="line">
              <a:avLst/>
            </a:prstGeom>
            <a:noFill/>
            <a:ln w="9360">
              <a:solidFill>
                <a:srgbClr val="D9D9D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5" name="Text Box 100"/>
          <p:cNvSpPr txBox="1">
            <a:spLocks noChangeArrowheads="1"/>
          </p:cNvSpPr>
          <p:nvPr/>
        </p:nvSpPr>
        <p:spPr bwMode="auto">
          <a:xfrm>
            <a:off x="80963" y="1216025"/>
            <a:ext cx="92075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marL="179388" indent="-179388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350"/>
              </a:spcBef>
              <a:buClr>
                <a:srgbClr val="FF0000"/>
              </a:buClr>
              <a:buFont typeface="Wingdings" pitchFamily="2" charset="2"/>
              <a:buChar char=""/>
            </a:pP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회원가입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신청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가입 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상품 리스트 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&gt; 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기본 정보 입력</a:t>
            </a:r>
            <a:r>
              <a:rPr lang="en-US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&gt; </a:t>
            </a:r>
            <a:r>
              <a:rPr lang="ko-KR" altLang="en-US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추가</a:t>
            </a:r>
            <a:r>
              <a:rPr lang="ko-KR" altLang="ko-KR" sz="1400" dirty="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정보 입력</a:t>
            </a:r>
          </a:p>
        </p:txBody>
      </p:sp>
      <p:graphicFrame>
        <p:nvGraphicFramePr>
          <p:cNvPr id="76" name="Group 101"/>
          <p:cNvGraphicFramePr>
            <a:graphicFrameLocks noGrp="1"/>
          </p:cNvGraphicFramePr>
          <p:nvPr/>
        </p:nvGraphicFramePr>
        <p:xfrm>
          <a:off x="6228184" y="1527175"/>
          <a:ext cx="2730500" cy="4902200"/>
        </p:xfrm>
        <a:graphic>
          <a:graphicData uri="http://schemas.openxmlformats.org/drawingml/2006/table">
            <a:tbl>
              <a:tblPr/>
              <a:tblGrid>
                <a:gridCol w="2936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36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5900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4138" indent="-84138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4138" marR="0" lvl="0" indent="-84138" algn="l" defTabSz="449263" rtl="0" eaLnBrk="1" fontAlgn="base" latinLnBrk="0" hangingPunct="1">
                        <a:lnSpc>
                          <a:spcPct val="9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4138" algn="l"/>
                          <a:tab pos="998538" algn="l"/>
                          <a:tab pos="1912938" algn="l"/>
                          <a:tab pos="2827338" algn="l"/>
                          <a:tab pos="3741738" algn="l"/>
                          <a:tab pos="4656138" algn="l"/>
                          <a:tab pos="5570538" algn="l"/>
                          <a:tab pos="6484938" algn="l"/>
                          <a:tab pos="7399338" algn="l"/>
                          <a:tab pos="8313738" algn="l"/>
                          <a:tab pos="9228138" algn="l"/>
                          <a:tab pos="10142538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리스트 참고</a:t>
                      </a:r>
                    </a:p>
                  </a:txBody>
                  <a:tcPr marL="36000" marR="36000" marT="36000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731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년도</a:t>
                      </a:r>
                      <a:endParaRPr kumimoji="0" lang="ko-KR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Tap 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 숫자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Keypad 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올라옴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입력박스 가려지지 않도록 함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만원’ 으로 표기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7575D1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575D1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금액 표기 정책 참고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가입범위 </a:t>
                      </a:r>
                      <a:r>
                        <a:rPr kumimoji="0" lang="en-US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제공 </a:t>
                      </a:r>
                      <a:r>
                        <a:rPr kumimoji="0" lang="ko-KR" altLang="en-US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리스</a:t>
                      </a: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rebuchet MS" pitchFamily="34" charset="0"/>
                          <a:ea typeface="맑은 고딕" pitchFamily="50" charset="-127"/>
                        </a:rPr>
                        <a:t>트 참고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787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 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팝업 제공하는 경우</a:t>
                      </a: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가입범위를 넘을 경우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합산  한도를 초과할 경우</a:t>
                      </a:r>
                    </a:p>
                    <a:p>
                      <a:pPr marL="85725" marR="0" lvl="0" indent="-84138" algn="l" defTabSz="449263" rtl="0" eaLnBrk="1" fontAlgn="base" latinLnBrk="0" hangingPunct="1">
                        <a:lnSpc>
                          <a:spcPct val="9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70C0"/>
                        </a:buClr>
                        <a:buSzPct val="100000"/>
                        <a:buFont typeface="Wingdings" pitchFamily="2" charset="2"/>
                        <a:buChar char=""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r>
                        <a:rPr kumimoji="0" lang="ko-KR" altLang="ko-KR" sz="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가입 시 입력박스에 동시에 입력할 경우</a:t>
                      </a: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45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64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064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77925">
                <a:tc>
                  <a:txBody>
                    <a:bodyPr/>
                    <a:lstStyle>
                      <a:lvl1pPr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0" marR="0" lvl="0" indent="0" algn="ctr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90000" marR="90000" marT="63936" marB="46800" horzOverflow="overflow">
                    <a:lnL>
                      <a:noFill/>
                    </a:lnL>
                    <a:lnR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85725" indent="-84138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1pPr>
                      <a:lvl2pPr marL="742950" indent="-28575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2pPr>
                      <a:lvl3pPr marL="11430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4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3pPr>
                      <a:lvl4pPr marL="16002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12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4pPr>
                      <a:lvl5pPr marL="2057400" indent="-228600" defTabSz="449263" eaLnBrk="0" hangingPunct="0">
                        <a:spcBef>
                          <a:spcPct val="20000"/>
                        </a:spcBef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5pPr>
                      <a:lvl6pPr marL="25146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6pPr>
                      <a:lvl7pPr marL="29718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7pPr>
                      <a:lvl8pPr marL="34290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8pPr>
                      <a:lvl9pPr marL="3886200" indent="-228600" defTabSz="4492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  <a:defRPr kumimoji="1" sz="900">
                          <a:solidFill>
                            <a:schemeClr val="tx1"/>
                          </a:solidFill>
                          <a:latin typeface="현대하모니 L" pitchFamily="18" charset="-127"/>
                          <a:ea typeface="현대하모니 L" pitchFamily="18" charset="-127"/>
                        </a:defRPr>
                      </a:lvl9pPr>
                    </a:lstStyle>
                    <a:p>
                      <a:pPr marL="85725" marR="0" lvl="0" indent="-84138" algn="l" defTabSz="449263" rtl="0" eaLnBrk="1" fontAlgn="base" latinLnBrk="0" hangingPunct="1">
                        <a:lnSpc>
                          <a:spcPct val="8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85725" algn="l"/>
                          <a:tab pos="1000125" algn="l"/>
                          <a:tab pos="1914525" algn="l"/>
                          <a:tab pos="2828925" algn="l"/>
                          <a:tab pos="3743325" algn="l"/>
                          <a:tab pos="4657725" algn="l"/>
                          <a:tab pos="5572125" algn="l"/>
                          <a:tab pos="6486525" algn="l"/>
                          <a:tab pos="7400925" algn="l"/>
                          <a:tab pos="8315325" algn="l"/>
                          <a:tab pos="9229725" algn="l"/>
                          <a:tab pos="10144125" algn="l"/>
                        </a:tabLst>
                      </a:pPr>
                      <a:endParaRPr kumimoji="0" lang="ko-KR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4063" marB="36000" horzOverflow="overflow">
                    <a:lnL w="144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8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77" name="Oval 146"/>
          <p:cNvSpPr>
            <a:spLocks noChangeArrowheads="1"/>
          </p:cNvSpPr>
          <p:nvPr/>
        </p:nvSpPr>
        <p:spPr bwMode="auto">
          <a:xfrm>
            <a:off x="2476500" y="333377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1</a:t>
            </a:r>
          </a:p>
        </p:txBody>
      </p:sp>
      <p:sp>
        <p:nvSpPr>
          <p:cNvPr id="79" name="AutoShape 158"/>
          <p:cNvSpPr>
            <a:spLocks noChangeArrowheads="1"/>
          </p:cNvSpPr>
          <p:nvPr/>
        </p:nvSpPr>
        <p:spPr bwMode="auto">
          <a:xfrm>
            <a:off x="3908425" y="1924075"/>
            <a:ext cx="1617663" cy="904875"/>
          </a:xfrm>
          <a:prstGeom prst="roundRect">
            <a:avLst>
              <a:gd name="adj" fmla="val 6602"/>
            </a:avLst>
          </a:prstGeom>
          <a:solidFill>
            <a:srgbClr val="F2F2F2"/>
          </a:solidFill>
          <a:ln w="9360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입력 가능한 가입금액은</a:t>
            </a:r>
          </a:p>
          <a:p>
            <a:pPr algn="ctr" eaLnBrk="1" hangingPunct="1">
              <a:spcBef>
                <a:spcPts val="200"/>
              </a:spcBef>
            </a:pP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 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~ 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입니다</a:t>
            </a: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.</a:t>
            </a: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sp>
        <p:nvSpPr>
          <p:cNvPr id="80" name="AutoShape 159"/>
          <p:cNvSpPr>
            <a:spLocks noChangeArrowheads="1"/>
          </p:cNvSpPr>
          <p:nvPr/>
        </p:nvSpPr>
        <p:spPr bwMode="auto">
          <a:xfrm>
            <a:off x="4375150" y="2557487"/>
            <a:ext cx="663575" cy="214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확인</a:t>
            </a:r>
          </a:p>
        </p:txBody>
      </p:sp>
      <p:sp>
        <p:nvSpPr>
          <p:cNvPr id="81" name="Rectangle 160"/>
          <p:cNvSpPr>
            <a:spLocks noChangeArrowheads="1"/>
          </p:cNvSpPr>
          <p:nvPr/>
        </p:nvSpPr>
        <p:spPr bwMode="auto">
          <a:xfrm>
            <a:off x="3921125" y="1724050"/>
            <a:ext cx="1433513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[</a:t>
            </a:r>
            <a:r>
              <a:rPr lang="ko-KR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가입금액 초과 입력 시</a:t>
            </a:r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]</a:t>
            </a:r>
          </a:p>
        </p:txBody>
      </p:sp>
      <p:sp>
        <p:nvSpPr>
          <p:cNvPr id="82" name="Oval 161"/>
          <p:cNvSpPr>
            <a:spLocks noChangeArrowheads="1"/>
          </p:cNvSpPr>
          <p:nvPr/>
        </p:nvSpPr>
        <p:spPr bwMode="auto">
          <a:xfrm>
            <a:off x="5553075" y="203202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3</a:t>
            </a:r>
          </a:p>
        </p:txBody>
      </p:sp>
      <p:cxnSp>
        <p:nvCxnSpPr>
          <p:cNvPr id="83" name="AutoShape 162"/>
          <p:cNvCxnSpPr>
            <a:cxnSpLocks noChangeShapeType="1"/>
          </p:cNvCxnSpPr>
          <p:nvPr/>
        </p:nvCxnSpPr>
        <p:spPr bwMode="auto">
          <a:xfrm>
            <a:off x="2349500" y="3509987"/>
            <a:ext cx="1193800" cy="500063"/>
          </a:xfrm>
          <a:prstGeom prst="bentConnector3">
            <a:avLst>
              <a:gd name="adj1" fmla="val 50000"/>
            </a:avLst>
          </a:prstGeom>
          <a:noFill/>
          <a:ln w="324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" name="Oval 163"/>
          <p:cNvSpPr>
            <a:spLocks noChangeArrowheads="1"/>
          </p:cNvSpPr>
          <p:nvPr/>
        </p:nvSpPr>
        <p:spPr bwMode="auto">
          <a:xfrm>
            <a:off x="2476500" y="4448200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2</a:t>
            </a:r>
          </a:p>
        </p:txBody>
      </p:sp>
      <p:sp>
        <p:nvSpPr>
          <p:cNvPr id="85" name="AutoShape 164"/>
          <p:cNvSpPr>
            <a:spLocks noChangeArrowheads="1"/>
          </p:cNvSpPr>
          <p:nvPr/>
        </p:nvSpPr>
        <p:spPr bwMode="auto">
          <a:xfrm>
            <a:off x="3908425" y="3371875"/>
            <a:ext cx="1617663" cy="904875"/>
          </a:xfrm>
          <a:prstGeom prst="roundRect">
            <a:avLst>
              <a:gd name="adj" fmla="val 6602"/>
            </a:avLst>
          </a:prstGeom>
          <a:solidFill>
            <a:srgbClr val="F2F2F2"/>
          </a:solidFill>
          <a:ln w="9360">
            <a:solidFill>
              <a:srgbClr val="80808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입력 가능한 합산금액의</a:t>
            </a:r>
          </a:p>
          <a:p>
            <a:pPr algn="ctr" eaLnBrk="1" hangingPunct="1">
              <a:spcBef>
                <a:spcPts val="200"/>
              </a:spcBef>
            </a:pP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 </a:t>
            </a: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한도는 </a:t>
            </a:r>
            <a:r>
              <a:rPr lang="en-US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XXX</a:t>
            </a:r>
            <a:r>
              <a:rPr lang="ko-KR" altLang="ko-KR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만원</a:t>
            </a:r>
          </a:p>
          <a:p>
            <a:pPr algn="ctr" eaLnBrk="1" hangingPunct="1">
              <a:spcBef>
                <a:spcPts val="200"/>
              </a:spcBef>
            </a:pPr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입니다</a:t>
            </a:r>
            <a:r>
              <a:rPr lang="en-US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.</a:t>
            </a: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  <a:p>
            <a:pPr algn="ctr" eaLnBrk="1" hangingPunct="1">
              <a:spcBef>
                <a:spcPts val="200"/>
              </a:spcBef>
            </a:pPr>
            <a:endParaRPr lang="en-US" altLang="ko-KR" sz="800">
              <a:solidFill>
                <a:srgbClr val="000000"/>
              </a:solidFill>
              <a:latin typeface="Trebuchet MS" pitchFamily="34" charset="0"/>
              <a:ea typeface="맑은 고딕" pitchFamily="50" charset="-127"/>
            </a:endParaRPr>
          </a:p>
        </p:txBody>
      </p:sp>
      <p:sp>
        <p:nvSpPr>
          <p:cNvPr id="86" name="AutoShape 165"/>
          <p:cNvSpPr>
            <a:spLocks noChangeArrowheads="1"/>
          </p:cNvSpPr>
          <p:nvPr/>
        </p:nvSpPr>
        <p:spPr bwMode="auto">
          <a:xfrm>
            <a:off x="4375150" y="4005287"/>
            <a:ext cx="663575" cy="21431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DEDED"/>
              </a:gs>
              <a:gs pos="100000">
                <a:srgbClr val="BCBCBC"/>
              </a:gs>
            </a:gsLst>
            <a:lin ang="16200000" scaled="1"/>
          </a:gradFill>
          <a:ln w="9360">
            <a:solidFill>
              <a:srgbClr val="4D4D4D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marL="92075" indent="-90488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2075" algn="l"/>
                <a:tab pos="1006475" algn="l"/>
                <a:tab pos="1920875" algn="l"/>
                <a:tab pos="2835275" algn="l"/>
                <a:tab pos="3749675" algn="l"/>
                <a:tab pos="4664075" algn="l"/>
                <a:tab pos="5578475" algn="l"/>
                <a:tab pos="6492875" algn="l"/>
                <a:tab pos="7407275" algn="l"/>
                <a:tab pos="8321675" algn="l"/>
                <a:tab pos="9236075" algn="l"/>
                <a:tab pos="10150475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ko-KR" sz="800">
                <a:solidFill>
                  <a:srgbClr val="000000"/>
                </a:solidFill>
                <a:latin typeface="Trebuchet MS" pitchFamily="34" charset="0"/>
                <a:ea typeface="맑은 고딕" pitchFamily="50" charset="-127"/>
              </a:rPr>
              <a:t>확인</a:t>
            </a:r>
          </a:p>
        </p:txBody>
      </p:sp>
      <p:sp>
        <p:nvSpPr>
          <p:cNvPr id="87" name="Rectangle 166"/>
          <p:cNvSpPr>
            <a:spLocks noChangeArrowheads="1"/>
          </p:cNvSpPr>
          <p:nvPr/>
        </p:nvSpPr>
        <p:spPr bwMode="auto">
          <a:xfrm>
            <a:off x="3929063" y="3171850"/>
            <a:ext cx="150177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[</a:t>
            </a:r>
            <a:r>
              <a:rPr lang="ko-KR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금액 한도 초과 입력 시</a:t>
            </a:r>
            <a:r>
              <a:rPr lang="en-US" altLang="ko-KR" b="1">
                <a:solidFill>
                  <a:srgbClr val="7575D1"/>
                </a:solidFill>
                <a:latin typeface="Trebuchet MS" pitchFamily="34" charset="0"/>
                <a:ea typeface="맑은 고딕" pitchFamily="50" charset="-127"/>
              </a:rPr>
              <a:t>]</a:t>
            </a:r>
          </a:p>
        </p:txBody>
      </p:sp>
      <p:sp>
        <p:nvSpPr>
          <p:cNvPr id="88" name="Oval 167"/>
          <p:cNvSpPr>
            <a:spLocks noChangeArrowheads="1"/>
          </p:cNvSpPr>
          <p:nvPr/>
        </p:nvSpPr>
        <p:spPr bwMode="auto">
          <a:xfrm>
            <a:off x="5553075" y="3479825"/>
            <a:ext cx="171450" cy="171450"/>
          </a:xfrm>
          <a:prstGeom prst="ellipse">
            <a:avLst/>
          </a:prstGeom>
          <a:solidFill>
            <a:srgbClr val="FF1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900" b="1">
                <a:solidFill>
                  <a:srgbClr val="FFFFFF"/>
                </a:solidFill>
                <a:latin typeface="Calibri" pitchFamily="34" charset="0"/>
                <a:ea typeface="맑은 고딕" pitchFamily="50" charset="-127"/>
              </a:rPr>
              <a:t>4</a:t>
            </a:r>
          </a:p>
        </p:txBody>
      </p:sp>
      <p:sp>
        <p:nvSpPr>
          <p:cNvPr id="89" name="Rectangle 172"/>
          <p:cNvSpPr>
            <a:spLocks noChangeArrowheads="1"/>
          </p:cNvSpPr>
          <p:nvPr/>
        </p:nvSpPr>
        <p:spPr bwMode="auto">
          <a:xfrm>
            <a:off x="3552825" y="1628800"/>
            <a:ext cx="2447925" cy="4305300"/>
          </a:xfrm>
          <a:prstGeom prst="rect">
            <a:avLst/>
          </a:prstGeom>
          <a:noFill/>
          <a:ln w="19080">
            <a:solidFill>
              <a:srgbClr val="D1D1F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화면 설계서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1" name="사각형: 둥근 모서리 26">
            <a:extLst>
              <a:ext uri="{FF2B5EF4-FFF2-40B4-BE49-F238E27FC236}">
                <a16:creationId xmlns:a16="http://schemas.microsoft.com/office/drawing/2014/main" xmlns="" id="{0E4A983E-CA26-604D-09BD-211D71016DD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[이미지 삽입: 주요 화면 와이어프레임 — 로그인/홈/프로젝트/AI분석 화면 레이아웃]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31DD24D-FF12-3894-E23F-6A8B7D676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1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메뉴 구성도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image4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23528" y="1370159"/>
            <a:ext cx="8496944" cy="4612231"/>
          </a:xfrm>
          <a:prstGeom prst="rect">
            <a:avLst/>
          </a:prstGeom>
          <a:noFill/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DF4E7F9F-E81E-264F-67F1-2261EF859E8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앱 메뉴 트리
CrackBot AI
├── 온보딩 플로우
│   ├── SplashScreen (앱 시작)
│   ├── LoginScreen (로그인)
│   ├── PermissionsScreen (카메라/위치 권한)
│   └── OnboardingDoneScreen (완료)
├── 홈 (HomeScreen) — 대시보드, 최근 프로젝트 요약
├── 프로젝트 관리
│   ├── ProjectListScreen (목록/검색/필터)
│   ├── CreateProjectScreen (새 프로젝트 생성)
│   └── ProjectDetailScreen (구역별 사진·등급)
│       └── CameraScreen → AIAnalyzingScreen → AIResultScreen
├── 보고서
│   ├── ReportListScreen (보고서 목록)
│   ├── ReportSettingsScreen (템플릿/형식 선택)
│   ├── ReportGeneratingScreen (생성 중 폴링)
│   └── ReportPreviewScreen (미리보기·다운로드)
└── 프로필 (ProfileScreen) — 사용자 정보·로그아웃
[이미지 삽입: 메뉴 구성도 트리 다이어그램]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5359606-F14A-DDEC-A185-BDD0EFB4D7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0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1" name="_x193052136" descr="EMB000020045b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44972"/>
            <a:ext cx="8362684" cy="394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직사각형 6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API 엔드포인트 구성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3DC963F6-25B8-BBCC-1B04-3CE6E09A0901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FastAPI 라우터 구성
POST   /v1/auth/login          로그인 (JWT 발급)
POST   /v1/auth/refresh        토큰 갱신
POST   /v1/auth/logout         로그아웃
GET    /v1/auth/me             내 정보
GET/POST /v1/buildings         건물 목록/등록
GET/PATCH /v1/buildings/{id}   건물 상세/수정
GET/POST /v1/projects          프로젝트 목록/생성
GET    /v1/projects/{id}       상세 (구역 포함)
PATCH  /v1/projects/{id}/status 상태 변경
POST   /v1/photos/detect       즉시 균열 탐지
POST   /v1/photos/{id}/analyze 저장 사진 분석
GET    /v1/photos/{id}/detections 탐지 결과 조회
POST   /v1/reports             보고서 생성
GET    /v1/reports/{id}/status 생성 상태 폴링
GET    /v1/reports/{id}/download-file 다운로드
[이미지 삽입: API 구성도 또는 Swagger UI 캡처]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D6375A2A-DA98-9997-0E24-F0F1B6CF56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87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539552" y="1340768"/>
          <a:ext cx="7992888" cy="4711161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49758">
                <a:tc row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LOG-01-01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1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신규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/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기존 선택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939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앱의 첫 화면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기존회원은 자신이 연동했던 계정으로 로그인을 할 수 있음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신규 회원은 회원가입을 할 수 있음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96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∎기존회원의 로그인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자신이 연동했던 계정으로 로그인을 할 수 있음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</a:rPr>
                        <a:t/>
                      </a:r>
                      <a:b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계정의 아이콘을 누르면 로그인 창으로 넘어감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)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∎신규 회원의 회원가입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‘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시작하기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’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버튼을 눌러 신규 회원의 회원가입 창으로 넘어감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자신이 연동하고 싶은 계정의 아이콘을 누르면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각각의 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API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에 따라 회원 가입 창으로 이동</a:t>
                      </a: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.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4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∎연결되는 기능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: </a:t>
                      </a: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 연동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49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계정연동 및 회원가입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5121" name="_x278366352" descr="EMB00002bb84fc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3" t="5733" r="49615" b="3430"/>
          <a:stretch>
            <a:fillRect/>
          </a:stretch>
        </p:blipFill>
        <p:spPr bwMode="auto">
          <a:xfrm>
            <a:off x="655856" y="1825665"/>
            <a:ext cx="1899920" cy="362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로그인 / 홈 화면 설계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0FA5E0F8-8CC6-A87D-AD96-28772427EC8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[이미지 삽입] LoginScreen + HomeScreen 와이어프레임 또는 실제 화면 스크린샷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66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프로젝트·AI분석 화면 설계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24356" y="1196753"/>
          <a:ext cx="7388004" cy="1770126"/>
        </p:xfrm>
        <a:graphic>
          <a:graphicData uri="http://schemas.openxmlformats.org/drawingml/2006/table">
            <a:tbl>
              <a:tblPr/>
              <a:tblGrid>
                <a:gridCol w="12252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1627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27649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기능정보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 기능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기기별로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시간을 예약할 수 있는 기능이다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835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처리내용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도면에 등록된 기기 중 사용자가 시간을 예약하고자 하는 기기를 누른다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화면에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버튼이 출력되면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 설정하고자 하는 버튼을 누른다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기기를 작동하고자 하는 시간을 입력한다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기기의 작동을 중지시키고자 하는 시간을 입력한다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입력한 시간과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입력한 시간 사이에 기기가 작동한다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버튼만 누른 경우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시간을 지정하지 않고 기기를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상태로 유지시킨다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버튼만 누른 경우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켜져있는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기기를 예약된 시간에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시키기만 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43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관련번호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CP-7, FN-7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00496" y="3068961"/>
          <a:ext cx="7411864" cy="2118203"/>
        </p:xfrm>
        <a:graphic>
          <a:graphicData uri="http://schemas.openxmlformats.org/drawingml/2006/table">
            <a:tbl>
              <a:tblPr/>
              <a:tblGrid>
                <a:gridCol w="12911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2007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사용 예시 정보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30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예약을 원하는 기기를 클릭하고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버튼을 누른 후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기기를 작동하고 싶은 시간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작동을 중지시키고 싶은 시간을 입력하면 예약한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시간동안에만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기기가 작동한다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30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 데이터 값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원하는 기기를 선택한 후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[ON]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기기를 켜는 시간과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[OFF]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버튼에 기기를 끄는 시간을 입력</a:t>
                      </a:r>
                    </a:p>
                  </a:txBody>
                  <a:tcPr marL="62958" marR="62958" marT="17406" marB="1740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9457" name="_x280090008" descr="EMB00002bb84fe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86" y="3429000"/>
            <a:ext cx="926570" cy="168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03649" y="5229200"/>
          <a:ext cx="3736303" cy="1070102"/>
        </p:xfrm>
        <a:graphic>
          <a:graphicData uri="http://schemas.openxmlformats.org/drawingml/2006/table">
            <a:tbl>
              <a:tblPr/>
              <a:tblGrid>
                <a:gridCol w="7856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64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34696"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입출력 데이터 항목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입출력구분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이벤트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사용자가 기기를 클릭한 후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 입력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기기 작동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예약한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시간동안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 작동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4211960" y="5238078"/>
          <a:ext cx="3672408" cy="1089660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34696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▶ 선행필수기능 및 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기능명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예외사항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시간만 입력한 경우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시간은 지정하지 않고 기기를 계속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상태로 유지시킨다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469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시간만 입력한 경우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시간은 지정하지 않고 </a:t>
                      </a: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켜져있는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기기를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OFF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시키기만 한다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5619872-8C5B-7BF6-3DE5-01466CA902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7" name="사각형: 둥근 모서리 26">
            <a:extLst>
              <a:ext uri="{FF2B5EF4-FFF2-40B4-BE49-F238E27FC236}">
                <a16:creationId xmlns:a16="http://schemas.microsoft.com/office/drawing/2014/main" xmlns="" id="{6EE6A61D-0EA7-9A46-E087-D9299DC2509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[이미지 삽입] ProjectDetailScreen + AIResultScreen 와이어프레임 또는 스크린샷</a:t>
            </a:r>
          </a:p>
        </p:txBody>
      </p:sp>
    </p:spTree>
    <p:extLst>
      <p:ext uri="{BB962C8B-B14F-4D97-AF65-F5344CB8AC3E}">
        <p14:creationId xmlns:p14="http://schemas.microsoft.com/office/powerpoint/2010/main" val="3665573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로그인 / 온보딩 / 홈 화면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334704"/>
            <a:ext cx="4896544" cy="43925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1357167"/>
            <a:ext cx="5137215" cy="3944041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91323CDD-5E9E-C59E-00BC-F6A0C5B7205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[이미지 삽입] 실제 앱 구동 화면 스크린샷 — 로그인, 온보딩, 홈 대시보드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D27511D3-092B-0E5E-ADB8-4B746E2E65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제목 12">
            <a:extLst>
              <a:ext uri="{FF2B5EF4-FFF2-40B4-BE49-F238E27FC236}">
                <a16:creationId xmlns:a16="http://schemas.microsoft.com/office/drawing/2014/main" xmlns="" id="{F073248A-68DC-126C-08AC-5D561EF158D1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77043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AI 분석·결과·보고서 화면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78" y="1233293"/>
            <a:ext cx="8432800" cy="4777019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CC4BBFF7-CD92-B35B-7F09-53871FF03D60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[이미지 삽입] AI 분석 로딩→결과→보고서 미리보기 화면 스크린샷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B8AE8E0-AD17-92BC-538B-30035A166B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제목 12">
            <a:extLst>
              <a:ext uri="{FF2B5EF4-FFF2-40B4-BE49-F238E27FC236}">
                <a16:creationId xmlns:a16="http://schemas.microsoft.com/office/drawing/2014/main" xmlns="" id="{672C8274-EFDB-6E3A-A8A8-52D837517324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사용자 </a:t>
            </a:r>
            <a:r>
              <a:rPr lang="ko-KR" altLang="en-US" sz="1000" b="1" spc="-150" dirty="0">
                <a:solidFill>
                  <a:schemeClr val="bg1"/>
                </a:solidFill>
                <a:latin typeface="+mn-ea"/>
                <a:cs typeface="+mj-cs"/>
              </a:rPr>
              <a:t>인터페이스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dirty="0" err="1">
                <a:solidFill>
                  <a:schemeClr val="bg1"/>
                </a:solidFill>
                <a:latin typeface="+mn-ea"/>
                <a:cs typeface="+mj-cs"/>
              </a:rPr>
              <a:t>sw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0389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엔티티 관계도 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ERD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08739"/>
            <a:ext cx="8331200" cy="5003800"/>
          </a:xfrm>
          <a:prstGeom prst="rect">
            <a:avLst/>
          </a:prstGeom>
        </p:spPr>
      </p:pic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xmlns="" id="{8C4CF61E-8373-429B-5FD3-4AAABD98BF36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주요 엔티티 및 관계
  users (id, email, password_hash, name, role)
  buildings (id, name, address, latitude, longitude, floors, built_year)
  inspection_projects (id, building_id, inspector_id, title, status, start_date, end_date)
  inspection_zones (id, project_id, zone_name, floor, grade, photo_count)
  inspection_photos (id, zone_id, file_path, analyzed)
  defect_detections (id, photo_id, defect_type, severity, crack_width_mm, confidence, bbox)
  safety_grades (id, project_id, zone_id, grade, defect_count, max_crack_mm, recommendation)
  reports (id, project_id, status, format, template_type, file_path)
  refresh_tokens (id, user_id, token, expires_at)
[이미지 삽입: ERD 다이어그램 — doc/crackbot_erd.html 캡처]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E311E42-8094-1ED2-BF9F-D52B09934D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13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처리도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흐름도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막힌 원호 77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AI 균열 탐지 기능 흐름도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168879" y="2132856"/>
          <a:ext cx="8848773" cy="4341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87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88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기능 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6063">
                <a:tc>
                  <a:txBody>
                    <a:bodyPr/>
                    <a:lstStyle/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2" name="Text Box 62"/>
          <p:cNvSpPr txBox="1">
            <a:spLocks noChangeArrowheads="1"/>
          </p:cNvSpPr>
          <p:nvPr/>
        </p:nvSpPr>
        <p:spPr bwMode="auto">
          <a:xfrm>
            <a:off x="586102" y="2492896"/>
            <a:ext cx="49688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키넥트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연동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인터렉티브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전래동화 연계도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</p:txBody>
      </p:sp>
      <p:sp>
        <p:nvSpPr>
          <p:cNvPr id="83" name="AutoShape 85"/>
          <p:cNvSpPr>
            <a:spLocks noChangeArrowheads="1"/>
          </p:cNvSpPr>
          <p:nvPr/>
        </p:nvSpPr>
        <p:spPr bwMode="auto">
          <a:xfrm>
            <a:off x="719932" y="2812827"/>
            <a:ext cx="7848600" cy="3564000"/>
          </a:xfrm>
          <a:prstGeom prst="roundRect">
            <a:avLst>
              <a:gd name="adj" fmla="val 2189"/>
            </a:avLst>
          </a:prstGeom>
          <a:noFill/>
          <a:ln w="19050">
            <a:solidFill>
              <a:srgbClr val="C4045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000">
              <a:ln w="1270">
                <a:solidFill>
                  <a:schemeClr val="tx1"/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4" name="Rectangle 41"/>
          <p:cNvSpPr>
            <a:spLocks noChangeArrowheads="1"/>
          </p:cNvSpPr>
          <p:nvPr/>
        </p:nvSpPr>
        <p:spPr bwMode="auto">
          <a:xfrm>
            <a:off x="1502156" y="3129979"/>
            <a:ext cx="1439862" cy="309563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프로그램 실행</a:t>
            </a:r>
          </a:p>
        </p:txBody>
      </p:sp>
      <p:sp>
        <p:nvSpPr>
          <p:cNvPr id="85" name="AutoShape 46"/>
          <p:cNvSpPr>
            <a:spLocks noChangeArrowheads="1"/>
          </p:cNvSpPr>
          <p:nvPr/>
        </p:nvSpPr>
        <p:spPr bwMode="auto">
          <a:xfrm>
            <a:off x="1502156" y="4555554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(PFCBGSGM)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86" name="순서도: 판단 85"/>
          <p:cNvSpPr/>
          <p:nvPr/>
        </p:nvSpPr>
        <p:spPr>
          <a:xfrm>
            <a:off x="1478343" y="3807842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전래동화 옵션</a:t>
            </a:r>
          </a:p>
        </p:txBody>
      </p:sp>
      <p:cxnSp>
        <p:nvCxnSpPr>
          <p:cNvPr id="87" name="직선 화살표 연결선 86"/>
          <p:cNvCxnSpPr/>
          <p:nvPr/>
        </p:nvCxnSpPr>
        <p:spPr>
          <a:xfrm rot="5400000">
            <a:off x="2008568" y="3626867"/>
            <a:ext cx="360363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8" name="직선 화살표 연결선 87"/>
          <p:cNvCxnSpPr/>
          <p:nvPr/>
        </p:nvCxnSpPr>
        <p:spPr>
          <a:xfrm rot="5400000">
            <a:off x="2018887" y="4346798"/>
            <a:ext cx="358775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9" name="꺾인 연결선 88"/>
          <p:cNvCxnSpPr>
            <a:stCxn id="86" idx="3"/>
            <a:endCxn id="84" idx="3"/>
          </p:cNvCxnSpPr>
          <p:nvPr/>
        </p:nvCxnSpPr>
        <p:spPr>
          <a:xfrm flipV="1">
            <a:off x="2907093" y="3285554"/>
            <a:ext cx="34925" cy="700088"/>
          </a:xfrm>
          <a:prstGeom prst="bentConnector3">
            <a:avLst>
              <a:gd name="adj1" fmla="val 755484"/>
            </a:avLst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90" name="TextBox 71"/>
          <p:cNvSpPr txBox="1">
            <a:spLocks noChangeArrowheads="1"/>
          </p:cNvSpPr>
          <p:nvPr/>
        </p:nvSpPr>
        <p:spPr bwMode="auto">
          <a:xfrm>
            <a:off x="2026031" y="4109467"/>
            <a:ext cx="2571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Y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TextBox 71"/>
          <p:cNvSpPr txBox="1">
            <a:spLocks noChangeArrowheads="1"/>
          </p:cNvSpPr>
          <p:nvPr/>
        </p:nvSpPr>
        <p:spPr bwMode="auto">
          <a:xfrm>
            <a:off x="2953131" y="3242692"/>
            <a:ext cx="2809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N</a:t>
            </a: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Rectangle 41"/>
          <p:cNvSpPr>
            <a:spLocks noChangeArrowheads="1"/>
          </p:cNvSpPr>
          <p:nvPr/>
        </p:nvSpPr>
        <p:spPr bwMode="auto">
          <a:xfrm>
            <a:off x="3737356" y="3009329"/>
            <a:ext cx="1223962" cy="349250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옵션 선택</a:t>
            </a:r>
          </a:p>
        </p:txBody>
      </p:sp>
      <p:sp>
        <p:nvSpPr>
          <p:cNvPr id="93" name="순서도: 판단 92"/>
          <p:cNvSpPr/>
          <p:nvPr/>
        </p:nvSpPr>
        <p:spPr>
          <a:xfrm>
            <a:off x="5332793" y="3006154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동화보기</a:t>
            </a:r>
          </a:p>
        </p:txBody>
      </p:sp>
      <p:sp>
        <p:nvSpPr>
          <p:cNvPr id="94" name="순서도: 판단 93"/>
          <p:cNvSpPr/>
          <p:nvPr/>
        </p:nvSpPr>
        <p:spPr>
          <a:xfrm>
            <a:off x="5332793" y="3523679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재생녹화</a:t>
            </a:r>
          </a:p>
        </p:txBody>
      </p:sp>
      <p:sp>
        <p:nvSpPr>
          <p:cNvPr id="95" name="순서도: 판단 94"/>
          <p:cNvSpPr/>
          <p:nvPr/>
        </p:nvSpPr>
        <p:spPr>
          <a:xfrm>
            <a:off x="5332793" y="4045967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다시보기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6" name="순서도: 판단 95"/>
          <p:cNvSpPr/>
          <p:nvPr/>
        </p:nvSpPr>
        <p:spPr>
          <a:xfrm>
            <a:off x="5332793" y="4579367"/>
            <a:ext cx="1428750" cy="357187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맑은 고딕" pitchFamily="50" charset="-127"/>
                <a:ea typeface="맑은 고딕" pitchFamily="50" charset="-127"/>
              </a:rPr>
              <a:t>인기동화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7" name="순서도: 판단 96"/>
          <p:cNvSpPr/>
          <p:nvPr/>
        </p:nvSpPr>
        <p:spPr>
          <a:xfrm>
            <a:off x="5323268" y="5130229"/>
            <a:ext cx="1428750" cy="357188"/>
          </a:xfrm>
          <a:prstGeom prst="flowChartDecision">
            <a:avLst/>
          </a:prstGeom>
          <a:solidFill>
            <a:srgbClr val="FFFFE9"/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 err="1">
                <a:latin typeface="맑은 고딕" pitchFamily="50" charset="-127"/>
                <a:ea typeface="맑은 고딕" pitchFamily="50" charset="-127"/>
              </a:rPr>
              <a:t>게임하기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4970843" y="3188717"/>
            <a:ext cx="360363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99" name="직선 연결선 98"/>
          <p:cNvCxnSpPr/>
          <p:nvPr/>
        </p:nvCxnSpPr>
        <p:spPr>
          <a:xfrm rot="5400000" flipH="1" flipV="1">
            <a:off x="3935000" y="4356323"/>
            <a:ext cx="2341562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0" name="직선 연결선 99"/>
          <p:cNvCxnSpPr/>
          <p:nvPr/>
        </p:nvCxnSpPr>
        <p:spPr>
          <a:xfrm>
            <a:off x="5115306" y="3703067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1" name="직선 연결선 100"/>
          <p:cNvCxnSpPr/>
          <p:nvPr/>
        </p:nvCxnSpPr>
        <p:spPr>
          <a:xfrm>
            <a:off x="5110543" y="4231704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2" name="직선 연결선 101"/>
          <p:cNvCxnSpPr/>
          <p:nvPr/>
        </p:nvCxnSpPr>
        <p:spPr>
          <a:xfrm>
            <a:off x="5110543" y="4763517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3" name="직선 연결선 102"/>
          <p:cNvCxnSpPr/>
          <p:nvPr/>
        </p:nvCxnSpPr>
        <p:spPr>
          <a:xfrm>
            <a:off x="5110543" y="5320729"/>
            <a:ext cx="215900" cy="0"/>
          </a:xfrm>
          <a:prstGeom prst="line">
            <a:avLst/>
          </a:prstGeom>
          <a:noFill/>
          <a:ln w="9525" cap="flat" cmpd="sng" algn="ctr">
            <a:solidFill>
              <a:srgbClr val="00264C"/>
            </a:solidFill>
            <a:prstDash val="solid"/>
          </a:ln>
          <a:effectLst/>
        </p:spPr>
      </p:cxnSp>
      <p:cxnSp>
        <p:nvCxnSpPr>
          <p:cNvPr id="104" name="Shape 83"/>
          <p:cNvCxnSpPr>
            <a:endCxn id="85" idx="3"/>
          </p:cNvCxnSpPr>
          <p:nvPr/>
        </p:nvCxnSpPr>
        <p:spPr>
          <a:xfrm rot="10800000">
            <a:off x="2222881" y="5095304"/>
            <a:ext cx="2882900" cy="431800"/>
          </a:xfrm>
          <a:prstGeom prst="bentConnector2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05" name="직선 화살표 연결선 104"/>
          <p:cNvCxnSpPr/>
          <p:nvPr/>
        </p:nvCxnSpPr>
        <p:spPr>
          <a:xfrm>
            <a:off x="6761543" y="3187129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106" name="Rectangle 41"/>
          <p:cNvSpPr>
            <a:spLocks noChangeArrowheads="1"/>
          </p:cNvSpPr>
          <p:nvPr/>
        </p:nvSpPr>
        <p:spPr bwMode="auto">
          <a:xfrm>
            <a:off x="7012368" y="3545904"/>
            <a:ext cx="1079500" cy="309563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오디오 플레이</a:t>
            </a:r>
          </a:p>
        </p:txBody>
      </p:sp>
      <p:cxnSp>
        <p:nvCxnSpPr>
          <p:cNvPr id="107" name="직선 화살표 연결선 106"/>
          <p:cNvCxnSpPr/>
          <p:nvPr/>
        </p:nvCxnSpPr>
        <p:spPr>
          <a:xfrm>
            <a:off x="6771068" y="3703067"/>
            <a:ext cx="215900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08" name="직선 화살표 연결선 107"/>
          <p:cNvCxnSpPr/>
          <p:nvPr/>
        </p:nvCxnSpPr>
        <p:spPr>
          <a:xfrm>
            <a:off x="6752018" y="4230117"/>
            <a:ext cx="215900" cy="1587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09" name="직선 화살표 연결선 108"/>
          <p:cNvCxnSpPr/>
          <p:nvPr/>
        </p:nvCxnSpPr>
        <p:spPr>
          <a:xfrm>
            <a:off x="6752018" y="4761929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110" name="직선 화살표 연결선 109"/>
          <p:cNvCxnSpPr/>
          <p:nvPr/>
        </p:nvCxnSpPr>
        <p:spPr>
          <a:xfrm>
            <a:off x="6752018" y="5304854"/>
            <a:ext cx="215900" cy="158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111" name="Rectangle 41"/>
          <p:cNvSpPr>
            <a:spLocks noChangeArrowheads="1"/>
          </p:cNvSpPr>
          <p:nvPr/>
        </p:nvSpPr>
        <p:spPr bwMode="auto">
          <a:xfrm>
            <a:off x="6993318" y="4065017"/>
            <a:ext cx="1079500" cy="309562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과거이력 검색</a:t>
            </a:r>
          </a:p>
        </p:txBody>
      </p:sp>
      <p:sp>
        <p:nvSpPr>
          <p:cNvPr id="112" name="AutoShape 46"/>
          <p:cNvSpPr>
            <a:spLocks noChangeArrowheads="1"/>
          </p:cNvSpPr>
          <p:nvPr/>
        </p:nvSpPr>
        <p:spPr bwMode="auto">
          <a:xfrm>
            <a:off x="6982206" y="291566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전래동화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(PFOBSCDM)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3" name="AutoShape 46"/>
          <p:cNvSpPr>
            <a:spLocks noChangeArrowheads="1"/>
          </p:cNvSpPr>
          <p:nvPr/>
        </p:nvSpPr>
        <p:spPr bwMode="auto">
          <a:xfrm>
            <a:off x="6982206" y="448411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latin typeface="맑은 고딕" pitchFamily="50" charset="-127"/>
                <a:ea typeface="맑은 고딕" pitchFamily="50" charset="-127"/>
              </a:rPr>
              <a:t>인기순위 정보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(COMCODEM)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4" name="AutoShape 46"/>
          <p:cNvSpPr>
            <a:spLocks noChangeArrowheads="1"/>
          </p:cNvSpPr>
          <p:nvPr/>
        </p:nvSpPr>
        <p:spPr bwMode="auto">
          <a:xfrm>
            <a:off x="6982206" y="5049267"/>
            <a:ext cx="1439862" cy="539750"/>
          </a:xfrm>
          <a:prstGeom prst="can">
            <a:avLst>
              <a:gd name="adj" fmla="val 25000"/>
            </a:avLst>
          </a:prstGeom>
          <a:solidFill>
            <a:srgbClr val="EAEAEA"/>
          </a:solidFill>
          <a:ln w="6350">
            <a:solidFill>
              <a:srgbClr val="00264C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게임정보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(PFCBICDM)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</a:t>
            </a:r>
          </a:p>
        </p:txBody>
      </p:sp>
      <p:sp>
        <p:nvSpPr>
          <p:cNvPr id="115" name="Oval 44"/>
          <p:cNvSpPr>
            <a:spLocks noChangeArrowheads="1"/>
          </p:cNvSpPr>
          <p:nvPr/>
        </p:nvSpPr>
        <p:spPr bwMode="auto">
          <a:xfrm>
            <a:off x="4837493" y="2910904"/>
            <a:ext cx="268288" cy="203200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6" name="Oval 58"/>
          <p:cNvSpPr>
            <a:spLocks noChangeArrowheads="1"/>
          </p:cNvSpPr>
          <p:nvPr/>
        </p:nvSpPr>
        <p:spPr bwMode="auto">
          <a:xfrm>
            <a:off x="929068" y="5657279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17" name="Text Box 59"/>
          <p:cNvSpPr txBox="1">
            <a:spLocks noChangeArrowheads="1"/>
          </p:cNvSpPr>
          <p:nvPr/>
        </p:nvSpPr>
        <p:spPr bwMode="auto">
          <a:xfrm>
            <a:off x="1145448" y="5620767"/>
            <a:ext cx="44791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전래동화 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APP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실행하여 프로그램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네비게이션으로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해당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컨텐츠를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선택한다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8" name="Oval 73"/>
          <p:cNvSpPr>
            <a:spLocks noChangeArrowheads="1"/>
          </p:cNvSpPr>
          <p:nvPr/>
        </p:nvSpPr>
        <p:spPr bwMode="auto">
          <a:xfrm>
            <a:off x="929068" y="5898579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9" name="Text Box 59"/>
          <p:cNvSpPr txBox="1">
            <a:spLocks noChangeArrowheads="1"/>
          </p:cNvSpPr>
          <p:nvPr/>
        </p:nvSpPr>
        <p:spPr bwMode="auto">
          <a:xfrm>
            <a:off x="1156081" y="5857304"/>
            <a:ext cx="6760184" cy="25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전래동화 옵션을 선택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옵션체크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동화보기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재생하기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다시보기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인기동화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게임하기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를 선택한 후 해당 </a:t>
            </a:r>
            <a:r>
              <a:rPr lang="ko-KR" altLang="en-US" sz="1000" b="0" dirty="0" err="1">
                <a:latin typeface="맑은 고딕" pitchFamily="50" charset="-127"/>
                <a:ea typeface="맑은 고딕" pitchFamily="50" charset="-127"/>
              </a:rPr>
              <a:t>컨텐츠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 재생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0" name="Oval 44"/>
          <p:cNvSpPr>
            <a:spLocks noChangeArrowheads="1"/>
          </p:cNvSpPr>
          <p:nvPr/>
        </p:nvSpPr>
        <p:spPr bwMode="auto">
          <a:xfrm>
            <a:off x="2657856" y="3015679"/>
            <a:ext cx="268287" cy="203200"/>
          </a:xfrm>
          <a:prstGeom prst="ellipse">
            <a:avLst/>
          </a:prstGeom>
          <a:solidFill>
            <a:srgbClr val="3B5AA8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571980"/>
              </p:ext>
            </p:extLst>
          </p:nvPr>
        </p:nvGraphicFramePr>
        <p:xfrm>
          <a:off x="168879" y="1398060"/>
          <a:ext cx="8865668" cy="764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7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1813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PFC2_BGSSMGwanRi_M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프로그램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전래동화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20  .   .   .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3B5AA8"/>
                          </a:solidFill>
                        </a:rPr>
                        <a:t>Page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rgbClr val="3B5AA8"/>
                          </a:solidFill>
                          <a:latin typeface="+mn-lt"/>
                          <a:ea typeface="+mn-ea"/>
                          <a:cs typeface="+mn-cs"/>
                        </a:rPr>
                        <a:t>1/3</a:t>
                      </a:r>
                      <a:endParaRPr lang="ko-KR" altLang="en-US" sz="1000" b="1" kern="1200" dirty="0">
                        <a:solidFill>
                          <a:srgbClr val="3B5AA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6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3B5AA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키넥트기반의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음성인식과 모션인식 기술을 통해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인터랙티브한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방식으로 학습게임을 포함한 전래동화를 체험하는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콘텐츠를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제공하는 프로그램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456534" y="1130999"/>
            <a:ext cx="1571084" cy="238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실무 산출물 형식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DDFED18E-A586-1B3B-5C6C-55B5407DD4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사각형: 둥근 모서리 26">
            <a:extLst>
              <a:ext uri="{FF2B5EF4-FFF2-40B4-BE49-F238E27FC236}">
                <a16:creationId xmlns:a16="http://schemas.microsoft.com/office/drawing/2014/main" xmlns="" id="{FDAC8C2A-AEFE-F984-DB7D-574C12B79BB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AI 균열 탐지 처리 흐름 (POST /v1/photos/detect)
  [시작] → 이미지 업로드(multipart/form-data)
  → PIL.Image.open() → RGB 변환 → NumPy 배열 변환 → BGR 변환(OpenCV)
  → YOLOv8 model(img)[0] 추론
  → results.boxes 순회:
      ├── 신뢰도(conf) → 심각도 분류 (critical/high/medium/low)
      ├── bbox(x1,y1,x2,y2) → 균열 너비 추정 (min(w,h)×0.1mm)
      └── DefectDetection 객체 생성
  → results.plot() → cv2.imencode('.jpg') → Base64 인코딩
  → JSON 응답 반환 {detections, count, annotated_image_base64}
  [종료]
[이미지 삽입: 기능 흐름도 다이어그램]</a:t>
            </a:r>
          </a:p>
        </p:txBody>
      </p:sp>
    </p:spTree>
    <p:extLst>
      <p:ext uri="{BB962C8B-B14F-4D97-AF65-F5344CB8AC3E}">
        <p14:creationId xmlns:p14="http://schemas.microsoft.com/office/powerpoint/2010/main" val="63348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기능 처리도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기능 흐름도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보고서 자동 생성 흐름도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4" y="1280714"/>
            <a:ext cx="8461078" cy="4916063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7A8887FE-5483-6A96-8173-BF7FAA6670E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보고서 생성 처리 흐름 (POST /v1/reports)
  [시작] → 보고서 생성 요청(project_id, format, template_type)
  → Report 레코드 생성 (status=pending)
  → BackgroundTasks.add_task(generate_report_files)
  → 즉시 202 응답 반환
  [백그라운드]
  → status=processing 업데이트
  → _gather_data(): 프로젝트·건물·구역·탐지 데이터 집계
  → format에 따라:
      ├── PDF: _generate_pdf() → ReportLab → .pdf 파일 저장
      └── DOCX: _generate_docx() → python-docx → .docx 파일 저장
  → status=completed / file_path 업데이트
  [프론트엔드] GET /v1/reports/{id}/status 폴링 (1초 간격)
  → completed 확인 → 다운로드 링크 표시
[이미지 삽입: 비동기 보고서 생성 시퀀스 다이어그램]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4C47B75-D605-D5F7-7A68-2F4EAD38A7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03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알고리즘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명세서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YOLOv8 균열 탐지 알고리즘 명세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6" name="image7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641010" y="1547495"/>
            <a:ext cx="3454152" cy="4257769"/>
          </a:xfrm>
          <a:prstGeom prst="rect">
            <a:avLst/>
          </a:prstGeom>
          <a:noFill/>
        </p:spPr>
      </p:pic>
      <p:pic>
        <p:nvPicPr>
          <p:cNvPr id="27" name="image8.png" title="이미지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4668678" y="1601625"/>
            <a:ext cx="4007778" cy="3915607"/>
          </a:xfrm>
          <a:prstGeom prst="rect">
            <a:avLst/>
          </a:prstGeom>
          <a:noFill/>
        </p:spPr>
      </p:pic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xmlns="" id="{8099066B-2374-C2B1-C448-2305AB6B9CD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알고리즘 개요: YOLOv8 (You Only Look Once v8)
  - 분류: 실시간 단일 스테이지 객체 탐지 (One-Stage Object Detection)
  - 기반 모델: YOLOv8n (nano, 경량화 버전)
  - 입력: RGB 이미지 (임의 해상도)
  - 출력: 바운딩박스 좌표(x1,y1,x2,y2), 클래스(Crack), 신뢰도(0~1)
▶ 학습 방법: 전이 학습 (Transfer Learning)
  - 사전 학습: COCO 데이터셋 (80클래스 일반 객체)
  - 파인튜닝: Roboflow 균열 데이터셋 1,350장
    (학습 974장 / 검증 190장 / 테스트 186장)
  - 학습 에포크: 50 (train12/best.pt)
  - 최종 성능: mAP50 = 0.86
▶ 심각도 분류 알고리즘 (자체 설계)
  IF confidence ≥ 0.85 → severity = 'critical'
  ELIF confidence ≥ 0.70 → severity = 'high'
  ELIF confidence ≥ 0.50 → severity = 'medium'
  ELSE → severity = 'low'
▶ 균열 너비 추정 (자체 설계)
  crack_width_mm = min(bbox_width, bbox_height) × 0.1 mm/px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B734AFF-158A-07BF-BC18-52B3EA10F0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4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상세 설명서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안전등급 판정 알고리즘 상세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5" y="1473901"/>
            <a:ext cx="8740117" cy="25719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234302" y="4283396"/>
            <a:ext cx="8728070" cy="19036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9" name="image9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68789" y="4420042"/>
            <a:ext cx="4303212" cy="1673254"/>
          </a:xfrm>
          <a:prstGeom prst="rect">
            <a:avLst/>
          </a:prstGeom>
          <a:noFill/>
        </p:spPr>
      </p:pic>
      <p:pic>
        <p:nvPicPr>
          <p:cNvPr id="23" name="image12.png" title="이미지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4617706" y="4447381"/>
            <a:ext cx="4130757" cy="1645915"/>
          </a:xfrm>
          <a:prstGeom prst="rect">
            <a:avLst/>
          </a:prstGeom>
          <a:noFill/>
        </p:spPr>
      </p:pic>
      <p:pic>
        <p:nvPicPr>
          <p:cNvPr id="24" name="image10.png" title="이미지"/>
          <p:cNvPicPr preferRelativeResize="0"/>
          <p:nvPr/>
        </p:nvPicPr>
        <p:blipFill>
          <a:blip r:embed="rId5" cstate="print"/>
          <a:stretch>
            <a:fillRect/>
          </a:stretch>
        </p:blipFill>
        <p:spPr>
          <a:xfrm>
            <a:off x="353509" y="1541283"/>
            <a:ext cx="8322947" cy="2319766"/>
          </a:xfrm>
          <a:prstGeom prst="rect">
            <a:avLst/>
          </a:prstGeom>
          <a:noFill/>
        </p:spPr>
      </p:pic>
      <p:sp>
        <p:nvSpPr>
          <p:cNvPr id="20" name="사각형: 둥근 모서리 26">
            <a:extLst>
              <a:ext uri="{FF2B5EF4-FFF2-40B4-BE49-F238E27FC236}">
                <a16:creationId xmlns:a16="http://schemas.microsoft.com/office/drawing/2014/main" xmlns="" id="{C1EF52DE-67AC-3EEE-9E67-6DBADC42DC08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안전등급 판정 알고리즘 (calculate_grade)
  - 입력: max_crack_mm (구역 내 최대 균열 너비), defect_count (총 탐지 수)
  - 출력: grade ('A'~'E')
  def calculate_grade(max_crack_mm, defect_count):
      if max_crack_mm is None:
          return 'A' if defect_count == 0 else 'B'
      if max_crack_mm &gt;= 0.5: return 'E'  # 즉각 사용중지
      if max_crack_mm &gt;= 0.3: return 'D'  # 긴급 보수
      if max_crack_mm &gt;= 0.2: return 'C'  # 정밀진단 권고
      if max_crack_mm &gt;= 0.1: return 'B'  # 주기적 모니터링
      return 'A'  # 이상 없음
▶ 등급별 기준 및 권장사항
  A등급 (0.1mm 미만): 이상 없음 — 정기점검 유지
  B등급 (0.1~0.2mm): 주의 — 주기적 모니터링 권고
  C등급 (0.2~0.3mm): 경고 — 정밀 안전진단 권고
  D등급 (0.3~0.5mm): 위험 — 긴급 보수 권고
  E등급 (0.5mm 이상): 심각 — 즉각 사용중지 및 긴급 보수
▶ 근거: 국토안전관리원 건축물 안전점검 지침 균열 판정 기준 반영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2F3FF9E-7C11-B11B-299D-5AF7C76BA4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60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309564"/>
              </p:ext>
            </p:extLst>
          </p:nvPr>
        </p:nvGraphicFramePr>
        <p:xfrm>
          <a:off x="298210" y="1216519"/>
          <a:ext cx="8547580" cy="5020793"/>
        </p:xfrm>
        <a:graphic>
          <a:graphicData uri="http://schemas.openxmlformats.org/drawingml/2006/table">
            <a:tbl>
              <a:tblPr/>
              <a:tblGrid>
                <a:gridCol w="12335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26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871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기능 분류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기능번호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기능 명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454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AUTH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AUTH-01-01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로그인 (JWT 발급)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AUTH-01-02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토큰 갱신 (Refresh)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AUTH-01-03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로그아웃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AUTH-01-04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내 정보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BLDG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BLDG-02-01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건물 목록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9454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BLDG-02-02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건물 등록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BLDG-02-03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건물 상세 조회/수정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>PROJ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PROJ-03-01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프로젝트 목록/생성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PROJ-03-02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프로젝트 상세·상태변경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PROJ-03-03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안전등급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9454">
                <a:tc vMerge="1">
                  <a:txBody>
                    <a:bodyPr/>
                    <a:lstStyle/>
                    <a:p>
                      <a:pPr latinLnBrk="1"/>
                      <a:r>
                        <a:t>PHOTO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PHOTO-04-01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이미지 업로드 (AI 즉시 탐지)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6734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PHOTO-04-02</a:t>
                      </a:r>
                      <a:endParaRPr 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탐지 결과 조회</a:t>
                      </a:r>
                      <a:endParaRPr lang="ko-KR" altLang="en-US" sz="6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D1689A0B-A7D8-D8ED-64B0-385C3B6772C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01052307-33C6-8A6E-99FA-D8F564BAD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91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테이블 정의서 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-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DB 테이블 정의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9" name="image13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23528" y="1601682"/>
            <a:ext cx="4190388" cy="3915550"/>
          </a:xfrm>
          <a:prstGeom prst="rect">
            <a:avLst/>
          </a:prstGeom>
          <a:noFill/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138" y="1743204"/>
            <a:ext cx="3816424" cy="1680866"/>
          </a:xfrm>
          <a:prstGeom prst="rect">
            <a:avLst/>
          </a:prstGeom>
        </p:spPr>
      </p:pic>
      <p:sp>
        <p:nvSpPr>
          <p:cNvPr id="22" name="사각형: 둥근 모서리 26">
            <a:extLst>
              <a:ext uri="{FF2B5EF4-FFF2-40B4-BE49-F238E27FC236}">
                <a16:creationId xmlns:a16="http://schemas.microsoft.com/office/drawing/2014/main" xmlns="" id="{29616CE0-7335-0521-C56D-711BD9659900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주요 테이블 정의
inspection_photos
  id (VARCHAR 36, PK), zone_id (FK), file_path (TEXT)
  file_size (INT), analyzed (BOOL), created_at (DATETIME)
defect_detections
  id (VARCHAR 36, PK), photo_id (FK)
  defect_type (VARCHAR 50): 'Crack'
  severity (VARCHAR 20): low/medium/high/critical
  crack_width_mm (FLOAT): 균열 너비 (mm 단위)
  confidence (FLOAT): 모델 신뢰도 (0~1)
  bbox (TEXT): JSON {x,y,w,h} 픽셀 좌표
  created_at (DATETIME)
reports
  id (VARCHAR 36, PK), project_id (FK)
  status (ENUM): pending/processing/completed/failed
  format (ENUM): pdf/docx/both
  template_type (ENUM): standard/summary
  file_path (TEXT), created_at (DATETIME)
[이미지 삽입: 테이블 정의서 또는 ERD 상세 캡처]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1E1CCA4-B5BD-BA57-028C-1D5146B789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02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핵심 소스코드 — YOLOv8 균열 탐지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6" name="image14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41185" y="1593288"/>
            <a:ext cx="8479287" cy="4500008"/>
          </a:xfrm>
          <a:prstGeom prst="rect">
            <a:avLst/>
          </a:prstGeom>
          <a:noFill/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2A5D967A-F7C6-7D67-ED51-C6C55F51CC1D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# backend/app/services/detection.py (핵심 부분)
def run_detection(image_bytes: bytes, filename: str) -&gt; dict:
    pil_img = Image.open(io.BytesIO(image_bytes)).convert('RGB')
    img = np.array(pil_img)[:, :, ::-1]  # RGB→BGR
    model = get_model()  # YOLOv8 모델 로드
    results = model(img)[0]
    detections = []
    for box in results.boxes:
        conf = float(box.conf[0])
        x1, y1, x2, y2 = box.xyxy[0].tolist()
        severity = _confidence_to_severity(conf)
        crack_width_mm = min(x2-x1, y2-y1) * 0.1  # px→mm
        detections.append({
            'class_name': 'Crack',
            'confidence': round(conf, 4),
            'severity': severity,
            'crack_width_mm': crack_width_mm,
            'bbox': json.dumps({'x':x1,'y':y1,'w':x2-x1,'h':y2-y1})
        })
    annotated = results.plot()  # 바운딩박스 오버레이
    _, buf = cv2.imencode('.jpg', annotated, [cv2.IMWRITE_JPEG_QUALITY, 85])
    img_b64 = base64.b64encode(buf.tobytes()).decode('utf-8')
    return {'detections': detections, 'count': len(detections),
            'annotated_image_base64': img_b64}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F8B2554-4982-E7CB-6CA8-D35BFBB015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59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핵심 소스코드</a:t>
            </a:r>
            <a:r>
              <a:rPr lang="en-US" altLang="ko-KR" sz="1700" spc="-50" dirty="0">
                <a:solidFill>
                  <a:schemeClr val="bg1"/>
                </a:solidFill>
                <a:latin typeface="+mn-ea"/>
                <a:cs typeface="+mj-cs"/>
              </a:rPr>
              <a:t>(2)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핵심 소스코드 — 보고서 자동 생성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08100"/>
            <a:ext cx="8128000" cy="21929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50" y="3740943"/>
            <a:ext cx="7378700" cy="27588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94D0B3F6-A9AD-AC8F-C6DB-34F00765E5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사각형: 둥근 모서리 26">
            <a:extLst>
              <a:ext uri="{FF2B5EF4-FFF2-40B4-BE49-F238E27FC236}">
                <a16:creationId xmlns:a16="http://schemas.microsoft.com/office/drawing/2014/main" xmlns="" id="{79D1AD3B-D4D6-6B33-201B-D4AE11EA382F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# backend/app/services/grade.py
def calculate_grade(max_crack_mm, defect_count):
    if max_crack_mm is None:
        return 'A' if defect_count == 0 else 'B'
    if max_crack_mm &gt;= 0.5: return 'E'
    if max_crack_mm &gt;= 0.3: return 'D'
    if max_crack_mm &gt;= 0.2: return 'C'
    if max_crack_mm &gt;= 0.1: return 'B'
    return 'A'
# backend/app/routers/photos.py (핵심 부분)
@router.post('/photos/detect')
async def detect_crack(file: UploadFile, db: Session = Depends(get_db)):
    image_bytes = await file.read()
    result = run_detection(image_bytes, file.filename)
    # DefectDetection 레코드 저장
    for det in result['detections']:
        db_det = DefectDetection(**det)
        db.add(db_det)
    db.commit()
    return {'success': True, 'data': result}
# frontend/src/api/detection.js
export async function detectCrack(imageFile) {
    const form = new FormData();
    form.append('file', imageFile);
    return apiClient.post('/v1/photos/detect', form);
}</a:t>
            </a:r>
          </a:p>
        </p:txBody>
      </p:sp>
    </p:spTree>
    <p:extLst>
      <p:ext uri="{BB962C8B-B14F-4D97-AF65-F5344CB8AC3E}">
        <p14:creationId xmlns:p14="http://schemas.microsoft.com/office/powerpoint/2010/main" val="2420094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개발 환경 및 설명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60068"/>
              </p:ext>
            </p:extLst>
          </p:nvPr>
        </p:nvGraphicFramePr>
        <p:xfrm>
          <a:off x="450882" y="1268760"/>
          <a:ext cx="8242236" cy="5409312"/>
        </p:xfrm>
        <a:graphic>
          <a:graphicData uri="http://schemas.openxmlformats.org/drawingml/2006/table">
            <a:tbl>
              <a:tblPr/>
              <a:tblGrid>
                <a:gridCol w="8254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9411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구분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b="1"/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항목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/>
                        <a:t>적용내역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187"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S/W개발환경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프론트엔드 개발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React 18 + Vite 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SPA 개발 프레임워크, 번들러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React Router v6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클라이언트 사이드 라우팅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t>백엔드 개발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FastAPI 0.115 (Python 3.11)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REST API 서버, Swagger 자동 생성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SQLAlchemy 2.0 + SQLite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ORM 및 개발용 DB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Ultralytics YOLOv8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균열 탐지 AI 모델 (mAP50 0.86)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OpenCV 4.6+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이미지 처리, 바운딩박스 오버레이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python-jose (JWT)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인증 토큰 생성/검증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ReportLab + python-docx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PDF/DOCX 보고서 자동 생성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01818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개발 도구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Visual Studio Code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주 개발 IDE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Docker Desktop + Docker Compose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컨테이너 배포 환경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/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Postman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API 테스트 도구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Git (로컬)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버전 관리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501818">
                <a:tc vMerge="1">
                  <a:txBody>
                    <a:bodyPr/>
                    <a:lstStyle/>
                    <a:p>
                      <a:pPr latinLnBrk="1"/>
                      <a:r>
                        <a:t>H/W구성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디바이스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스마트폰 (Android/iOS)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t>현장 사진 촬영, 앱 접속 단말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xmlns="" id="{44E9C056-C2F0-90E7-A8D6-C4A7F72E7BF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5FFA21BE-BF57-0869-9170-38A087961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26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-S/W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S/W 기능 실사 사진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1" y="1812454"/>
            <a:ext cx="4258129" cy="27689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6" y="1884038"/>
            <a:ext cx="3501585" cy="2697363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AFF764EB-22DF-A175-1421-5773B08BCB8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[이미지 삽입 — 아래 화면 스크린샷을 캡처하여 붙여넣기]
① 홈 대시보드 화면 (HomeScreen)
② 프로젝트 목록 화면 (ProjectListScreen)
③ AI 분석 결과 화면 (AIResultScreen) — 바운딩박스 오버레이
④ 보고서 미리보기 화면 (ReportPreviewScreen) — PDF 미리보기
앱 실행 방법:
  backend: py -3.13 -m uvicorn app.main:app --port 8000
  frontend: npm run dev (http://localhost:5173)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B6CF3D6-54AD-664D-A74A-7B5AB14258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13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3096344" cy="3178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-H/W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H/W 기능 실사 사진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7" y="1935749"/>
            <a:ext cx="7899400" cy="3695700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506AB3E1-AE74-9160-3B88-1E1B34C06951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[CrackBot AI는 H/W 구성요소가 없는 순수 S/W 프로젝트입니다.]
대신 아래 내용을 삽입하세요:
① 현장 사진 촬영 장면 (스마트폰으로 균열 부위 촬영)
② 서버 실행 화면 (터미널: uvicorn 실행 로그)
③ Docker Compose 실행 화면 (docker compose up 결과)
④ API 테스트 화면 (Swagger UI /docs 스크린샷)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6960E464-F9BA-E972-3A6A-9DF7CBA2EF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33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동영상 촬영 콘티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시연 영상 콘티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3" y="3798060"/>
            <a:ext cx="5877702" cy="215121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78" y="1508629"/>
            <a:ext cx="5855816" cy="2157906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xmlns="" id="{C7500637-46CD-7B82-4D3C-E50C3719767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시연 영상 구성 (총 3~5분 목표)
  [씬 1 - 00:00~00:30] 인트로
    - 앱 타이틀 + 한 줄 소개: '건축물 균열 AI 자동 점검 시스템'
  [씬 2 - 00:30~01:00] 문제 제시
    - 기존 수작업 점검 장면 + 수기 보고서 작성의 어려움 설명
  [씬 3 - 01:00~02:00] 앱 사용 시연
    - 로그인 → 프로젝트 생성 → 균열 사진 업로드 → AI 분석
    - 바운딩박스 결과 확인, 안전등급 A~E 판정 화면
  [씬 4 - 02:00~03:00] 보고서 자동 생성
    - [보고서 생성] 클릭 → 생성 중 로딩 → PDF 미리보기 → 다운로드
    - 생성된 PDF 보고서 내용 화면 전환
  [씬 5 - 03:00~03:30] 기대효과 + 마무리
    - 처리 건수 2~3건 → 10건 이상, 행정시간 80% 절감 강조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390139F4-3D90-BC08-F57D-2AEEFFE84A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98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프로젝트 관리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t>CrackBot AI 프로젝트 관리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2793828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3131840" y="1468773"/>
            <a:ext cx="288032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E9BCB1CE-2DD6-40DC-A0F7-0303DCBC1F92}"/>
              </a:ext>
            </a:extLst>
          </p:cNvPr>
          <p:cNvSpPr/>
          <p:nvPr/>
        </p:nvSpPr>
        <p:spPr>
          <a:xfrm>
            <a:off x="6084168" y="1484784"/>
            <a:ext cx="2981592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849" y="1916832"/>
            <a:ext cx="2870229" cy="2529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7872" y="15166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/>
              <a:t>이슈관리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7" y="1988840"/>
            <a:ext cx="2808313" cy="23725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03848" y="14847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형상관리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972217"/>
            <a:ext cx="2692556" cy="23891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7660" y="148478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프로젝트 관리</a:t>
            </a:r>
          </a:p>
        </p:txBody>
      </p:sp>
      <p:sp>
        <p:nvSpPr>
          <p:cNvPr id="24" name="사각형: 둥근 모서리 26">
            <a:extLst>
              <a:ext uri="{FF2B5EF4-FFF2-40B4-BE49-F238E27FC236}">
                <a16:creationId xmlns:a16="http://schemas.microsoft.com/office/drawing/2014/main" xmlns="" id="{01E962C8-CE2A-8E9B-B0A0-BDF35F75C2E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>▶ 이슈 관리
  - [이슈1] YOLOv8 모델 파일 Git 관리 문제 → .gitignore 제외, 별도 보관
  - [이슈2] 한국어 PDF 폰트 깨짐 → malgun.ttf 직접 등록으로 해결
  - [이슈3] 보고서 생성 블로킹 → BackgroundTasks 비동기로 전환
  - [이슈4] 프론트-백 API 인터페이스 불일치 → Swagger UI 공유 레퍼런스 채택
▶ 형상 관리
  - Git 로컬 버전 관리, feature 브랜치 전략 적용
  - 주요 커밋: 인증 구현, YOLO 통합, 보고서 생성, Docker 배포
▶ 프로젝트 관리 도구
  - 일정 관리: Notion 작업 보드
  - 소통: KakaoTalk
  - API 문서: FastAPI Swagger UI (/docs)
[이미지 삽입: Git 커밋 로그 스크린샷 또는 Notion 작업 보드 캡처]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26D0B7D-EFC9-128F-423A-9281E7C679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10800000">
            <a:off x="4306022" y="3226032"/>
            <a:ext cx="4837978" cy="361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rgbClr val="3B5AA8"/>
                </a:solidFill>
              </a:rPr>
              <a:t>Thank you</a:t>
            </a:r>
            <a:endParaRPr lang="ko-KR" altLang="en-US" sz="5000" b="1" spc="-150" dirty="0">
              <a:solidFill>
                <a:srgbClr val="3B5AA8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71600" y="6502764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8B488D3-AF34-7CBE-A60C-C2CAAAD8CA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1738</Words>
  <Application>Microsoft Office PowerPoint</Application>
  <PresentationFormat>화면 슬라이드 쇼(4:3)</PresentationFormat>
  <Paragraphs>510</Paragraphs>
  <Slides>34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이낙선</dc:creator>
  <cp:lastModifiedBy>SAMSUNG</cp:lastModifiedBy>
  <cp:revision>282</cp:revision>
  <dcterms:created xsi:type="dcterms:W3CDTF">2014-04-16T00:55:54Z</dcterms:created>
  <dcterms:modified xsi:type="dcterms:W3CDTF">2026-06-23T05:38:39Z</dcterms:modified>
</cp:coreProperties>
</file>