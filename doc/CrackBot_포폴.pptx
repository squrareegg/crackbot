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CrackBot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6B00"/>
                </a:solidFill>
                <a:latin typeface="맑은 고딕"/>
              </a:rPr>
              <a:t>인간의 한계를 넘는 AI 정밀 점검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스마트폰 사진 한 장으로 건축물 균열을 탐지하고, 안전등급(A~E)까지 자동 산정하는 저비용 AI 안전점검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AAAABB"/>
                </a:solidFill>
                <a:latin typeface="맑은 고딕"/>
              </a:rPr>
              <a:t>2026 ICT </a:t>
            </a:r>
            <a:r>
              <a:rPr sz="1300" b="0" dirty="0" err="1">
                <a:solidFill>
                  <a:srgbClr val="AAAABB"/>
                </a:solidFill>
                <a:latin typeface="맑은 고딕"/>
              </a:rPr>
              <a:t>한이음</a:t>
            </a:r>
            <a:r>
              <a:rPr sz="1300" b="0" dirty="0">
                <a:solidFill>
                  <a:srgbClr val="AAAAB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AAAABB"/>
                </a:solidFill>
                <a:latin typeface="맑은 고딕"/>
              </a:rPr>
              <a:t>드림업</a:t>
            </a:r>
            <a:r>
              <a:rPr sz="1300" b="0" dirty="0">
                <a:solidFill>
                  <a:srgbClr val="AAAABB"/>
                </a:solidFill>
                <a:latin typeface="맑은 고딕"/>
              </a:rPr>
              <a:t> · </a:t>
            </a:r>
            <a:r>
              <a:rPr lang="en-US" altLang="ko-KR" sz="1300" b="0" dirty="0">
                <a:solidFill>
                  <a:srgbClr val="AAAABB"/>
                </a:solidFill>
                <a:latin typeface="맑은 고딕"/>
              </a:rPr>
              <a:t>3</a:t>
            </a:r>
            <a:r>
              <a:rPr sz="1300" b="0" dirty="0">
                <a:solidFill>
                  <a:srgbClr val="AAAABB"/>
                </a:solidFill>
                <a:latin typeface="맑은 고딕"/>
              </a:rPr>
              <a:t>인 팀 · 2026.04.29~07.02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 err="1">
                <a:solidFill>
                  <a:srgbClr val="AAAABB"/>
                </a:solidFill>
                <a:latin typeface="맑은 고딕"/>
              </a:rPr>
              <a:t>김준우</a:t>
            </a:r>
            <a:endParaRPr sz="1300" b="0" dirty="0">
              <a:solidFill>
                <a:srgbClr val="AAAABB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문제 정의·모티브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947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892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핵심 구현·데모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470916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4709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7548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성과·배운점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2026.04.29~07.02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2026 ICT 한이음 드림업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SqurareEgg/CrackBot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55448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김준우(본인)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백엔드·프론트엔드·인프라 전체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김민규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AI 모델링(YOLOv8)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김광훈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기획·문서화 → PM 겸 하드웨어 대응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김태훈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하드웨어 담당 → 중도 이탈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solidFill>
            <a:srgbClr val="FF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A1A2E"/>
                </a:solidFill>
                <a:latin typeface="맑은 고딕"/>
              </a:rPr>
              <a:t>본인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기여도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: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백엔드·프론트엔드·인프라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전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영역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설계·구현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(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담당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모듈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기준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100%), 4인 중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코드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분량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A1A2E"/>
                </a:solidFill>
                <a:latin typeface="맑은 고딕"/>
              </a:rPr>
              <a:t>기준</a:t>
            </a:r>
            <a:r>
              <a:rPr sz="1400" b="1" dirty="0">
                <a:solidFill>
                  <a:srgbClr val="1A1A2E"/>
                </a:solidFill>
                <a:latin typeface="맑은 고딕"/>
              </a:rPr>
              <a:t> 약 50~60%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문제 정의 · 모티브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40년 넘은 노후 건물이 갑작스레 붕괴하는 사고가 이어지며 노후 건축물 안전에 대한 불안감 확대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건축물관리법 개정으로 안전점검이 의무화됐지만, 예산·인력 부족한 소규모 노후 건물은 사각지대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기존 점검은 사진 촬영+수기 기록 방식이라 결함 탐지~보고서 작성까지 최대 1주일 소요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국내 건축물 중 30년 이상 노후 건축물 약 45%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46320"/>
            <a:ext cx="10728655" cy="10058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956048"/>
            <a:ext cx="10180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→ 고가 전문 장비 없이 스마트폰 사진 + AI만으로 균열 탐지~등급 판정~보고서 생성을 원스톱 처리하는 저비용 서비스를 목표로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312893"/>
            <a:ext cx="2084831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41493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0">
                <a:solidFill>
                  <a:srgbClr val="202020"/>
                </a:solidFill>
                <a:latin typeface="맑은 고딕"/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453"/>
            <a:ext cx="190195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맑은 고딕"/>
              </a:rPr>
              <a:t>계층 구조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50253"/>
            <a:ext cx="1901951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건물 → 점검 프로젝트 → 구역(zone)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42" y="2312893"/>
            <a:ext cx="2084831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42" y="2541493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0">
                <a:solidFill>
                  <a:srgbClr val="202020"/>
                </a:solidFill>
                <a:latin typeface="맑은 고딕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82" y="3364453"/>
            <a:ext cx="190195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맑은 고딕"/>
              </a:rPr>
              <a:t>AI 균열 자동 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82" y="4050253"/>
            <a:ext cx="1901951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YOLOv8 기반 바운딩박스·신뢰도·심각도·너비 반환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64" y="2312893"/>
            <a:ext cx="2084831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64" y="2541493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0">
                <a:solidFill>
                  <a:srgbClr val="202020"/>
                </a:solidFill>
                <a:latin typeface="맑은 고딕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7004" y="3364453"/>
            <a:ext cx="190195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맑은 고딕"/>
              </a:rPr>
              <a:t>안전등급 자동 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04" y="4050253"/>
            <a:ext cx="1901951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균열 폭(mm) 기준 A~E 등급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586" y="2312893"/>
            <a:ext cx="2084831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97586" y="2541493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0">
                <a:solidFill>
                  <a:srgbClr val="202020"/>
                </a:solidFill>
                <a:latin typeface="맑은 고딕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9026" y="3364453"/>
            <a:ext cx="190195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맑은 고딕"/>
              </a:rPr>
              <a:t>보고서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9026" y="4050253"/>
            <a:ext cx="1901951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PDF/DOCX 비동기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608" y="2312893"/>
            <a:ext cx="2084831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19608" y="2541493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0">
                <a:solidFill>
                  <a:srgbClr val="202020"/>
                </a:solidFill>
                <a:latin typeface="맑은 고딕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1048" y="3364453"/>
            <a:ext cx="190195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맑은 고딕"/>
              </a:rPr>
              <a:t>JWT 인증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1048" y="4050253"/>
            <a:ext cx="1901951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Access 30분 / Refresh 7일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526254"/>
            <a:ext cx="1074320" cy="457200"/>
          </a:xfrm>
          <a:prstGeom prst="roundRect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26254"/>
            <a:ext cx="10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React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3000" y="2526254"/>
            <a:ext cx="674320" cy="457200"/>
          </a:xfrm>
          <a:prstGeom prst="roundRect">
            <a:avLst/>
          </a:prstGeom>
          <a:solidFill>
            <a:srgbClr val="64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43000" y="2526254"/>
            <a:ext cx="6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4480" y="2526254"/>
            <a:ext cx="974320" cy="45720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4480" y="2526254"/>
            <a:ext cx="9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5960" y="2526254"/>
            <a:ext cx="874320" cy="457200"/>
          </a:xfrm>
          <a:prstGeom prst="round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65960" y="2526254"/>
            <a:ext cx="8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7440" y="2526254"/>
            <a:ext cx="874320" cy="457200"/>
          </a:xfrm>
          <a:prstGeom prst="roundRect">
            <a:avLst/>
          </a:prstGeom>
          <a:solidFill>
            <a:srgbClr val="111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7440" y="2526254"/>
            <a:ext cx="8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YOLOv8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8920" y="2526254"/>
            <a:ext cx="874320" cy="457200"/>
          </a:xfrm>
          <a:prstGeom prst="roundRect">
            <a:avLst/>
          </a:prstGeom>
          <a:solidFill>
            <a:srgbClr val="00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88920" y="2526254"/>
            <a:ext cx="8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SQLite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0400" y="2526254"/>
            <a:ext cx="874320" cy="457200"/>
          </a:xfrm>
          <a:prstGeom prst="round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0400" y="2526254"/>
            <a:ext cx="8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11880" y="2526254"/>
            <a:ext cx="774320" cy="457200"/>
          </a:xfrm>
          <a:prstGeom prst="roundRect">
            <a:avLst/>
          </a:prstGeom>
          <a:solidFill>
            <a:srgbClr val="009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11880" y="2526254"/>
            <a:ext cx="7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Nginx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360" y="2526254"/>
            <a:ext cx="574320" cy="457200"/>
          </a:xfrm>
          <a:prstGeom prst="round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360" y="2526254"/>
            <a:ext cx="5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3209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왜 이 기술인가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89294"/>
            <a:ext cx="10728655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YOLOv8 — Faster R-CNN과 비교 검토 후, 실시간성과 학습 효율을 고려해 채택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SQLite — 설계 문서상 PostgreSQL을 명시했지만, 배포 단순화를 우선해 최종 채택 (확장성은 향후 과제)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FastAPI BackgroundTasks — 설계 단계 Celery 비동기 큐 검토 후, 인프라 단순화를 위해 축소 적용</a:t>
            </a:r>
          </a:p>
        </p:txBody>
      </p:sp>
      <p:pic>
        <p:nvPicPr>
          <p:cNvPr id="1028" name="Picture 4" descr="파일:React-icon.svg">
            <a:extLst>
              <a:ext uri="{FF2B5EF4-FFF2-40B4-BE49-F238E27FC236}">
                <a16:creationId xmlns:a16="http://schemas.microsoft.com/office/drawing/2014/main" id="{F505752B-CB55-45DF-AB90-37FDEDF1A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84" y="1860262"/>
            <a:ext cx="540000" cy="48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파일:Vitejs-logo.svg">
            <a:extLst>
              <a:ext uri="{FF2B5EF4-FFF2-40B4-BE49-F238E27FC236}">
                <a16:creationId xmlns:a16="http://schemas.microsoft.com/office/drawing/2014/main" id="{FFB8C4A3-B119-448F-974F-A77AAC363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98" y="1838225"/>
            <a:ext cx="540000" cy="5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E821B7D1-0EBD-437C-AFF2-C3A7C4484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1640" y="1866751"/>
            <a:ext cx="540000" cy="537314"/>
          </a:xfrm>
          <a:prstGeom prst="rect">
            <a:avLst/>
          </a:prstGeom>
        </p:spPr>
      </p:pic>
      <p:pic>
        <p:nvPicPr>
          <p:cNvPr id="1032" name="Picture 8" descr="파일:Python.svg">
            <a:extLst>
              <a:ext uri="{FF2B5EF4-FFF2-40B4-BE49-F238E27FC236}">
                <a16:creationId xmlns:a16="http://schemas.microsoft.com/office/drawing/2014/main" id="{9AFE4AF4-E936-4483-A1E3-6004E5AE3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120" y="184707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assets-global.website-files.com/5f6bc60e665f54db361e52a9/63f6895d515270ffdafd36d5_yolov8.png">
            <a:extLst>
              <a:ext uri="{FF2B5EF4-FFF2-40B4-BE49-F238E27FC236}">
                <a16:creationId xmlns:a16="http://schemas.microsoft.com/office/drawing/2014/main" id="{0881E394-B207-446B-952E-9B20C201C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396" y="1747849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파일:SQLite370.svg">
            <a:extLst>
              <a:ext uri="{FF2B5EF4-FFF2-40B4-BE49-F238E27FC236}">
                <a16:creationId xmlns:a16="http://schemas.microsoft.com/office/drawing/2014/main" id="{509622F0-17C8-441D-AE98-DE0AAA552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080" y="1930067"/>
            <a:ext cx="720000" cy="34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파일:Docker (container engine) logo.svg">
            <a:extLst>
              <a:ext uri="{FF2B5EF4-FFF2-40B4-BE49-F238E27FC236}">
                <a16:creationId xmlns:a16="http://schemas.microsoft.com/office/drawing/2014/main" id="{C98DABEB-D98B-4CB9-ADE0-5836078BF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560" y="2062421"/>
            <a:ext cx="720000" cy="1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파일:Nginx logo.svg">
            <a:extLst>
              <a:ext uri="{FF2B5EF4-FFF2-40B4-BE49-F238E27FC236}">
                <a16:creationId xmlns:a16="http://schemas.microsoft.com/office/drawing/2014/main" id="{76390170-E844-4928-A9BE-14EA5AA32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189" y="2072546"/>
            <a:ext cx="720000" cy="1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A47B1184-1FB4-4A35-AE80-962B10AF8D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23360" y="2044838"/>
            <a:ext cx="720000" cy="24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4C0AD40-28C0-4D9F-80AD-CE2FFBEFC9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732"/>
          <a:stretch/>
        </p:blipFill>
        <p:spPr>
          <a:xfrm>
            <a:off x="0" y="960120"/>
            <a:ext cx="9180945" cy="466422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1A1A2E"/>
                </a:solidFill>
                <a:latin typeface="맑은 고딕"/>
              </a:rPr>
              <a:t>시스템</a:t>
            </a:r>
            <a:r>
              <a:rPr sz="28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A1A2E"/>
                </a:solidFill>
                <a:latin typeface="맑은 고딕"/>
              </a:rPr>
              <a:t>아키텍처</a:t>
            </a:r>
            <a:endParaRPr sz="2800" b="1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83389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69785"/>
            <a:ext cx="10728655" cy="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00" dirty="0">
                <a:solidFill>
                  <a:srgbClr val="202020"/>
                </a:solidFill>
                <a:latin typeface="맑은 고딕"/>
              </a:rPr>
              <a:t>•  Docker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Compose로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backend(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FastAPI+uvicorn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)·frontend(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nginx+React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정적파일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)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컨테이너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단일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명령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배포</a:t>
            </a:r>
            <a:endParaRPr sz="1300" dirty="0">
              <a:solidFill>
                <a:srgbClr val="202020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300" dirty="0">
                <a:solidFill>
                  <a:srgbClr val="202020"/>
                </a:solidFill>
                <a:latin typeface="맑은 고딕"/>
              </a:rPr>
              <a:t>•  API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라우터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6개(auth/buildings/dev/photos/projects/reports) ·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SQLAlchemy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모델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5개 ·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서비스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모듈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4개</a:t>
            </a:r>
          </a:p>
          <a:p>
            <a:pPr>
              <a:lnSpc>
                <a:spcPct val="130000"/>
              </a:lnSpc>
            </a:pPr>
            <a:r>
              <a:rPr sz="1300" dirty="0">
                <a:solidFill>
                  <a:srgbClr val="202020"/>
                </a:solidFill>
                <a:latin typeface="맑은 고딕"/>
              </a:rPr>
              <a:t>•  [DevOps &amp; Test] Docker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Compose로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배포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자동화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.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테스트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코드는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기초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수준만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있고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유닛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/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통합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/E2E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테스트는</a:t>
            </a:r>
            <a:r>
              <a:rPr sz="130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맑은 고딕"/>
              </a:rPr>
              <a:t>없음</a:t>
            </a:r>
            <a:endParaRPr sz="1300" dirty="0">
              <a:solidFill>
                <a:srgbClr val="20202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A2E40B1-A4ED-4B57-8179-F95DCEB9A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72" y="960120"/>
            <a:ext cx="10877550" cy="5562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사용자 흐름 · 예외처리 설계 (화면설계서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기능 딥다이브 — AI 균열 자동 탐지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40000"/>
            <a:ext cx="1072865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FF6B00"/>
                </a:solidFill>
                <a:latin typeface="맑은 고딕"/>
              </a:rPr>
              <a:t>사진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한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장에서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균열을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탐지해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심각도·폭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(mm)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까지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함께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반환하는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핵심</a:t>
            </a:r>
            <a:r>
              <a:rPr sz="1300" b="1" dirty="0">
                <a:solidFill>
                  <a:srgbClr val="FF6B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6B00"/>
                </a:solidFill>
                <a:latin typeface="맑은 고딕"/>
              </a:rPr>
              <a:t>파이프라인</a:t>
            </a:r>
            <a:endParaRPr sz="1300" b="1" dirty="0">
              <a:solidFill>
                <a:srgbClr val="FF6B00"/>
              </a:solidFill>
              <a:latin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맑은 고딕"/>
              </a:rPr>
              <a:t>[ 실제 화면 스크린샷 삽입 ]
(균열 탐지 바운딩박스 오버레이)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5760720" cy="2743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4864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def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run_detection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image_bytes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, filename):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img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 = decode(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image_bytes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)  # RGB→BGR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model =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get_model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()  # YOLOv8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results = model(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img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)[0]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for box in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results.boxes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    conf = float(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box.conf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[0])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    severity = _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confidence_to_severity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(conf)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width_mm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 = min(w, h) * 0.1  #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px→mm</a:t>
            </a:r>
            <a:endParaRPr sz="1100" b="0" dirty="0">
              <a:solidFill>
                <a:srgbClr val="E8E8F0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annotated = </a:t>
            </a:r>
            <a:r>
              <a:rPr sz="1100" b="0" dirty="0" err="1">
                <a:solidFill>
                  <a:srgbClr val="E8E8F0"/>
                </a:solidFill>
                <a:latin typeface="Consolas"/>
              </a:rPr>
              <a:t>results.plot</a:t>
            </a:r>
            <a:r>
              <a:rPr sz="1100" b="0" dirty="0">
                <a:solidFill>
                  <a:srgbClr val="E8E8F0"/>
                </a:solidFill>
                <a:latin typeface="Consolas"/>
              </a:rPr>
              <a:t>()</a:t>
            </a:r>
          </a:p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E8E8F0"/>
                </a:solidFill>
                <a:latin typeface="Consolas"/>
              </a:rPr>
              <a:t>    return {'detections': ..., 'count': ...}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7200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202020"/>
                </a:solidFill>
                <a:latin typeface="맑은 고딕"/>
              </a:rPr>
              <a:t>YOLOv8n을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Roboflow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균열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데이터셋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(1,350장)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으로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전이학습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, mAP50 0.86 / CPU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기준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평균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50ms/장.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confidence로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critical/high/medium/low 4단계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심각도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맑은 고딕"/>
              </a:rPr>
              <a:t>분류</a:t>
            </a:r>
            <a:r>
              <a:rPr sz="1300" b="0" dirty="0">
                <a:solidFill>
                  <a:srgbClr val="202020"/>
                </a:solidFill>
                <a:latin typeface="맑은 고딕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8FDF5F-8819-4606-AA41-194DBB8F42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0" b="41947"/>
          <a:stretch/>
        </p:blipFill>
        <p:spPr>
          <a:xfrm>
            <a:off x="567112" y="1775224"/>
            <a:ext cx="2560320" cy="37827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8E7B000-5BBC-460F-BA3F-5F2D561E40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8" b="13593"/>
          <a:stretch/>
        </p:blipFill>
        <p:spPr>
          <a:xfrm>
            <a:off x="3108960" y="1766454"/>
            <a:ext cx="2560320" cy="381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3030E97-DAC1-4080-94F8-415E292F0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950884"/>
            <a:ext cx="11207379" cy="417529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서비스 아키텍처 (배포·인프라 관점)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애플리케이션아키텍처.png"/>
          <p:cNvPicPr>
            <a:picLocks noChangeAspect="1"/>
          </p:cNvPicPr>
          <p:nvPr/>
        </p:nvPicPr>
        <p:blipFill rotWithShape="1">
          <a:blip r:embed="rId2"/>
          <a:srcRect l="2604" r="2570"/>
          <a:stretch/>
        </p:blipFill>
        <p:spPr>
          <a:xfrm>
            <a:off x="548640" y="1645920"/>
            <a:ext cx="11098415" cy="42914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애플리케이션 아키텍처 (레이어 관점)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9E654EB-AB45-4218-AAA9-CADAF773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7361"/>
            <a:ext cx="11491884" cy="470443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데이터베이스 설계 (ERD)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1) 보고서 생성이 더미 데이터로만 동작하던 문제 발견부터 실제 렌더링 전환까지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PDF/DOCX 보고서가 더미로만 생성됨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reportlab·python-docx 연동 미완성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실제 렌더링 + BackgroundTasks 비동기 처리, 상태 폴링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2) 프로젝트/보고서 목록 조회 API 지연 발견부터 쿼리 최적화까지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목록 조회 API 지연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N+1 쿼리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840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  <a:latin typeface="맑은 고딕"/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148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SQLAlchemy joinedload() 적용 (정확한 개선 수치는 미측정)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성과 · 배운점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성과 / 안 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전체 기능 87% 완료 시점 기준, 핵심 워크플로우 정상 동작 확인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YOLOv8n 커스텀 학습 모델 mAP50 0.86, 평균 추론 속도 약 50ms/장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안 된 것: RBAC 라우터 검증 없음, AWS S3는 뼈대만, CORS 전체 허용, 테스트 코드 부재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400" cy="457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배운점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4인 팀에서 백엔드·인프라를 전담하며 제가 설계한 API가 팀원의 YOLO 모델·프론트엔드와 맞물려야 한다는 책임감을 느낌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하드웨어 담당 팀원 이탈이라는 변수 앞에서, 남은 역량으로 스코프를 재조정하는 것도 프로젝트 관리의 일부라는 것을 배움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6B00"/>
                </a:solidFill>
                <a:latin typeface="맑은 고딕"/>
              </a:rPr>
              <a:t>GitHub: github.com/SqurareEgg/CrackBot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이메일: kjw5262@naver.com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209217F11C030418B612400D8CF61B1" ma:contentTypeVersion="12" ma:contentTypeDescription="새 문서를 만듭니다." ma:contentTypeScope="" ma:versionID="269ec774422a019906bcff5b3fae74ba">
  <xsd:schema xmlns:xsd="http://www.w3.org/2001/XMLSchema" xmlns:xs="http://www.w3.org/2001/XMLSchema" xmlns:p="http://schemas.microsoft.com/office/2006/metadata/properties" xmlns:ns2="f749e4ce-c188-46de-82e3-a8ccb1dbdbda" xmlns:ns3="7ad51d6e-dc7b-490a-9054-ff0bb80c1d5e" targetNamespace="http://schemas.microsoft.com/office/2006/metadata/properties" ma:root="true" ma:fieldsID="aea6005de052de49ef4b813a9204121b" ns2:_="" ns3:_="">
    <xsd:import namespace="f749e4ce-c188-46de-82e3-a8ccb1dbdbda"/>
    <xsd:import namespace="7ad51d6e-dc7b-490a-9054-ff0bb80c1d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9e4ce-c188-46de-82e3-a8ccb1dbd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51d6e-dc7b-490a-9054-ff0bb80c1d5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cf58a80-40f7-48bf-8269-f88ab7ed75b2}" ma:internalName="TaxCatchAll" ma:showField="CatchAllData" ma:web="7ad51d6e-dc7b-490a-9054-ff0bb80c1d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d51d6e-dc7b-490a-9054-ff0bb80c1d5e" xsi:nil="true"/>
    <lcf76f155ced4ddcb4097134ff3c332f xmlns="f749e4ce-c188-46de-82e3-a8ccb1dbdb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D4489E1-27E6-4F25-8E61-FF78BF56184F}"/>
</file>

<file path=customXml/itemProps2.xml><?xml version="1.0" encoding="utf-8"?>
<ds:datastoreItem xmlns:ds="http://schemas.openxmlformats.org/officeDocument/2006/customXml" ds:itemID="{3200F258-9C70-49AB-8742-DA8EFA87061E}"/>
</file>

<file path=customXml/itemProps3.xml><?xml version="1.0" encoding="utf-8"?>
<ds:datastoreItem xmlns:ds="http://schemas.openxmlformats.org/officeDocument/2006/customXml" ds:itemID="{793EE69E-0E6B-41E9-B0D3-AEC84CDC64F6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831</Words>
  <Application>Microsoft Office PowerPoint</Application>
  <PresentationFormat>와이드스크린</PresentationFormat>
  <Paragraphs>125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AI-1F-S21</cp:lastModifiedBy>
  <cp:revision>8</cp:revision>
  <dcterms:created xsi:type="dcterms:W3CDTF">2013-01-27T09:14:16Z</dcterms:created>
  <dcterms:modified xsi:type="dcterms:W3CDTF">2026-10-08T07:09:45Z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0x010100C209217F11C030418B612400D8CF61B1</vt:lpwstr>
  </property>
</Properties>
</file>