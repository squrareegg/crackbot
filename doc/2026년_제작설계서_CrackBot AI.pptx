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78" r:id="rId2"/>
    <p:sldId id="315" r:id="rId3"/>
    <p:sldId id="377" r:id="rId4"/>
    <p:sldId id="318" r:id="rId5"/>
    <p:sldId id="317" r:id="rId6"/>
    <p:sldId id="375" r:id="rId7"/>
    <p:sldId id="379" r:id="rId8"/>
    <p:sldId id="380" r:id="rId9"/>
    <p:sldId id="326" r:id="rId10"/>
    <p:sldId id="320" r:id="rId11"/>
    <p:sldId id="381" r:id="rId12"/>
    <p:sldId id="382" r:id="rId13"/>
    <p:sldId id="371" r:id="rId14"/>
    <p:sldId id="385" r:id="rId15"/>
    <p:sldId id="387" r:id="rId16"/>
    <p:sldId id="383" r:id="rId17"/>
    <p:sldId id="309" r:id="rId18"/>
    <p:sldId id="367" r:id="rId19"/>
    <p:sldId id="368" r:id="rId20"/>
    <p:sldId id="388" r:id="rId21"/>
    <p:sldId id="389" r:id="rId22"/>
    <p:sldId id="390" r:id="rId23"/>
    <p:sldId id="391" r:id="rId24"/>
    <p:sldId id="328" r:id="rId25"/>
    <p:sldId id="369" r:id="rId26"/>
    <p:sldId id="352" r:id="rId27"/>
    <p:sldId id="393" r:id="rId28"/>
    <p:sldId id="394" r:id="rId29"/>
    <p:sldId id="395" r:id="rId30"/>
    <p:sldId id="339" r:id="rId31"/>
    <p:sldId id="396" r:id="rId32"/>
    <p:sldId id="358" r:id="rId33"/>
    <p:sldId id="287" r:id="rId34"/>
    <p:sldId id="364" r:id="rId35"/>
    <p:sldId id="294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D6EE76-2EED-433F-9637-FA0455F98D15}">
          <p14:sldIdLst>
            <p14:sldId id="378"/>
            <p14:sldId id="315"/>
            <p14:sldId id="377"/>
            <p14:sldId id="318"/>
            <p14:sldId id="317"/>
            <p14:sldId id="375"/>
            <p14:sldId id="379"/>
            <p14:sldId id="380"/>
            <p14:sldId id="326"/>
            <p14:sldId id="320"/>
            <p14:sldId id="381"/>
            <p14:sldId id="382"/>
            <p14:sldId id="371"/>
            <p14:sldId id="385"/>
            <p14:sldId id="387"/>
            <p14:sldId id="383"/>
            <p14:sldId id="309"/>
            <p14:sldId id="367"/>
            <p14:sldId id="368"/>
            <p14:sldId id="388"/>
            <p14:sldId id="389"/>
            <p14:sldId id="390"/>
            <p14:sldId id="391"/>
            <p14:sldId id="328"/>
            <p14:sldId id="369"/>
          </p14:sldIdLst>
        </p14:section>
        <p14:section name="설계단계" id="{079FB007-4044-4E60-AD09-4E9512A5438F}">
          <p14:sldIdLst>
            <p14:sldId id="352"/>
            <p14:sldId id="393"/>
            <p14:sldId id="394"/>
            <p14:sldId id="395"/>
            <p14:sldId id="339"/>
            <p14:sldId id="396"/>
            <p14:sldId id="358"/>
            <p14:sldId id="287"/>
            <p14:sldId id="364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3B5AA8"/>
    <a:srgbClr val="77787B"/>
    <a:srgbClr val="C40452"/>
    <a:srgbClr val="9999FF"/>
    <a:srgbClr val="E2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0CE3A-1CBC-D77B-18F6-3FD3CCEE622E}" v="8" dt="2026-07-11T10:13:36.242"/>
    <p1510:client id="{F257D744-A494-F620-666F-5A0ED50A40D8}" v="74" dt="2026-07-10T06:38:27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18" autoAdjust="0"/>
    <p:restoredTop sz="94766" autoAdjust="0"/>
  </p:normalViewPr>
  <p:slideViewPr>
    <p:cSldViewPr>
      <p:cViewPr varScale="1">
        <p:scale>
          <a:sx n="113" d="100"/>
          <a:sy n="113" d="100"/>
        </p:scale>
        <p:origin x="132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d21525c-fc0f-4dbc-a403-67ce00add0e4::" providerId="AD" clId="Web-{F257D744-A494-F620-666F-5A0ED50A40D8}"/>
    <pc:docChg chg="modSld">
      <pc:chgData name="Guest User" userId="S::urn:spo:tenantanon#ad21525c-fc0f-4dbc-a403-67ce00add0e4::" providerId="AD" clId="Web-{F257D744-A494-F620-666F-5A0ED50A40D8}" dt="2026-07-10T06:38:27.355" v="63"/>
      <pc:docMkLst>
        <pc:docMk/>
      </pc:docMkLst>
      <pc:sldChg chg="modSp">
        <pc:chgData name="Guest User" userId="S::urn:spo:tenantanon#ad21525c-fc0f-4dbc-a403-67ce00add0e4::" providerId="AD" clId="Web-{F257D744-A494-F620-666F-5A0ED50A40D8}" dt="2026-07-10T06:32:33.500" v="3" actId="20577"/>
        <pc:sldMkLst>
          <pc:docMk/>
          <pc:sldMk cId="180784028" sldId="315"/>
        </pc:sldMkLst>
        <pc:spChg chg="mod">
          <ac:chgData name="Guest User" userId="S::urn:spo:tenantanon#ad21525c-fc0f-4dbc-a403-67ce00add0e4::" providerId="AD" clId="Web-{F257D744-A494-F620-666F-5A0ED50A40D8}" dt="2026-07-10T06:32:33.500" v="3" actId="20577"/>
          <ac:spMkLst>
            <pc:docMk/>
            <pc:sldMk cId="180784028" sldId="315"/>
            <ac:spMk id="3" creationId="{00000000-0000-0000-0000-000000000000}"/>
          </ac:spMkLst>
        </pc:spChg>
      </pc:sldChg>
      <pc:sldChg chg="modSp">
        <pc:chgData name="Guest User" userId="S::urn:spo:tenantanon#ad21525c-fc0f-4dbc-a403-67ce00add0e4::" providerId="AD" clId="Web-{F257D744-A494-F620-666F-5A0ED50A40D8}" dt="2026-07-10T06:36:48.165" v="39" actId="20577"/>
        <pc:sldMkLst>
          <pc:docMk/>
          <pc:sldMk cId="1128181080" sldId="320"/>
        </pc:sldMkLst>
        <pc:spChg chg="mod">
          <ac:chgData name="Guest User" userId="S::urn:spo:tenantanon#ad21525c-fc0f-4dbc-a403-67ce00add0e4::" providerId="AD" clId="Web-{F257D744-A494-F620-666F-5A0ED50A40D8}" dt="2026-07-10T06:36:48.165" v="39" actId="20577"/>
          <ac:spMkLst>
            <pc:docMk/>
            <pc:sldMk cId="1128181080" sldId="320"/>
            <ac:spMk id="27" creationId="{749E862D-DEC1-4F85-9CD2-0CF387D69237}"/>
          </ac:spMkLst>
        </pc:spChg>
      </pc:sldChg>
      <pc:sldChg chg="modSp">
        <pc:chgData name="Guest User" userId="S::urn:spo:tenantanon#ad21525c-fc0f-4dbc-a403-67ce00add0e4::" providerId="AD" clId="Web-{F257D744-A494-F620-666F-5A0ED50A40D8}" dt="2026-07-10T06:37:55.323" v="54"/>
        <pc:sldMkLst>
          <pc:docMk/>
          <pc:sldMk cId="3195766679" sldId="367"/>
        </pc:sldMkLst>
        <pc:graphicFrameChg chg="mod modGraphic">
          <ac:chgData name="Guest User" userId="S::urn:spo:tenantanon#ad21525c-fc0f-4dbc-a403-67ce00add0e4::" providerId="AD" clId="Web-{F257D744-A494-F620-666F-5A0ED50A40D8}" dt="2026-07-10T06:37:55.323" v="54"/>
          <ac:graphicFrameMkLst>
            <pc:docMk/>
            <pc:sldMk cId="3195766679" sldId="367"/>
            <ac:graphicFrameMk id="2" creationId="{00000000-0000-0000-0000-000000000000}"/>
          </ac:graphicFrameMkLst>
        </pc:graphicFrameChg>
      </pc:sldChg>
      <pc:sldChg chg="modSp">
        <pc:chgData name="Guest User" userId="S::urn:spo:tenantanon#ad21525c-fc0f-4dbc-a403-67ce00add0e4::" providerId="AD" clId="Web-{F257D744-A494-F620-666F-5A0ED50A40D8}" dt="2026-07-10T06:38:05.745" v="55"/>
        <pc:sldMkLst>
          <pc:docMk/>
          <pc:sldMk cId="3665573482" sldId="368"/>
        </pc:sldMkLst>
        <pc:graphicFrameChg chg="modGraphic">
          <ac:chgData name="Guest User" userId="S::urn:spo:tenantanon#ad21525c-fc0f-4dbc-a403-67ce00add0e4::" providerId="AD" clId="Web-{F257D744-A494-F620-666F-5A0ED50A40D8}" dt="2026-07-10T06:38:05.745" v="55"/>
          <ac:graphicFrameMkLst>
            <pc:docMk/>
            <pc:sldMk cId="3665573482" sldId="368"/>
            <ac:graphicFrameMk id="13" creationId="{2EB5D160-1210-4B69-A9B9-519CA3A1735D}"/>
          </ac:graphicFrameMkLst>
        </pc:graphicFrameChg>
      </pc:sldChg>
      <pc:sldChg chg="modSp">
        <pc:chgData name="Guest User" userId="S::urn:spo:tenantanon#ad21525c-fc0f-4dbc-a403-67ce00add0e4::" providerId="AD" clId="Web-{F257D744-A494-F620-666F-5A0ED50A40D8}" dt="2026-07-10T06:34:02.925" v="18"/>
        <pc:sldMkLst>
          <pc:docMk/>
          <pc:sldMk cId="4012575120" sldId="375"/>
        </pc:sldMkLst>
        <pc:spChg chg="mod">
          <ac:chgData name="Guest User" userId="S::urn:spo:tenantanon#ad21525c-fc0f-4dbc-a403-67ce00add0e4::" providerId="AD" clId="Web-{F257D744-A494-F620-666F-5A0ED50A40D8}" dt="2026-07-10T06:34:02.925" v="18"/>
          <ac:spMkLst>
            <pc:docMk/>
            <pc:sldMk cId="4012575120" sldId="375"/>
            <ac:spMk id="4" creationId="{101CD0D1-9824-498E-B5F3-FFEC3BF33047}"/>
          </ac:spMkLst>
        </pc:spChg>
        <pc:graphicFrameChg chg="mod modGraphic">
          <ac:chgData name="Guest User" userId="S::urn:spo:tenantanon#ad21525c-fc0f-4dbc-a403-67ce00add0e4::" providerId="AD" clId="Web-{F257D744-A494-F620-666F-5A0ED50A40D8}" dt="2026-07-10T06:33:44.909" v="15"/>
          <ac:graphicFrameMkLst>
            <pc:docMk/>
            <pc:sldMk cId="4012575120" sldId="375"/>
            <ac:graphicFrameMk id="2" creationId="{04C6797C-BB8B-4DF1-B972-0F33FE85029F}"/>
          </ac:graphicFrameMkLst>
        </pc:graphicFrameChg>
        <pc:graphicFrameChg chg="modGraphic">
          <ac:chgData name="Guest User" userId="S::urn:spo:tenantanon#ad21525c-fc0f-4dbc-a403-67ce00add0e4::" providerId="AD" clId="Web-{F257D744-A494-F620-666F-5A0ED50A40D8}" dt="2026-07-10T06:33:26.517" v="4"/>
          <ac:graphicFrameMkLst>
            <pc:docMk/>
            <pc:sldMk cId="4012575120" sldId="375"/>
            <ac:graphicFrameMk id="15" creationId="{F4F781E0-AA33-4E23-98D6-6A317D4288EA}"/>
          </ac:graphicFrameMkLst>
        </pc:graphicFrameChg>
      </pc:sldChg>
      <pc:sldChg chg="modSp">
        <pc:chgData name="Guest User" userId="S::urn:spo:tenantanon#ad21525c-fc0f-4dbc-a403-67ce00add0e4::" providerId="AD" clId="Web-{F257D744-A494-F620-666F-5A0ED50A40D8}" dt="2026-07-10T06:32:11.780" v="1" actId="14100"/>
        <pc:sldMkLst>
          <pc:docMk/>
          <pc:sldMk cId="2235727759" sldId="378"/>
        </pc:sldMkLst>
        <pc:spChg chg="mod">
          <ac:chgData name="Guest User" userId="S::urn:spo:tenantanon#ad21525c-fc0f-4dbc-a403-67ce00add0e4::" providerId="AD" clId="Web-{F257D744-A494-F620-666F-5A0ED50A40D8}" dt="2026-07-10T06:32:11.780" v="1" actId="14100"/>
          <ac:spMkLst>
            <pc:docMk/>
            <pc:sldMk cId="2235727759" sldId="378"/>
            <ac:spMk id="9" creationId="{00000000-0000-0000-0000-000000000000}"/>
          </ac:spMkLst>
        </pc:spChg>
      </pc:sldChg>
      <pc:sldChg chg="modSp">
        <pc:chgData name="Guest User" userId="S::urn:spo:tenantanon#ad21525c-fc0f-4dbc-a403-67ce00add0e4::" providerId="AD" clId="Web-{F257D744-A494-F620-666F-5A0ED50A40D8}" dt="2026-07-10T06:35:02.365" v="23"/>
        <pc:sldMkLst>
          <pc:docMk/>
          <pc:sldMk cId="521167810" sldId="379"/>
        </pc:sldMkLst>
        <pc:graphicFrameChg chg="modGraphic">
          <ac:chgData name="Guest User" userId="S::urn:spo:tenantanon#ad21525c-fc0f-4dbc-a403-67ce00add0e4::" providerId="AD" clId="Web-{F257D744-A494-F620-666F-5A0ED50A40D8}" dt="2026-07-10T06:35:02.365" v="23"/>
          <ac:graphicFrameMkLst>
            <pc:docMk/>
            <pc:sldMk cId="521167810" sldId="379"/>
            <ac:graphicFrameMk id="3" creationId="{49821383-964F-4436-B7A4-30759B44618B}"/>
          </ac:graphicFrameMkLst>
        </pc:graphicFrameChg>
      </pc:sldChg>
      <pc:sldChg chg="modSp">
        <pc:chgData name="Guest User" userId="S::urn:spo:tenantanon#ad21525c-fc0f-4dbc-a403-67ce00add0e4::" providerId="AD" clId="Web-{F257D744-A494-F620-666F-5A0ED50A40D8}" dt="2026-07-10T06:37:06.384" v="43" actId="20577"/>
        <pc:sldMkLst>
          <pc:docMk/>
          <pc:sldMk cId="230875042" sldId="381"/>
        </pc:sldMkLst>
        <pc:spChg chg="mod">
          <ac:chgData name="Guest User" userId="S::urn:spo:tenantanon#ad21525c-fc0f-4dbc-a403-67ce00add0e4::" providerId="AD" clId="Web-{F257D744-A494-F620-666F-5A0ED50A40D8}" dt="2026-07-10T06:37:06.384" v="43" actId="20577"/>
          <ac:spMkLst>
            <pc:docMk/>
            <pc:sldMk cId="230875042" sldId="381"/>
            <ac:spMk id="20" creationId="{DE9B15EE-AFAD-4DF1-A8C3-12C7571CB0E0}"/>
          </ac:spMkLst>
        </pc:spChg>
      </pc:sldChg>
      <pc:sldChg chg="modSp">
        <pc:chgData name="Guest User" userId="S::urn:spo:tenantanon#ad21525c-fc0f-4dbc-a403-67ce00add0e4::" providerId="AD" clId="Web-{F257D744-A494-F620-666F-5A0ED50A40D8}" dt="2026-07-10T06:37:25.838" v="46" actId="20577"/>
        <pc:sldMkLst>
          <pc:docMk/>
          <pc:sldMk cId="1977375516" sldId="382"/>
        </pc:sldMkLst>
        <pc:spChg chg="mod">
          <ac:chgData name="Guest User" userId="S::urn:spo:tenantanon#ad21525c-fc0f-4dbc-a403-67ce00add0e4::" providerId="AD" clId="Web-{F257D744-A494-F620-666F-5A0ED50A40D8}" dt="2026-07-10T06:37:25.838" v="46" actId="20577"/>
          <ac:spMkLst>
            <pc:docMk/>
            <pc:sldMk cId="1977375516" sldId="382"/>
            <ac:spMk id="20" creationId="{119B865E-02E5-44FB-9A2B-0A47176A113B}"/>
          </ac:spMkLst>
        </pc:spChg>
      </pc:sldChg>
      <pc:sldChg chg="modSp">
        <pc:chgData name="Guest User" userId="S::urn:spo:tenantanon#ad21525c-fc0f-4dbc-a403-67ce00add0e4::" providerId="AD" clId="Web-{F257D744-A494-F620-666F-5A0ED50A40D8}" dt="2026-07-10T06:38:14.418" v="56"/>
        <pc:sldMkLst>
          <pc:docMk/>
          <pc:sldMk cId="1938387385" sldId="389"/>
        </pc:sldMkLst>
        <pc:graphicFrameChg chg="modGraphic">
          <ac:chgData name="Guest User" userId="S::urn:spo:tenantanon#ad21525c-fc0f-4dbc-a403-67ce00add0e4::" providerId="AD" clId="Web-{F257D744-A494-F620-666F-5A0ED50A40D8}" dt="2026-07-10T06:38:14.418" v="56"/>
          <ac:graphicFrameMkLst>
            <pc:docMk/>
            <pc:sldMk cId="1938387385" sldId="389"/>
            <ac:graphicFrameMk id="5" creationId="{35BF8589-A75C-4479-A5C2-8DD7EB7B4773}"/>
          </ac:graphicFrameMkLst>
        </pc:graphicFrameChg>
      </pc:sldChg>
      <pc:sldChg chg="modSp">
        <pc:chgData name="Guest User" userId="S::urn:spo:tenantanon#ad21525c-fc0f-4dbc-a403-67ce00add0e4::" providerId="AD" clId="Web-{F257D744-A494-F620-666F-5A0ED50A40D8}" dt="2026-07-10T06:38:21.449" v="62"/>
        <pc:sldMkLst>
          <pc:docMk/>
          <pc:sldMk cId="3554659483" sldId="390"/>
        </pc:sldMkLst>
        <pc:graphicFrameChg chg="mod modGraphic">
          <ac:chgData name="Guest User" userId="S::urn:spo:tenantanon#ad21525c-fc0f-4dbc-a403-67ce00add0e4::" providerId="AD" clId="Web-{F257D744-A494-F620-666F-5A0ED50A40D8}" dt="2026-07-10T06:38:21.449" v="62"/>
          <ac:graphicFrameMkLst>
            <pc:docMk/>
            <pc:sldMk cId="3554659483" sldId="390"/>
            <ac:graphicFrameMk id="2" creationId="{00000000-0000-0000-0000-000000000000}"/>
          </ac:graphicFrameMkLst>
        </pc:graphicFrameChg>
      </pc:sldChg>
      <pc:sldChg chg="modSp">
        <pc:chgData name="Guest User" userId="S::urn:spo:tenantanon#ad21525c-fc0f-4dbc-a403-67ce00add0e4::" providerId="AD" clId="Web-{F257D744-A494-F620-666F-5A0ED50A40D8}" dt="2026-07-10T06:38:27.355" v="63"/>
        <pc:sldMkLst>
          <pc:docMk/>
          <pc:sldMk cId="787274371" sldId="391"/>
        </pc:sldMkLst>
        <pc:graphicFrameChg chg="modGraphic">
          <ac:chgData name="Guest User" userId="S::urn:spo:tenantanon#ad21525c-fc0f-4dbc-a403-67ce00add0e4::" providerId="AD" clId="Web-{F257D744-A494-F620-666F-5A0ED50A40D8}" dt="2026-07-10T06:38:27.355" v="63"/>
          <ac:graphicFrameMkLst>
            <pc:docMk/>
            <pc:sldMk cId="787274371" sldId="391"/>
            <ac:graphicFrameMk id="9" creationId="{0F994002-73D6-46DB-80A8-5D643C8516A0}"/>
          </ac:graphicFrameMkLst>
        </pc:graphicFrameChg>
      </pc:sldChg>
    </pc:docChg>
  </pc:docChgLst>
  <pc:docChgLst>
    <pc:chgData name="Guest User" userId="S::urn:spo:tenantanon#ad21525c-fc0f-4dbc-a403-67ce00add0e4::" providerId="AD" clId="Web-{50F0CE3A-1CBC-D77B-18F6-3FD3CCEE622E}"/>
    <pc:docChg chg="modSld">
      <pc:chgData name="Guest User" userId="S::urn:spo:tenantanon#ad21525c-fc0f-4dbc-a403-67ce00add0e4::" providerId="AD" clId="Web-{50F0CE3A-1CBC-D77B-18F6-3FD3CCEE622E}" dt="2026-07-11T10:13:36.242" v="7" actId="1076"/>
      <pc:docMkLst>
        <pc:docMk/>
      </pc:docMkLst>
      <pc:sldChg chg="modSp">
        <pc:chgData name="Guest User" userId="S::urn:spo:tenantanon#ad21525c-fc0f-4dbc-a403-67ce00add0e4::" providerId="AD" clId="Web-{50F0CE3A-1CBC-D77B-18F6-3FD3CCEE622E}" dt="2026-07-11T10:13:36.242" v="7" actId="1076"/>
        <pc:sldMkLst>
          <pc:docMk/>
          <pc:sldMk cId="3195313148" sldId="371"/>
        </pc:sldMkLst>
        <pc:spChg chg="mod">
          <ac:chgData name="Guest User" userId="S::urn:spo:tenantanon#ad21525c-fc0f-4dbc-a403-67ce00add0e4::" providerId="AD" clId="Web-{50F0CE3A-1CBC-D77B-18F6-3FD3CCEE622E}" dt="2026-07-11T10:13:36.132" v="4" actId="1076"/>
          <ac:spMkLst>
            <pc:docMk/>
            <pc:sldMk cId="3195313148" sldId="371"/>
            <ac:spMk id="77" creationId="{00000000-0000-0000-0000-000000000000}"/>
          </ac:spMkLst>
        </pc:spChg>
        <pc:spChg chg="mod">
          <ac:chgData name="Guest User" userId="S::urn:spo:tenantanon#ad21525c-fc0f-4dbc-a403-67ce00add0e4::" providerId="AD" clId="Web-{50F0CE3A-1CBC-D77B-18F6-3FD3CCEE622E}" dt="2026-07-11T10:13:36.195" v="6" actId="1076"/>
          <ac:spMkLst>
            <pc:docMk/>
            <pc:sldMk cId="3195313148" sldId="371"/>
            <ac:spMk id="84" creationId="{00000000-0000-0000-0000-000000000000}"/>
          </ac:spMkLst>
        </pc:spChg>
        <pc:spChg chg="mod">
          <ac:chgData name="Guest User" userId="S::urn:spo:tenantanon#ad21525c-fc0f-4dbc-a403-67ce00add0e4::" providerId="AD" clId="Web-{50F0CE3A-1CBC-D77B-18F6-3FD3CCEE622E}" dt="2026-07-11T10:13:36.242" v="7" actId="1076"/>
          <ac:spMkLst>
            <pc:docMk/>
            <pc:sldMk cId="3195313148" sldId="371"/>
            <ac:spMk id="90" creationId="{07915662-EC87-4273-991B-D9695CB0B8D9}"/>
          </ac:spMkLst>
        </pc:spChg>
        <pc:cxnChg chg="mod">
          <ac:chgData name="Guest User" userId="S::urn:spo:tenantanon#ad21525c-fc0f-4dbc-a403-67ce00add0e4::" providerId="AD" clId="Web-{50F0CE3A-1CBC-D77B-18F6-3FD3CCEE622E}" dt="2026-07-11T10:13:36.164" v="5" actId="1076"/>
          <ac:cxnSpMkLst>
            <pc:docMk/>
            <pc:sldMk cId="3195313148" sldId="371"/>
            <ac:cxnSpMk id="83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5D5A-343A-4C1A-BC9D-610EC8B80F49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7082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SW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개발</a:t>
            </a:r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/HW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제작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35" y="3933056"/>
            <a:ext cx="7736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프로젝트명 : CrackBot AI — 건축물 균열 탐지 및 안전점검 자동화 시스템</a:t>
            </a:r>
            <a:endParaRPr lang="ko-KR" altLang="en-US" sz="2400" b="1" spc="-150" dirty="0">
              <a:solidFill>
                <a:srgbClr val="77787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t>2026. 08. 00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946565"/>
              </p:ext>
            </p:extLst>
          </p:nvPr>
        </p:nvGraphicFramePr>
        <p:xfrm>
          <a:off x="323528" y="1196751"/>
          <a:ext cx="8496945" cy="51125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9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4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단계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산출물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일반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응용 소프트웨어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응용 하드웨어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∙모바일 </a:t>
                      </a:r>
                      <a:r>
                        <a:rPr lang="en-US" sz="900" b="1" kern="0" spc="0" dirty="0">
                          <a:effectLst/>
                        </a:rPr>
                        <a:t>APP</a:t>
                      </a:r>
                    </a:p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 dirty="0">
                          <a:effectLst/>
                        </a:rPr>
                        <a:t>∙Web </a:t>
                      </a:r>
                      <a:r>
                        <a:rPr lang="ko-KR" altLang="en-US" sz="900" b="1" kern="0" spc="0" dirty="0">
                          <a:effectLst/>
                        </a:rPr>
                        <a:t>등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∙</a:t>
                      </a:r>
                      <a:r>
                        <a:rPr lang="ko-KR" altLang="en-US" sz="900" b="1" kern="0" spc="0" dirty="0" err="1">
                          <a:effectLst/>
                        </a:rPr>
                        <a:t>빅데이터</a:t>
                      </a:r>
                      <a:endParaRPr lang="ko-KR" altLang="en-US" sz="9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∙인공지능</a:t>
                      </a:r>
                    </a:p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∙블록체인 등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 dirty="0">
                          <a:effectLst/>
                        </a:rPr>
                        <a:t>∙</a:t>
                      </a:r>
                      <a:r>
                        <a:rPr lang="en-US" sz="900" b="1" kern="0" spc="0" dirty="0" err="1">
                          <a:effectLst/>
                        </a:rPr>
                        <a:t>IoT</a:t>
                      </a:r>
                      <a:endParaRPr lang="en-US" sz="9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 dirty="0">
                          <a:effectLst/>
                        </a:rPr>
                        <a:t>∙</a:t>
                      </a:r>
                      <a:r>
                        <a:rPr lang="ko-KR" altLang="en-US" sz="900" b="1" kern="0" spc="0" dirty="0">
                          <a:effectLst/>
                        </a:rPr>
                        <a:t>로봇</a:t>
                      </a:r>
                    </a:p>
                    <a:p>
                      <a:pPr marL="0" marR="0" indent="-17145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∙</a:t>
                      </a:r>
                      <a:r>
                        <a:rPr lang="ko-KR" altLang="en-US" sz="9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900" b="1" kern="0" spc="0" dirty="0">
                          <a:effectLst/>
                        </a:rPr>
                        <a:t> 등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34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환경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시장</a:t>
                      </a:r>
                      <a:r>
                        <a:rPr lang="en-US" altLang="ko-KR" sz="900" kern="0" spc="0" dirty="0">
                          <a:effectLst/>
                        </a:rPr>
                        <a:t>/</a:t>
                      </a:r>
                      <a:r>
                        <a:rPr lang="ko-KR" altLang="en-US" sz="900" kern="0" spc="0" dirty="0">
                          <a:effectLst/>
                        </a:rPr>
                        <a:t>기술 환경 분석서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dirty="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설문조사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인터뷰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34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요구사항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요구사항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900" kern="0" spc="0" dirty="0">
                          <a:effectLst/>
                        </a:rPr>
                        <a:t>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345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아키텍처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900" kern="0" spc="0" dirty="0">
                          <a:effectLst/>
                        </a:rPr>
                        <a:t>(</a:t>
                      </a:r>
                      <a:r>
                        <a:rPr lang="ko-KR" altLang="en-US" sz="9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9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900" kern="0" spc="0" dirty="0">
                          <a:effectLst/>
                        </a:rPr>
                        <a:t>(</a:t>
                      </a:r>
                      <a:r>
                        <a:rPr lang="ko-KR" altLang="en-US" sz="9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9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effectLst/>
                        </a:rPr>
                        <a:t>UI/UX </a:t>
                      </a:r>
                      <a:r>
                        <a:rPr lang="ko-KR" altLang="en-US" sz="900" kern="0" spc="0" dirty="0">
                          <a:effectLst/>
                        </a:rPr>
                        <a:t>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하드웨어</a:t>
                      </a:r>
                      <a:r>
                        <a:rPr lang="en-US" altLang="ko-KR" sz="900" kern="0" spc="0" dirty="0">
                          <a:effectLst/>
                        </a:rPr>
                        <a:t>/</a:t>
                      </a:r>
                      <a:r>
                        <a:rPr lang="ko-KR" altLang="en-US" sz="900" kern="0" spc="0" dirty="0">
                          <a:effectLst/>
                        </a:rPr>
                        <a:t>센서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345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기능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메뉴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화면 설계서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900" kern="0" spc="0" dirty="0">
                          <a:effectLst/>
                        </a:rPr>
                        <a:t> 관계도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기능 처리도</a:t>
                      </a:r>
                      <a:r>
                        <a:rPr lang="en-US" altLang="ko-KR" sz="900" kern="0" spc="0" dirty="0">
                          <a:effectLst/>
                        </a:rPr>
                        <a:t>(</a:t>
                      </a:r>
                      <a:r>
                        <a:rPr lang="ko-KR" altLang="en-US" sz="900" kern="0" spc="0" dirty="0">
                          <a:effectLst/>
                        </a:rPr>
                        <a:t>기능 흐름도</a:t>
                      </a:r>
                      <a:r>
                        <a:rPr lang="en-US" altLang="ko-KR" sz="9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900" kern="0" spc="0" dirty="0">
                          <a:effectLst/>
                        </a:rPr>
                        <a:t>/</a:t>
                      </a:r>
                      <a:r>
                        <a:rPr lang="ko-KR" altLang="en-US" sz="900" kern="0" spc="0" dirty="0">
                          <a:effectLst/>
                        </a:rPr>
                        <a:t>설명서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데이터 수집처리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하드웨어 설계도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34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개발 </a:t>
                      </a:r>
                      <a:r>
                        <a:rPr lang="en-US" altLang="ko-KR" sz="900" b="1" kern="0" spc="0" dirty="0">
                          <a:effectLst/>
                        </a:rPr>
                        <a:t>/ </a:t>
                      </a:r>
                      <a:r>
                        <a:rPr lang="ko-KR" altLang="en-US" sz="900" b="1" kern="0" spc="0" dirty="0">
                          <a:effectLst/>
                        </a:rPr>
                        <a:t>구현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프로그램 목록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테이블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effectLst/>
                        </a:rPr>
                        <a:t>핵심 소스코드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dirty="0"/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624" y="6453336"/>
            <a:ext cx="3456384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000" dirty="0">
                <a:ea typeface="맑은 고딕"/>
              </a:rPr>
              <a:t>※ ○ </a:t>
            </a:r>
            <a:r>
              <a:rPr lang="ko-KR" altLang="en-US" sz="1000" dirty="0">
                <a:ea typeface="맑은 고딕"/>
              </a:rPr>
              <a:t>필수</a:t>
            </a:r>
            <a:r>
              <a:rPr lang="en-US" altLang="ko-KR" sz="1000" dirty="0">
                <a:ea typeface="맑은 고딕"/>
              </a:rPr>
              <a:t>, △ </a:t>
            </a:r>
            <a:r>
              <a:rPr lang="ko-KR" altLang="en-US" sz="1000" dirty="0">
                <a:ea typeface="맑은 고딕"/>
              </a:rPr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688C9C-E99B-9A7D-A7C8-08A531376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시장</a:t>
            </a:r>
            <a:r>
              <a:rPr lang="en-US" altLang="ko-KR" sz="1700" b="1" noProof="0" dirty="0">
                <a:solidFill>
                  <a:schemeClr val="bg1"/>
                </a:solidFill>
                <a:latin typeface="+mn-ea"/>
                <a:cs typeface="+mj-cs"/>
              </a:rPr>
              <a:t>/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기술 동향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건축물 안전점검 시장 현황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68DCFEA2-FD25-3801-86D6-6DE6784769AA}"/>
              </a:ext>
            </a:extLst>
          </p:cNvPr>
          <p:cNvSpPr/>
          <p:nvPr/>
        </p:nvSpPr>
        <p:spPr>
          <a:xfrm>
            <a:off x="424356" y="4628121"/>
            <a:ext cx="8252100" cy="196923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국내 건축물 안전점검 시장은 </a:t>
            </a:r>
            <a:r>
              <a:rPr lang="en-US" altLang="ko-KR" sz="1200" dirty="0">
                <a:solidFill>
                  <a:schemeClr val="tx1"/>
                </a:solidFill>
              </a:rPr>
              <a:t>2024</a:t>
            </a:r>
            <a:r>
              <a:rPr lang="ko-KR" altLang="en-US" sz="1200" dirty="0">
                <a:solidFill>
                  <a:schemeClr val="tx1"/>
                </a:solidFill>
              </a:rPr>
              <a:t>년 기준 </a:t>
            </a:r>
            <a:r>
              <a:rPr lang="en-US" altLang="ko-KR" sz="1200" dirty="0">
                <a:solidFill>
                  <a:schemeClr val="tx1"/>
                </a:solidFill>
              </a:rPr>
              <a:t>30</a:t>
            </a:r>
            <a:r>
              <a:rPr lang="ko-KR" altLang="en-US" sz="1200" dirty="0">
                <a:solidFill>
                  <a:schemeClr val="tx1"/>
                </a:solidFill>
              </a:rPr>
              <a:t>년 이상 노후 건축물이 약 </a:t>
            </a:r>
            <a:r>
              <a:rPr lang="en-US" altLang="ko-KR" sz="1200" dirty="0">
                <a:solidFill>
                  <a:schemeClr val="tx1"/>
                </a:solidFill>
              </a:rPr>
              <a:t>45%</a:t>
            </a:r>
            <a:r>
              <a:rPr lang="ko-KR" altLang="en-US" sz="1200" dirty="0">
                <a:solidFill>
                  <a:schemeClr val="tx1"/>
                </a:solidFill>
              </a:rPr>
              <a:t>에 달하고 연간 점검 대상이 </a:t>
            </a:r>
            <a:r>
              <a:rPr lang="en-US" altLang="ko-KR" sz="1200" dirty="0">
                <a:solidFill>
                  <a:schemeClr val="tx1"/>
                </a:solidFill>
              </a:rPr>
              <a:t>73</a:t>
            </a:r>
            <a:r>
              <a:rPr lang="ko-KR" altLang="en-US" sz="1200" dirty="0">
                <a:solidFill>
                  <a:schemeClr val="tx1"/>
                </a:solidFill>
              </a:rPr>
              <a:t>만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 동에 육박함에 따라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연평균 </a:t>
            </a:r>
            <a:r>
              <a:rPr lang="en-US" altLang="ko-KR" sz="1200" dirty="0">
                <a:solidFill>
                  <a:schemeClr val="tx1"/>
                </a:solidFill>
              </a:rPr>
              <a:t>8%</a:t>
            </a:r>
            <a:r>
              <a:rPr lang="ko-KR" altLang="en-US" sz="1200" dirty="0">
                <a:solidFill>
                  <a:schemeClr val="tx1"/>
                </a:solidFill>
              </a:rPr>
              <a:t>의 성장률을 기록하며 </a:t>
            </a:r>
            <a:r>
              <a:rPr lang="en-US" altLang="ko-KR" sz="1200" dirty="0">
                <a:solidFill>
                  <a:schemeClr val="tx1"/>
                </a:solidFill>
              </a:rPr>
              <a:t>5,000</a:t>
            </a:r>
            <a:r>
              <a:rPr lang="ko-KR" altLang="en-US" sz="1200" dirty="0">
                <a:solidFill>
                  <a:schemeClr val="tx1"/>
                </a:solidFill>
              </a:rPr>
              <a:t>억 원 규모 이상의 시장을 형성할 것으로 전망된다</a:t>
            </a:r>
            <a:r>
              <a:rPr lang="en-US" altLang="ko-KR" sz="1200" dirty="0">
                <a:solidFill>
                  <a:schemeClr val="tx1"/>
                </a:solidFill>
              </a:rPr>
              <a:t>. </a:t>
            </a:r>
          </a:p>
          <a:p>
            <a:pPr marL="171450" indent="-171450">
              <a:buFontTx/>
              <a:buChar char="-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특히 현장 점검 대비 </a:t>
            </a:r>
            <a:r>
              <a:rPr lang="en-US" altLang="ko-KR" sz="1200" dirty="0">
                <a:solidFill>
                  <a:schemeClr val="tx1"/>
                </a:solidFill>
              </a:rPr>
              <a:t>2~3</a:t>
            </a:r>
            <a:r>
              <a:rPr lang="ko-KR" altLang="en-US" sz="1200" dirty="0">
                <a:solidFill>
                  <a:schemeClr val="tx1"/>
                </a:solidFill>
              </a:rPr>
              <a:t>배의 시간이 소요되는 기존 육안</a:t>
            </a:r>
            <a:r>
              <a:rPr lang="en-US" altLang="ko-KR" sz="1200" dirty="0">
                <a:solidFill>
                  <a:schemeClr val="tx1"/>
                </a:solidFill>
              </a:rPr>
              <a:t>·</a:t>
            </a:r>
            <a:r>
              <a:rPr lang="ko-KR" altLang="en-US" sz="1200" dirty="0">
                <a:solidFill>
                  <a:schemeClr val="tx1"/>
                </a:solidFill>
              </a:rPr>
              <a:t>수작업 방식의 한계를 극복하기 위해 스마트시티 및    </a:t>
            </a:r>
            <a:r>
              <a:rPr lang="ko-KR" altLang="en-US" sz="1200" dirty="0" err="1">
                <a:solidFill>
                  <a:schemeClr val="tx1"/>
                </a:solidFill>
              </a:rPr>
              <a:t>건설테크와</a:t>
            </a:r>
            <a:r>
              <a:rPr lang="ko-KR" altLang="en-US" sz="1200" dirty="0">
                <a:solidFill>
                  <a:schemeClr val="tx1"/>
                </a:solidFill>
              </a:rPr>
              <a:t> 연계된 </a:t>
            </a:r>
            <a:r>
              <a:rPr lang="en-US" altLang="ko-KR" sz="1200" dirty="0">
                <a:solidFill>
                  <a:schemeClr val="tx1"/>
                </a:solidFill>
              </a:rPr>
              <a:t>AI </a:t>
            </a:r>
            <a:r>
              <a:rPr lang="ko-KR" altLang="en-US" sz="1200" dirty="0">
                <a:solidFill>
                  <a:schemeClr val="tx1"/>
                </a:solidFill>
              </a:rPr>
              <a:t>자동화 수요가 급증하고 있다</a:t>
            </a:r>
            <a:r>
              <a:rPr lang="en-US" altLang="ko-KR" sz="1200" dirty="0">
                <a:solidFill>
                  <a:schemeClr val="tx1"/>
                </a:solidFill>
              </a:rPr>
              <a:t>. </a:t>
            </a:r>
          </a:p>
          <a:p>
            <a:pPr marL="171450" indent="-171450">
              <a:buFontTx/>
              <a:buChar char="-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최근 </a:t>
            </a:r>
            <a:r>
              <a:rPr lang="en-US" altLang="ko-KR" sz="1200" dirty="0"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solidFill>
                  <a:schemeClr val="tx1"/>
                </a:solidFill>
              </a:rPr>
              <a:t>년간</a:t>
            </a:r>
            <a:r>
              <a:rPr lang="en-US" altLang="ko-KR" sz="1200" dirty="0">
                <a:solidFill>
                  <a:schemeClr val="tx1"/>
                </a:solidFill>
              </a:rPr>
              <a:t>(2020~2024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  <a:r>
              <a:rPr lang="en-US" altLang="ko-KR" sz="1200" dirty="0">
                <a:solidFill>
                  <a:schemeClr val="tx1"/>
                </a:solidFill>
              </a:rPr>
              <a:t>) AI </a:t>
            </a:r>
            <a:r>
              <a:rPr lang="ko-KR" altLang="en-US" sz="1200" dirty="0">
                <a:solidFill>
                  <a:schemeClr val="tx1"/>
                </a:solidFill>
              </a:rPr>
              <a:t>균열 탐지 특허 출원이 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배 이상 증가하고 </a:t>
            </a:r>
            <a:r>
              <a:rPr lang="en-US" altLang="ko-KR" sz="1200" dirty="0">
                <a:solidFill>
                  <a:schemeClr val="tx1"/>
                </a:solidFill>
              </a:rPr>
              <a:t>YOLO </a:t>
            </a:r>
            <a:r>
              <a:rPr lang="ko-KR" altLang="en-US" sz="1200" dirty="0">
                <a:solidFill>
                  <a:schemeClr val="tx1"/>
                </a:solidFill>
              </a:rPr>
              <a:t>계열 객체 탐지 모델 적용이 급증하는 가운데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국토교통부의 </a:t>
            </a:r>
            <a:r>
              <a:rPr lang="en-US" altLang="ko-KR" sz="1200" dirty="0">
                <a:solidFill>
                  <a:schemeClr val="tx1"/>
                </a:solidFill>
              </a:rPr>
              <a:t>'</a:t>
            </a:r>
            <a:r>
              <a:rPr lang="ko-KR" altLang="en-US" sz="1200" dirty="0">
                <a:solidFill>
                  <a:schemeClr val="tx1"/>
                </a:solidFill>
              </a:rPr>
              <a:t>스마트 건설 기술 로드맵</a:t>
            </a:r>
            <a:r>
              <a:rPr lang="en-US" altLang="ko-KR" sz="1200" dirty="0">
                <a:solidFill>
                  <a:schemeClr val="tx1"/>
                </a:solidFill>
              </a:rPr>
              <a:t>' </a:t>
            </a:r>
            <a:r>
              <a:rPr lang="ko-KR" altLang="en-US" sz="1200" dirty="0">
                <a:solidFill>
                  <a:schemeClr val="tx1"/>
                </a:solidFill>
              </a:rPr>
              <a:t>핵심 과제 지정에 힘입어 </a:t>
            </a:r>
            <a:r>
              <a:rPr lang="en-US" altLang="ko-KR" sz="1200" dirty="0">
                <a:solidFill>
                  <a:schemeClr val="tx1"/>
                </a:solidFill>
              </a:rPr>
              <a:t>AI </a:t>
            </a:r>
            <a:r>
              <a:rPr lang="ko-KR" altLang="en-US" sz="1200" dirty="0">
                <a:solidFill>
                  <a:schemeClr val="tx1"/>
                </a:solidFill>
              </a:rPr>
              <a:t>안전점검 시장의 성장은 더욱 가속화될 것으로 추정된다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334B20-DDC3-CE57-4B9D-02AF7E5533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68B7B0A-37C3-4E2A-AF01-0744DD9ED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6" y="1387764"/>
            <a:ext cx="4003628" cy="29773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DDD871-F9A9-44B4-BA68-BA2B17A670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478" y="1387764"/>
            <a:ext cx="3999166" cy="29717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038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시장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기술 동향 분석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AI 건축물 점검 기술 동향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EC2219F-33AF-397A-E05B-99F2DF943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29EC3B-A68E-4843-A1ED-F809C42897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700745"/>
            <a:ext cx="4109201" cy="42478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B9D301-27FB-4529-8658-A73BE35521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272" y="1700751"/>
            <a:ext cx="4109200" cy="42477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9774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설문조사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건축물 안전점검 실무자 설문조사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11987E-FEA9-E0E4-2878-73A305AD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BE7E341-F2AF-4C42-BDDB-70B05342AF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" y="1812958"/>
            <a:ext cx="9144000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9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인터뷰 결과서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현장 점검사 인터뷰 결과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10DA88-101A-4225-F94B-263090EBF3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4C6797C-BB8B-4DF1-B972-0F33FE850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924220"/>
              </p:ext>
            </p:extLst>
          </p:nvPr>
        </p:nvGraphicFramePr>
        <p:xfrm>
          <a:off x="4730445" y="1268760"/>
          <a:ext cx="4173491" cy="5392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491">
                  <a:extLst>
                    <a:ext uri="{9D8B030D-6E8A-4147-A177-3AD203B41FA5}">
                      <a16:colId xmlns:a16="http://schemas.microsoft.com/office/drawing/2014/main" val="4105056084"/>
                    </a:ext>
                  </a:extLst>
                </a:gridCol>
              </a:tblGrid>
              <a:tr h="4096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본 과제 반영 시사점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599075"/>
                  </a:ext>
                </a:extLst>
              </a:tr>
              <a:tr h="1178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/>
                        <a:t>균열 사진 촬영 및 치수 데이터 입력 시</a:t>
                      </a:r>
                      <a:r>
                        <a:rPr lang="en-US" altLang="ko-KR" sz="1500" b="1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500" b="1" dirty="0"/>
                        <a:t>국토안전관리원 표준 양식의 </a:t>
                      </a:r>
                      <a:endParaRPr lang="en-US" altLang="ko-KR" sz="1500" b="1" dirty="0"/>
                    </a:p>
                    <a:p>
                      <a:pPr algn="ctr" latinLnBrk="1"/>
                      <a:r>
                        <a:rPr lang="ko-KR" altLang="en-US" sz="1500" b="1" dirty="0"/>
                        <a:t>한글</a:t>
                      </a:r>
                      <a:r>
                        <a:rPr lang="en-US" altLang="ko-KR" sz="1500" b="1" dirty="0"/>
                        <a:t>(DOCX)/PDF </a:t>
                      </a:r>
                      <a:r>
                        <a:rPr lang="ko-KR" altLang="en-US" sz="1500" b="1" dirty="0"/>
                        <a:t>보고서 원스톱</a:t>
                      </a:r>
                      <a:r>
                        <a:rPr lang="en-US" altLang="ko-KR" sz="1500" b="1" dirty="0"/>
                        <a:t>(One-Stop) </a:t>
                      </a:r>
                    </a:p>
                    <a:p>
                      <a:pPr algn="ctr" latinLnBrk="1"/>
                      <a:r>
                        <a:rPr lang="ko-KR" altLang="en-US" sz="1500" b="1" dirty="0"/>
                        <a:t>자동 생성 기능 구현</a:t>
                      </a:r>
                      <a:endParaRPr lang="ko-KR" altLang="en-US" sz="15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625100"/>
                  </a:ext>
                </a:extLst>
              </a:tr>
              <a:tr h="1178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AI </a:t>
                      </a:r>
                      <a:r>
                        <a:rPr lang="ko-KR" altLang="en-US" sz="1500" b="1"/>
                        <a:t>딥러닝</a:t>
                      </a:r>
                      <a:r>
                        <a:rPr lang="en-US" altLang="ko-KR" sz="1500" b="1" dirty="0"/>
                        <a:t>(YOLO) </a:t>
                      </a:r>
                      <a:r>
                        <a:rPr lang="ko-KR" altLang="en-US" sz="1500" b="1" dirty="0"/>
                        <a:t>모델과 </a:t>
                      </a:r>
                      <a:r>
                        <a:rPr lang="en-US" altLang="ko-KR" sz="1500" b="1" dirty="0"/>
                        <a:t>OpenCV </a:t>
                      </a:r>
                    </a:p>
                    <a:p>
                      <a:pPr algn="ctr" latinLnBrk="1"/>
                      <a:r>
                        <a:rPr lang="ko-KR" altLang="en-US" sz="1500" b="1" dirty="0"/>
                        <a:t>정밀 계측을 결합하여</a:t>
                      </a:r>
                      <a:r>
                        <a:rPr lang="en-US" altLang="ko-KR" sz="1500" b="1" dirty="0"/>
                        <a:t>, </a:t>
                      </a:r>
                      <a:r>
                        <a:rPr lang="ko-KR" altLang="en-US" sz="1500" b="1" dirty="0"/>
                        <a:t>인간의 주관을 </a:t>
                      </a:r>
                      <a:endParaRPr lang="en-US" altLang="ko-KR" sz="1500" b="1" dirty="0"/>
                    </a:p>
                    <a:p>
                      <a:pPr algn="ctr" latinLnBrk="1"/>
                      <a:r>
                        <a:rPr lang="ko-KR" altLang="en-US" sz="1500" b="1" dirty="0"/>
                        <a:t>배제한 객관적이고 일관된 안전등급</a:t>
                      </a:r>
                      <a:r>
                        <a:rPr lang="en-US" altLang="ko-KR" sz="1500" b="1" dirty="0"/>
                        <a:t>(A~E) </a:t>
                      </a:r>
                      <a:r>
                        <a:rPr lang="ko-KR" altLang="en-US" sz="1500" b="1" dirty="0"/>
                        <a:t>자동 산출 로직 적용</a:t>
                      </a:r>
                      <a:endParaRPr lang="ko-KR" altLang="en-US" sz="15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640969"/>
                  </a:ext>
                </a:extLst>
              </a:tr>
              <a:tr h="1178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/>
                        <a:t>별도의 전용 고가 장비 없이 스마트폰 앱</a:t>
                      </a:r>
                      <a:r>
                        <a:rPr lang="en-US" altLang="ko-KR" sz="1500" b="1" dirty="0"/>
                        <a:t>(React Native) </a:t>
                      </a:r>
                      <a:r>
                        <a:rPr lang="ko-KR" altLang="en-US" sz="1500" b="1" dirty="0"/>
                        <a:t>카메라 촬영 </a:t>
                      </a:r>
                      <a:endParaRPr lang="en-US" altLang="ko-KR" sz="1500" b="1" dirty="0"/>
                    </a:p>
                    <a:p>
                      <a:pPr algn="ctr" latinLnBrk="1"/>
                      <a:r>
                        <a:rPr lang="ko-KR" altLang="en-US" sz="1500" b="1" dirty="0"/>
                        <a:t>즉시 </a:t>
                      </a:r>
                      <a:r>
                        <a:rPr lang="ko-KR" altLang="en-US" sz="1500" b="1"/>
                        <a:t>백엔드</a:t>
                      </a:r>
                      <a:r>
                        <a:rPr lang="ko-KR" altLang="en-US" sz="1500" b="1" dirty="0"/>
                        <a:t> 서버와 연동하여 현장 </a:t>
                      </a:r>
                      <a:endParaRPr lang="en-US" altLang="ko-KR" sz="1500" b="1" dirty="0"/>
                    </a:p>
                    <a:p>
                      <a:pPr algn="ctr" latinLnBrk="1"/>
                      <a:r>
                        <a:rPr lang="ko-KR" altLang="en-US" sz="1500" b="1" dirty="0"/>
                        <a:t>실시간 </a:t>
                      </a:r>
                      <a:r>
                        <a:rPr lang="en-US" altLang="ko-KR" sz="1500" b="1" dirty="0"/>
                        <a:t>AI </a:t>
                      </a:r>
                      <a:r>
                        <a:rPr lang="ko-KR" altLang="en-US" sz="1500" b="1" dirty="0"/>
                        <a:t>분석 결과 표출</a:t>
                      </a:r>
                      <a:endParaRPr lang="ko-KR" altLang="en-US" sz="15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903254"/>
                  </a:ext>
                </a:extLst>
              </a:tr>
              <a:tr h="1447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/>
                        <a:t>실무 프로세스를 철저히 반영한 사용자 </a:t>
                      </a:r>
                      <a:endParaRPr lang="en-US" altLang="ko-KR" sz="1500" b="1" dirty="0"/>
                    </a:p>
                    <a:p>
                      <a:pPr algn="ctr" latinLnBrk="1"/>
                      <a:r>
                        <a:rPr lang="ko-KR" altLang="en-US" sz="1500" b="1" dirty="0"/>
                        <a:t>친화적 </a:t>
                      </a:r>
                      <a:r>
                        <a:rPr lang="en-US" altLang="ko-KR" sz="1500" b="1" dirty="0"/>
                        <a:t>UI/UX </a:t>
                      </a:r>
                      <a:r>
                        <a:rPr lang="ko-KR" altLang="en-US" sz="1500" b="1" dirty="0"/>
                        <a:t>화면을 설계하고</a:t>
                      </a:r>
                      <a:r>
                        <a:rPr lang="en-US" altLang="ko-KR" sz="1500" b="1" dirty="0"/>
                        <a:t>, </a:t>
                      </a:r>
                      <a:r>
                        <a:rPr lang="ko-KR" altLang="en-US" sz="1500" b="1" dirty="0"/>
                        <a:t>오픈소스 기반</a:t>
                      </a:r>
                      <a:r>
                        <a:rPr lang="en-US" altLang="ko-KR" sz="1500" b="1" dirty="0"/>
                        <a:t>(</a:t>
                      </a:r>
                      <a:r>
                        <a:rPr lang="en-US" altLang="ko-KR" sz="1500" b="1" dirty="0" err="1"/>
                        <a:t>FastAPI</a:t>
                      </a:r>
                      <a:r>
                        <a:rPr lang="en-US" altLang="ko-KR" sz="1500" b="1" dirty="0"/>
                        <a:t>, Docker </a:t>
                      </a:r>
                      <a:r>
                        <a:rPr lang="ko-KR" altLang="en-US" sz="1500" b="1" dirty="0"/>
                        <a:t>등</a:t>
                      </a:r>
                      <a:r>
                        <a:rPr lang="en-US" altLang="ko-KR" sz="1500" b="1" dirty="0"/>
                        <a:t>)</a:t>
                      </a:r>
                      <a:r>
                        <a:rPr lang="ko-KR" altLang="en-US" sz="1500" b="1" dirty="0"/>
                        <a:t>으로 </a:t>
                      </a:r>
                      <a:endParaRPr lang="en-US" altLang="ko-KR" sz="1500" b="1" dirty="0"/>
                    </a:p>
                    <a:p>
                      <a:pPr algn="ctr" latinLnBrk="1"/>
                      <a:r>
                        <a:rPr lang="ko-KR" altLang="en-US" sz="1500" b="1" dirty="0"/>
                        <a:t>구현하여 현장 </a:t>
                      </a:r>
                      <a:r>
                        <a:rPr lang="ko-KR" altLang="en-US" sz="1500" b="1"/>
                        <a:t>보급성</a:t>
                      </a:r>
                      <a:r>
                        <a:rPr lang="ko-KR" altLang="en-US" sz="1500" b="1" dirty="0"/>
                        <a:t> 및 실용성 극대화</a:t>
                      </a:r>
                      <a:endParaRPr lang="ko-KR" altLang="en-US" sz="15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62869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4F781E0-AA33-4E23-98D6-6A317D428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118770"/>
              </p:ext>
            </p:extLst>
          </p:nvPr>
        </p:nvGraphicFramePr>
        <p:xfrm>
          <a:off x="179512" y="1276243"/>
          <a:ext cx="4173491" cy="5392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491">
                  <a:extLst>
                    <a:ext uri="{9D8B030D-6E8A-4147-A177-3AD203B41FA5}">
                      <a16:colId xmlns:a16="http://schemas.microsoft.com/office/drawing/2014/main" val="3424853786"/>
                    </a:ext>
                  </a:extLst>
                </a:gridCol>
              </a:tblGrid>
              <a:tr h="464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Keep-In Mind Message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599075"/>
                  </a:ext>
                </a:extLst>
              </a:tr>
              <a:tr h="1145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현장 점검 후 수작업 데이터 입력 및 보고서 작성에 과도한 시간 소요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전체 업무의 </a:t>
                      </a:r>
                      <a:r>
                        <a:rPr lang="en-US" altLang="ko-KR" sz="1600" dirty="0"/>
                        <a:t>50% </a:t>
                      </a:r>
                      <a:r>
                        <a:rPr lang="ko-KR" altLang="en-US" sz="1600" dirty="0"/>
                        <a:t>이상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625100"/>
                  </a:ext>
                </a:extLst>
              </a:tr>
              <a:tr h="1145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점검자의 숙련도와 경력에 따라 동일한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균열도 서로 다르게 판정하는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기준의 모호성 및 오차 발생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640969"/>
                  </a:ext>
                </a:extLst>
              </a:tr>
              <a:tr h="1145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기존 디지털 카메라 촬영 방식은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사무실 복귀 후 분석이 가능하여 현장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즉시 판독 및 대응이 불가능함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903254"/>
                  </a:ext>
                </a:extLst>
              </a:tr>
              <a:tr h="1489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현장 점검 실무자의 </a:t>
                      </a:r>
                      <a:r>
                        <a:rPr lang="en-US" altLang="ko-KR" sz="1600" dirty="0"/>
                        <a:t>90% </a:t>
                      </a:r>
                      <a:r>
                        <a:rPr lang="ko-KR" altLang="en-US" sz="1600" dirty="0"/>
                        <a:t>이상이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업무 효율성 제고를 위한 </a:t>
                      </a:r>
                      <a:r>
                        <a:rPr lang="en-US" altLang="ko-KR" sz="1600" dirty="0"/>
                        <a:t>AI </a:t>
                      </a:r>
                      <a:r>
                        <a:rPr lang="ko-KR" altLang="en-US" sz="1600" dirty="0"/>
                        <a:t>기반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자동화 소프트웨어 도입 필요성에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적극 동의함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62869"/>
                  </a:ext>
                </a:extLst>
              </a:tr>
            </a:tbl>
          </a:graphicData>
        </a:graphic>
      </p:graphicFrame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101CD0D1-9824-498E-B5F3-FFEC3BF33047}"/>
              </a:ext>
            </a:extLst>
          </p:cNvPr>
          <p:cNvSpPr/>
          <p:nvPr/>
        </p:nvSpPr>
        <p:spPr>
          <a:xfrm>
            <a:off x="4211960" y="3513467"/>
            <a:ext cx="720080" cy="1029514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1257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821383-964F-4436-B7A4-30759B446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110898"/>
              </p:ext>
            </p:extLst>
          </p:nvPr>
        </p:nvGraphicFramePr>
        <p:xfrm>
          <a:off x="251520" y="1283910"/>
          <a:ext cx="8424936" cy="5295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538963905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629261120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864336721"/>
                    </a:ext>
                  </a:extLst>
                </a:gridCol>
              </a:tblGrid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요구사항 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요구사항명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세부사항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214935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사용자 인증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사용자는 이메일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비밀번호로 로그인할 수 있어야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811591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건축물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건축물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건물명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주소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층수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건축연도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을 등록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조회할 수 있어야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256903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프로젝트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점검 프로젝트를 생성하고 구역</a:t>
                      </a:r>
                      <a:r>
                        <a:rPr lang="en-US" altLang="ko-KR" sz="1200" dirty="0"/>
                        <a:t>(Zone)</a:t>
                      </a:r>
                      <a:r>
                        <a:rPr lang="ko-KR" altLang="en-US" sz="1200" dirty="0"/>
                        <a:t>을 관리할 수 있어야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21441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사진 업로드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스마트폰</a:t>
                      </a:r>
                      <a:r>
                        <a:rPr lang="en-US" altLang="ko-KR" sz="1200" dirty="0"/>
                        <a:t>/PC</a:t>
                      </a:r>
                      <a:r>
                        <a:rPr lang="ko-KR" altLang="en-US" sz="1200" dirty="0"/>
                        <a:t>에서 건축물 사진을 업로드할 수 있어야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406091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균열 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AI</a:t>
                      </a:r>
                      <a:r>
                        <a:rPr lang="ko-KR" altLang="en-US" sz="1200" dirty="0"/>
                        <a:t>가 </a:t>
                      </a:r>
                      <a:r>
                        <a:rPr lang="ko-KR" altLang="en-US" sz="1200"/>
                        <a:t>업로드된</a:t>
                      </a:r>
                      <a:r>
                        <a:rPr lang="ko-KR" altLang="en-US" sz="1200" dirty="0"/>
                        <a:t> 이미지에서 균열을 자동 탐지하고 </a:t>
                      </a:r>
                      <a:r>
                        <a:rPr lang="ko-KR" altLang="en-US" sz="1200"/>
                        <a:t>바운딩박스로</a:t>
                      </a:r>
                      <a:r>
                        <a:rPr lang="ko-KR" altLang="en-US" sz="1200" dirty="0"/>
                        <a:t> 표시해야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818440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탐지 결과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탐지 결과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위치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너비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심각도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를 </a:t>
                      </a:r>
                      <a:r>
                        <a:rPr lang="en-US" altLang="ko-KR" sz="1200" dirty="0"/>
                        <a:t>DB</a:t>
                      </a:r>
                      <a:r>
                        <a:rPr lang="ko-KR" altLang="en-US" sz="1200" dirty="0"/>
                        <a:t>에 저장하고 조회할 수 있어야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136004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안전등급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균열 너비 기준으로 </a:t>
                      </a:r>
                      <a:r>
                        <a:rPr lang="en-US" altLang="ko-KR" sz="1200" dirty="0"/>
                        <a:t>A~E </a:t>
                      </a:r>
                      <a:r>
                        <a:rPr lang="ko-KR" altLang="en-US" sz="1200" dirty="0"/>
                        <a:t>안전등급을 자동 판정해야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233587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보고서 자동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PDF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DOCX </a:t>
                      </a:r>
                      <a:r>
                        <a:rPr lang="ko-KR" altLang="en-US" sz="1200" dirty="0"/>
                        <a:t>형식의 점검 보고서를 자동 생성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다운로드할 수 있어야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82588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REQ-09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멀티 디바이스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모바일</a:t>
                      </a:r>
                      <a:r>
                        <a:rPr lang="en-US" altLang="ko-KR" sz="1200" dirty="0"/>
                        <a:t>(768px </a:t>
                      </a:r>
                      <a:r>
                        <a:rPr lang="ko-KR" altLang="en-US" sz="1200" dirty="0"/>
                        <a:t>이하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과 데스크톱 환경 모두에서 동작해야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777413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REQ-NF-01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API </a:t>
                      </a:r>
                      <a:r>
                        <a:rPr lang="ko-KR" altLang="en-US" sz="1200" dirty="0"/>
                        <a:t>응답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API </a:t>
                      </a:r>
                      <a:r>
                        <a:rPr lang="ko-KR" altLang="en-US" sz="1200" dirty="0"/>
                        <a:t>응답 시간 평균 </a:t>
                      </a:r>
                      <a:r>
                        <a:rPr lang="en-US" altLang="ko-KR" sz="1200" dirty="0"/>
                        <a:t>500ms </a:t>
                      </a:r>
                      <a:r>
                        <a:rPr lang="ko-KR" altLang="en-US" sz="1200" dirty="0"/>
                        <a:t>이하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균열 탐지 제외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377654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REQ-NF-02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탐지 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균열 탐지 정확도 </a:t>
                      </a:r>
                      <a:r>
                        <a:rPr lang="en-US" altLang="ko-KR" sz="1200" dirty="0"/>
                        <a:t>mAP50 80% </a:t>
                      </a:r>
                      <a:r>
                        <a:rPr lang="ko-KR" altLang="en-US" sz="1200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07618"/>
                  </a:ext>
                </a:extLst>
              </a:tr>
              <a:tr h="403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REQ-NF-03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배포 편의성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Docker </a:t>
                      </a:r>
                      <a:r>
                        <a:rPr lang="ko-KR" altLang="en-US" sz="1200" dirty="0"/>
                        <a:t>단일 명령으로 배포 가능해야 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045526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>
            <a:cxnSpLocks/>
          </p:cNvCxnSpPr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cxnSpLocks/>
          </p:cNvCxnSpPr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요구사항 정의서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9EEBD11-4006-3594-59BB-DFE0EC923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6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51520" y="1268759"/>
          <a:ext cx="8640960" cy="5112576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5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/>
                        <a:t>구분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/>
                        <a:t>기능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/>
                        <a:t>설명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36">
                <a:tc rowSpan="1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S/W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로그인/인증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이메일+비밀번호</a:t>
                      </a:r>
                      <a:r>
                        <a:rPr sz="1050" dirty="0"/>
                        <a:t> JWT </a:t>
                      </a:r>
                      <a:r>
                        <a:rPr sz="1050" dirty="0" err="1"/>
                        <a:t>인증</a:t>
                      </a:r>
                      <a:r>
                        <a:rPr sz="1050" dirty="0"/>
                        <a:t>. Access Token(30분)+Refresh Token(7일) </a:t>
                      </a:r>
                      <a:r>
                        <a:rPr sz="1050" dirty="0" err="1"/>
                        <a:t>자동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갱신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건축물 관리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건물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등록·수정·삭제·조회</a:t>
                      </a:r>
                      <a:r>
                        <a:rPr sz="1050" dirty="0"/>
                        <a:t> (</a:t>
                      </a:r>
                      <a:r>
                        <a:rPr sz="1050" dirty="0" err="1"/>
                        <a:t>건물명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주소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층수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건축연도</a:t>
                      </a:r>
                      <a:r>
                        <a:rPr sz="1050" dirty="0"/>
                        <a:t>, GPS </a:t>
                      </a:r>
                      <a:r>
                        <a:rPr sz="1050" dirty="0" err="1"/>
                        <a:t>좌표</a:t>
                      </a:r>
                      <a:r>
                        <a:rPr sz="1050" dirty="0"/>
                        <a:t>)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점검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프로젝트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관리</a:t>
                      </a:r>
                      <a:endParaRPr sz="1050" dirty="0"/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프로젝트 생성·상태 관리(계획/진행/완료), 구역(Zone) 생성·조회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사진 업로드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PC/모바일에서 JPEG·PNG 이미지 파일 업로드 (드래그앤드롭 지원)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AI </a:t>
                      </a:r>
                      <a:r>
                        <a:rPr sz="1050" dirty="0" err="1"/>
                        <a:t>균열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탐지</a:t>
                      </a:r>
                      <a:endParaRPr sz="1050" dirty="0"/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YOLOv8 모델로 균열 탐지. 바운딩박스·신뢰도·심각도·균열너비(mm) 반환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안전등급 자동 판정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균열너비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기준</a:t>
                      </a:r>
                      <a:r>
                        <a:rPr sz="1050" dirty="0"/>
                        <a:t> A~E 5등급 </a:t>
                      </a:r>
                      <a:r>
                        <a:rPr sz="1050" dirty="0" err="1"/>
                        <a:t>자동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산출</a:t>
                      </a:r>
                      <a:r>
                        <a:rPr sz="1050" dirty="0"/>
                        <a:t>. </a:t>
                      </a:r>
                      <a:r>
                        <a:rPr sz="1050" dirty="0" err="1"/>
                        <a:t>한국어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권장사항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자동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생성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보고서 자동 생성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PDF(ReportLab)+DOCX(python-docx) 비동기 생성. 상태 폴링·다운로드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반응형 UI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768px 기준 모바일(하단탭)/데스크톱(사이드바) 자동 전환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탐지 이력 조회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구역별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사진·탐지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결과·오버레이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이미지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조회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프로필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관리</a:t>
                      </a:r>
                      <a:endParaRPr sz="1050" dirty="0"/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사용자 정보 확인 및 로그아웃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오프라인</a:t>
                      </a:r>
                      <a:r>
                        <a:rPr sz="1050" dirty="0"/>
                        <a:t> 큐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네트워크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불가</a:t>
                      </a:r>
                      <a:r>
                        <a:rPr sz="1050" dirty="0"/>
                        <a:t> 시 </a:t>
                      </a:r>
                      <a:r>
                        <a:rPr sz="1050" dirty="0" err="1"/>
                        <a:t>분석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요청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임시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저장</a:t>
                      </a:r>
                      <a:r>
                        <a:rPr sz="1050" dirty="0"/>
                        <a:t> (UI </a:t>
                      </a:r>
                      <a:r>
                        <a:rPr sz="1050" dirty="0" err="1"/>
                        <a:t>구현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로직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개발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예정</a:t>
                      </a:r>
                      <a:r>
                        <a:rPr sz="1050" dirty="0"/>
                        <a:t>)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9536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H/W</a:t>
                      </a:r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스마트폰 카메라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이미지 촬영 디바이스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/>
                        <a:t>별도 </a:t>
                      </a:r>
                      <a:r>
                        <a:rPr lang="en-US" altLang="ko-KR" sz="1050" dirty="0"/>
                        <a:t>H/W </a:t>
                      </a:r>
                      <a:r>
                        <a:rPr lang="ko-KR" altLang="en-US" sz="1050" dirty="0"/>
                        <a:t>추가 구매 없이 기존 스마트폰 사용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459048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50" dirty="0"/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서버 환경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Intel i7, RAM 16GB </a:t>
                      </a:r>
                      <a:r>
                        <a:rPr lang="ko-KR" altLang="en-US" sz="1050" dirty="0"/>
                        <a:t>이상 </a:t>
                      </a:r>
                      <a:r>
                        <a:rPr lang="en-US" altLang="ko-KR" sz="1050" dirty="0"/>
                        <a:t>PC</a:t>
                      </a:r>
                      <a:r>
                        <a:rPr lang="ko-KR" altLang="en-US" sz="1050" dirty="0"/>
                        <a:t>에서 </a:t>
                      </a:r>
                      <a:r>
                        <a:rPr lang="en-US" altLang="ko-KR" sz="1050" dirty="0"/>
                        <a:t>YOLOv8 CPU </a:t>
                      </a:r>
                      <a:r>
                        <a:rPr lang="ko-KR" altLang="en-US" sz="1050" dirty="0"/>
                        <a:t>추론 </a:t>
                      </a:r>
                      <a:r>
                        <a:rPr lang="en-US" altLang="ko-KR" sz="1050" dirty="0"/>
                        <a:t>(GPU </a:t>
                      </a:r>
                      <a:r>
                        <a:rPr lang="ko-KR" altLang="en-US" sz="1050" dirty="0"/>
                        <a:t>선택 사항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883743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50" dirty="0"/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네트워크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err="1"/>
                        <a:t>WiFi</a:t>
                      </a:r>
                      <a:r>
                        <a:rPr lang="ko-KR" altLang="en-US" sz="1050" dirty="0"/>
                        <a:t> 또는 </a:t>
                      </a:r>
                      <a:r>
                        <a:rPr lang="en-US" altLang="ko-KR" sz="1050" dirty="0"/>
                        <a:t>LTE </a:t>
                      </a:r>
                      <a:r>
                        <a:rPr lang="ko-KR" altLang="en-US" sz="1050" dirty="0"/>
                        <a:t>환경에서 이미지 업로드 및 </a:t>
                      </a:r>
                      <a:r>
                        <a:rPr lang="en-US" altLang="ko-KR" sz="1050" dirty="0"/>
                        <a:t>API </a:t>
                      </a:r>
                      <a:r>
                        <a:rPr lang="ko-KR" altLang="en-US" sz="1050" dirty="0"/>
                        <a:t>통신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103341"/>
                  </a:ext>
                </a:extLst>
              </a:tr>
              <a:tr h="319536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50" dirty="0"/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없음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IoT/</a:t>
                      </a:r>
                      <a:r>
                        <a:rPr lang="ko-KR" altLang="en-US" sz="1050" dirty="0"/>
                        <a:t>센서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 err="1"/>
                        <a:t>드론</a:t>
                      </a:r>
                      <a:r>
                        <a:rPr lang="ko-KR" altLang="en-US" sz="1050" dirty="0"/>
                        <a:t> 등 별도 </a:t>
                      </a:r>
                      <a:r>
                        <a:rPr lang="en-US" altLang="ko-KR" sz="1050" dirty="0"/>
                        <a:t>H/W </a:t>
                      </a:r>
                      <a:r>
                        <a:rPr lang="ko-KR" altLang="en-US" sz="1050" dirty="0"/>
                        <a:t>구성요소 없음 </a:t>
                      </a:r>
                      <a:r>
                        <a:rPr lang="en-US" altLang="ko-KR" sz="1050" dirty="0"/>
                        <a:t>— </a:t>
                      </a:r>
                      <a:r>
                        <a:rPr lang="ko-KR" altLang="en-US" sz="1050" dirty="0"/>
                        <a:t>순수 </a:t>
                      </a:r>
                      <a:r>
                        <a:rPr lang="en-US" altLang="ko-KR" sz="1050" dirty="0"/>
                        <a:t>S/W </a:t>
                      </a:r>
                      <a:r>
                        <a:rPr lang="ko-KR" altLang="en-US" sz="1050" dirty="0"/>
                        <a:t>프로젝트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314085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요구사항 정의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A8DEEC-EDDD-D5BE-5FB2-FEBE84D68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4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 err="1">
                <a:solidFill>
                  <a:schemeClr val="bg1"/>
                </a:solidFill>
                <a:latin typeface="+mn-ea"/>
                <a:cs typeface="+mj-cs"/>
              </a:rPr>
              <a:t>유즈케이스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유즈케이스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62E413-BE7C-D6B2-00C8-783CC0EC24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9871A40-5037-4F04-990D-92AE0D766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66054"/>
              </p:ext>
            </p:extLst>
          </p:nvPr>
        </p:nvGraphicFramePr>
        <p:xfrm>
          <a:off x="4283968" y="1052736"/>
          <a:ext cx="4752528" cy="560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734946029"/>
                    </a:ext>
                  </a:extLst>
                </a:gridCol>
                <a:gridCol w="1191207">
                  <a:extLst>
                    <a:ext uri="{9D8B030D-6E8A-4147-A177-3AD203B41FA5}">
                      <a16:colId xmlns:a16="http://schemas.microsoft.com/office/drawing/2014/main" val="1845484768"/>
                    </a:ext>
                  </a:extLst>
                </a:gridCol>
                <a:gridCol w="176945">
                  <a:extLst>
                    <a:ext uri="{9D8B030D-6E8A-4147-A177-3AD203B41FA5}">
                      <a16:colId xmlns:a16="http://schemas.microsoft.com/office/drawing/2014/main" val="1242575656"/>
                    </a:ext>
                  </a:extLst>
                </a:gridCol>
                <a:gridCol w="496716">
                  <a:extLst>
                    <a:ext uri="{9D8B030D-6E8A-4147-A177-3AD203B41FA5}">
                      <a16:colId xmlns:a16="http://schemas.microsoft.com/office/drawing/2014/main" val="951511351"/>
                    </a:ext>
                  </a:extLst>
                </a:gridCol>
                <a:gridCol w="2095572">
                  <a:extLst>
                    <a:ext uri="{9D8B030D-6E8A-4147-A177-3AD203B41FA5}">
                      <a16:colId xmlns:a16="http://schemas.microsoft.com/office/drawing/2014/main" val="389421665"/>
                    </a:ext>
                  </a:extLst>
                </a:gridCol>
              </a:tblGrid>
              <a:tr h="230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항목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710728"/>
                  </a:ext>
                </a:extLst>
              </a:tr>
              <a:tr h="37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개요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ko-KR" altLang="en-US" sz="1050" dirty="0" err="1"/>
                        <a:t>업로드된</a:t>
                      </a:r>
                      <a:r>
                        <a:rPr lang="ko-KR" altLang="en-US" sz="1050" dirty="0"/>
                        <a:t> 건물 구역 이미지를 기반으로 </a:t>
                      </a:r>
                      <a:r>
                        <a:rPr lang="en-US" altLang="ko-KR" sz="1050" dirty="0"/>
                        <a:t>AI </a:t>
                      </a:r>
                      <a:r>
                        <a:rPr lang="ko-KR" altLang="en-US" sz="1050" dirty="0"/>
                        <a:t>엔진을 통해 균열을 자동 탐지하고 분석한다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06661"/>
                  </a:ext>
                </a:extLst>
              </a:tr>
              <a:tr h="23089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/>
                        <a:t>관련액터</a:t>
                      </a:r>
                      <a:endParaRPr lang="ko-KR" alt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주 </a:t>
                      </a:r>
                      <a:r>
                        <a:rPr lang="ko-KR" altLang="en-US" sz="1050" b="1" dirty="0" err="1"/>
                        <a:t>액터</a:t>
                      </a:r>
                      <a:endParaRPr lang="ko-KR" altLang="en-US" sz="105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점검사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점검사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74868"/>
                  </a:ext>
                </a:extLst>
              </a:tr>
              <a:tr h="23089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보조 </a:t>
                      </a:r>
                      <a:r>
                        <a:rPr lang="ko-KR" altLang="en-US" sz="1050" b="1" dirty="0" err="1"/>
                        <a:t>액터</a:t>
                      </a:r>
                      <a:endParaRPr lang="ko-KR" altLang="en-US" sz="105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AI </a:t>
                      </a:r>
                      <a:r>
                        <a:rPr lang="ko-KR" altLang="en-US" sz="1050"/>
                        <a:t>분석 서버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데이터베이스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AI </a:t>
                      </a:r>
                      <a:r>
                        <a:rPr lang="ko-KR" altLang="en-US" sz="1050" dirty="0"/>
                        <a:t>분석 서버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데이터베이스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78225"/>
                  </a:ext>
                </a:extLst>
              </a:tr>
              <a:tr h="23089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우선순위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상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중요도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중요도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09813"/>
                  </a:ext>
                </a:extLst>
              </a:tr>
              <a:tr h="23089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난이도</a:t>
                      </a:r>
                      <a:endParaRPr lang="ko-KR" alt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상 </a:t>
                      </a:r>
                      <a:r>
                        <a:rPr lang="en-US" altLang="ko-KR" sz="1050" dirty="0"/>
                        <a:t>(AI </a:t>
                      </a:r>
                      <a:r>
                        <a:rPr lang="ko-KR" altLang="en-US" sz="1050" dirty="0"/>
                        <a:t>모델 연동 필요</a:t>
                      </a:r>
                      <a:r>
                        <a:rPr lang="en-US" altLang="ko-KR" sz="1050" dirty="0"/>
                        <a:t>) 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240512"/>
                  </a:ext>
                </a:extLst>
              </a:tr>
              <a:tr h="37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선행조건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점검사가 시스템에 로그인</a:t>
                      </a:r>
                      <a:r>
                        <a:rPr lang="en-US" altLang="ko-KR" sz="1050" dirty="0"/>
                        <a:t>(UC-01)</a:t>
                      </a:r>
                      <a:r>
                        <a:rPr lang="ko-KR" altLang="en-US" sz="1050" dirty="0"/>
                        <a:t>되어 있어야 하며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해당 구역의 사진이 업로드</a:t>
                      </a:r>
                      <a:r>
                        <a:rPr lang="en-US" altLang="ko-KR" sz="1050" dirty="0"/>
                        <a:t>(UC-04)</a:t>
                      </a:r>
                      <a:r>
                        <a:rPr lang="ko-KR" altLang="en-US" sz="1050" dirty="0"/>
                        <a:t>되어 있어야 함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67808"/>
                  </a:ext>
                </a:extLst>
              </a:tr>
              <a:tr h="37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/>
                        <a:t>후행조건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균열 데이터가 데이터베이스에 저장되고 탐지 결과 확인</a:t>
                      </a:r>
                      <a:r>
                        <a:rPr lang="en-US" altLang="ko-KR" sz="1050" dirty="0"/>
                        <a:t>(UC-06) </a:t>
                      </a:r>
                      <a:r>
                        <a:rPr lang="ko-KR" altLang="en-US" sz="1050" dirty="0"/>
                        <a:t>및 안전등급 산출</a:t>
                      </a:r>
                      <a:r>
                        <a:rPr lang="en-US" altLang="ko-KR" sz="1050" dirty="0"/>
                        <a:t>(UC-07)</a:t>
                      </a:r>
                      <a:r>
                        <a:rPr lang="ko-KR" altLang="en-US" sz="1050" dirty="0"/>
                        <a:t>이 가능해 짐</a:t>
                      </a:r>
                      <a:r>
                        <a:rPr lang="en-US" altLang="ko-KR" sz="1050" dirty="0"/>
                        <a:t>. 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87220"/>
                  </a:ext>
                </a:extLst>
              </a:tr>
              <a:tr h="1847168">
                <a:tc row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50" b="1" dirty="0"/>
                        <a:t>시나리오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50" b="1" dirty="0"/>
                        <a:t>기본 시나리오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050" dirty="0"/>
                        <a:t>점검사가 특정 사진 또는 구역을 선택하고 </a:t>
                      </a:r>
                      <a:r>
                        <a:rPr lang="en-US" altLang="ko-KR" sz="1050" dirty="0"/>
                        <a:t>'AI </a:t>
                      </a:r>
                      <a:r>
                        <a:rPr lang="ko-KR" altLang="en-US" sz="1050" dirty="0"/>
                        <a:t>균열 분석 요청</a:t>
                      </a:r>
                      <a:r>
                        <a:rPr lang="en-US" altLang="ko-KR" sz="1050" dirty="0"/>
                        <a:t>'</a:t>
                      </a:r>
                      <a:r>
                        <a:rPr lang="ko-KR" altLang="en-US" sz="1050" dirty="0"/>
                        <a:t>을 실행한다</a:t>
                      </a:r>
                      <a:r>
                        <a:rPr lang="en-US" altLang="ko-KR" sz="1050" dirty="0"/>
                        <a:t>. 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050" dirty="0"/>
                        <a:t>시스템은 이미지를 </a:t>
                      </a:r>
                      <a:r>
                        <a:rPr lang="en-US" altLang="ko-KR" sz="1050" dirty="0"/>
                        <a:t>AI </a:t>
                      </a:r>
                      <a:r>
                        <a:rPr lang="ko-KR" altLang="en-US" sz="1050" dirty="0"/>
                        <a:t>분석 서버로 전달한다</a:t>
                      </a:r>
                      <a:r>
                        <a:rPr lang="en-US" altLang="ko-KR" sz="1050" dirty="0"/>
                        <a:t>. 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en-US" altLang="ko-KR" sz="1050" dirty="0"/>
                        <a:t>AI </a:t>
                      </a:r>
                      <a:r>
                        <a:rPr lang="ko-KR" altLang="en-US" sz="1050" dirty="0"/>
                        <a:t>분석 서버는 균열을 탐지하고 크기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위치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종류 등의 데이터를 도출한다</a:t>
                      </a:r>
                      <a:r>
                        <a:rPr lang="en-US" altLang="ko-KR" sz="1050" dirty="0"/>
                        <a:t>. 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050" dirty="0"/>
                        <a:t>시스템은 분석 결과를 데이터베이스에 저장한다</a:t>
                      </a:r>
                      <a:r>
                        <a:rPr lang="en-US" altLang="ko-KR" sz="1050" dirty="0"/>
                        <a:t>. 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050" dirty="0"/>
                        <a:t>시스템은 점검사에게 분석이 완료되었음을 알린다</a:t>
                      </a:r>
                      <a:r>
                        <a:rPr lang="en-US" altLang="ko-KR" sz="1050" dirty="0"/>
                        <a:t>. 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620897"/>
                  </a:ext>
                </a:extLst>
              </a:tr>
              <a:tr h="11008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50" b="1" dirty="0"/>
                        <a:t>대안 시나리오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A1: </a:t>
                      </a:r>
                      <a:r>
                        <a:rPr lang="ko-KR" altLang="en-US" sz="1050" dirty="0"/>
                        <a:t>이미지 화질 불량 또는 분석 불가 시 </a:t>
                      </a:r>
                      <a:endParaRPr lang="en-US" altLang="ko-KR" sz="105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en-US" altLang="ko-KR" sz="1050" dirty="0"/>
                        <a:t>AI </a:t>
                      </a:r>
                      <a:r>
                        <a:rPr lang="ko-KR" altLang="en-US" sz="1050" dirty="0"/>
                        <a:t>엔진이 이미지 해상도가 너무 낮거나 분석 불가함을 감지함</a:t>
                      </a:r>
                      <a:r>
                        <a:rPr lang="en-US" altLang="ko-KR" sz="1050" dirty="0"/>
                        <a:t>. 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050" dirty="0"/>
                        <a:t>시스템은 점검사에게 </a:t>
                      </a:r>
                      <a:r>
                        <a:rPr lang="en-US" altLang="ko-KR" sz="1050" dirty="0"/>
                        <a:t>'</a:t>
                      </a:r>
                      <a:r>
                        <a:rPr lang="ko-KR" altLang="en-US" sz="1050" dirty="0"/>
                        <a:t>재촬영 및 업로드 필요</a:t>
                      </a:r>
                      <a:r>
                        <a:rPr lang="en-US" altLang="ko-KR" sz="1050" dirty="0"/>
                        <a:t>' </a:t>
                      </a:r>
                      <a:r>
                        <a:rPr lang="ko-KR" altLang="en-US" sz="1050" dirty="0"/>
                        <a:t>메시지를 안내하고 종료함</a:t>
                      </a:r>
                      <a:r>
                        <a:rPr lang="en-US" altLang="ko-KR" sz="1050" dirty="0"/>
                        <a:t>. </a:t>
                      </a:r>
                      <a:endParaRPr lang="ko-KR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42129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B64CBEB8-FD15-47D2-97B6-D977ADFAF4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575739"/>
            <a:ext cx="4248472" cy="443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 err="1"/>
              <a:t>CrackBot</a:t>
            </a:r>
            <a:r>
              <a:rPr dirty="0"/>
              <a:t> AI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구성도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b="1" dirty="0">
                <a:solidFill>
                  <a:schemeClr val="tx1"/>
                </a:solidFill>
              </a:rPr>
              <a:t>사진 업로드 및 </a:t>
            </a:r>
            <a:r>
              <a:rPr lang="en-US" altLang="ko-KR" b="1" dirty="0">
                <a:solidFill>
                  <a:schemeClr val="tx1"/>
                </a:solidFill>
              </a:rPr>
              <a:t>AI </a:t>
            </a:r>
            <a:r>
              <a:rPr lang="ko-KR" altLang="en-US" b="1" dirty="0">
                <a:solidFill>
                  <a:schemeClr val="tx1"/>
                </a:solidFill>
              </a:rPr>
              <a:t>분석</a:t>
            </a:r>
            <a:endParaRPr lang="en-US" altLang="ko-KR" b="1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① 사용자가 촬영한 사진을 업로드하면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Nginx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가 요청을 수신한다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br>
              <a:rPr lang="ko-KR" altLang="en-US" sz="1200" dirty="0"/>
            </a:b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②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Nginx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는 리버스프록시로 </a:t>
            </a:r>
            <a:r>
              <a:rPr lang="en-US" altLang="ko-KR" sz="1200" dirty="0" err="1">
                <a:solidFill>
                  <a:schemeClr val="tx1"/>
                </a:solidFill>
                <a:ea typeface="맑은 고딕"/>
              </a:rPr>
              <a:t>FastAPI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서버에 요청을 전달한다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br>
              <a:rPr lang="ko-KR" altLang="en-US" sz="1200" dirty="0"/>
            </a:b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③ </a:t>
            </a:r>
            <a:r>
              <a:rPr lang="en-US" altLang="ko-KR" sz="1200" dirty="0" err="1">
                <a:solidFill>
                  <a:schemeClr val="tx1"/>
                </a:solidFill>
                <a:ea typeface="맑은 고딕"/>
              </a:rPr>
              <a:t>FastAPI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는 이미지를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YOLO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추론 서버로 전달해 균열을 탐지한다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br>
              <a:rPr lang="ko-KR" altLang="en-US" sz="1200" dirty="0"/>
            </a:b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④ 탐지 결과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바운딩박스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신뢰도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를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DB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에 저장한다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ko-KR" altLang="en-US" b="1">
                <a:solidFill>
                  <a:schemeClr val="tx1"/>
                </a:solidFill>
                <a:ea typeface="맑은 고딕"/>
              </a:rPr>
              <a:t>보고서 생성</a:t>
            </a:r>
            <a:endParaRPr lang="en-US" altLang="ko-KR" b="1" dirty="0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① 사용자가 보고서 생성을 요청하면 </a:t>
            </a:r>
            <a:r>
              <a:rPr lang="en-US" altLang="ko-KR" sz="1200" err="1">
                <a:solidFill>
                  <a:schemeClr val="tx1"/>
                </a:solidFill>
                <a:ea typeface="맑은 고딕"/>
              </a:rPr>
              <a:t>FastAPI</a:t>
            </a:r>
            <a:r>
              <a:rPr lang="ko-KR" altLang="en-US" sz="1200">
                <a:solidFill>
                  <a:schemeClr val="tx1"/>
                </a:solidFill>
                <a:ea typeface="맑은 고딕"/>
              </a:rPr>
              <a:t>가 수신한다</a:t>
            </a:r>
            <a:r>
              <a:rPr lang="en-US" altLang="ko-KR" sz="1200">
                <a:solidFill>
                  <a:schemeClr val="tx1"/>
                </a:solidFill>
                <a:ea typeface="맑은 고딕"/>
              </a:rPr>
              <a:t>.</a:t>
            </a:r>
            <a:br>
              <a:rPr lang="ko-KR" altLang="en-US" sz="1200" dirty="0"/>
            </a:br>
            <a:r>
              <a:rPr lang="ko-KR" altLang="en-US" sz="1200">
                <a:solidFill>
                  <a:schemeClr val="tx1"/>
                </a:solidFill>
                <a:ea typeface="맑은 고딕"/>
              </a:rPr>
              <a:t>② </a:t>
            </a:r>
            <a:r>
              <a:rPr lang="en-US" altLang="ko-KR" sz="1200" err="1">
                <a:solidFill>
                  <a:schemeClr val="tx1"/>
                </a:solidFill>
                <a:ea typeface="맑은 고딕"/>
              </a:rPr>
              <a:t>FastAPI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는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DB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에서 해당 프로젝트의 탐지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등급 데이터를 조회한다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br>
              <a:rPr lang="ko-KR" altLang="en-US" sz="1200" dirty="0"/>
            </a:b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③ 조회된 데이터를 기반으로 보고서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(PDF/DOCX)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를 생성해 사용자에게 반환한다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sz="1200">
              <a:solidFill>
                <a:schemeClr val="tx1"/>
              </a:solidFill>
              <a:ea typeface="맑은 고딕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05F760-5A43-8BEB-E2CD-64E1D6F25B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id="{7ADB48A4-E2D1-87A1-7382-1F1A160B2A07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2C9462D-E3C9-47BE-82D7-60D4CFB4D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628800"/>
            <a:ext cx="4391268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8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en-US" altLang="ko-KR" sz="1600" dirty="0" err="1"/>
              <a:t>CrackBot</a:t>
            </a:r>
            <a:r>
              <a:rPr lang="ko-KR" altLang="en-US" sz="1600" dirty="0"/>
              <a:t> </a:t>
            </a:r>
            <a:r>
              <a:rPr lang="en-US" altLang="ko-KR" sz="1600" dirty="0"/>
              <a:t>AI </a:t>
            </a:r>
            <a:r>
              <a:rPr lang="ko-KR" altLang="en-US" sz="1600" dirty="0"/>
              <a:t>서비스 구성도</a:t>
            </a:r>
            <a:endParaRPr lang="ko-KR" altLang="en-US" sz="1400" b="1" i="1" dirty="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A7EFF7-9AFA-3C51-BE4D-F3C6434AF8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7D5D7A9-3A46-4BE5-B5D0-6B73D86AEB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49" y="1528663"/>
            <a:ext cx="4232356" cy="4303844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9B15EE-AFAD-4DF1-A8C3-12C7571CB0E0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</a:rPr>
              <a:t>-  back-end</a:t>
            </a:r>
            <a:endParaRPr lang="ko-KR" altLang="en-US" sz="14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① 로그인 인증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점검사가 입력한 이메일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비밀번호를 검증하여 인증 처리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② 데이터 저장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등록한 건물 정보와 점검 프로젝트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구역 정보를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SQLite DB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에 저장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③ 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균열 분석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YOLOv8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모델이 </a:t>
            </a:r>
            <a:r>
              <a:rPr lang="ko-KR" altLang="en-US" sz="1200">
                <a:solidFill>
                  <a:schemeClr val="tx1"/>
                </a:solidFill>
                <a:ea typeface="맑은 고딕"/>
              </a:rPr>
              <a:t>업로드된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 사진에서 균열 위치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크기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심각도를 탐지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④ 안전등급 산출 및 보고서 생성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탐지 결과를 기반으로 구역별 안전등급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(A~E)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을 산정하고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PDF/DOCX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보고서를 자동 생성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-  front-end</a:t>
            </a:r>
            <a:endParaRPr lang="ko-KR" altLang="en-US" sz="14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⑤ 로그인 요청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점검사가 앱에서 이메일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비밀번호를 입력해 로그인을 요청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⑥ 프로젝트 등록 및 사진 업로드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건물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프로젝트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점검구역을 설정하고 촬영한 사진을 서버로 전달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⑦ 탐지 결과 확인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분석이 완료된 사진의 </a:t>
            </a:r>
            <a:r>
              <a:rPr lang="ko-KR" altLang="en-US" sz="1200">
                <a:solidFill>
                  <a:schemeClr val="tx1"/>
                </a:solidFill>
                <a:ea typeface="맑은 고딕"/>
              </a:rPr>
              <a:t>바운딩박스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 오버레이와 안전등급을 요청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조회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⑧ 보고서 다운로드</a:t>
            </a:r>
            <a:r>
              <a:rPr lang="en-US" altLang="ko-KR" sz="1200" b="1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1200">
                <a:solidFill>
                  <a:schemeClr val="tx1"/>
                </a:solidFill>
                <a:ea typeface="맑은 고딕"/>
              </a:rPr>
              <a:t>생성된 보고서 파일을 전달받아 다운로드</a:t>
            </a:r>
            <a:r>
              <a:rPr lang="en-US" altLang="ko-KR" sz="120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>
              <a:solidFill>
                <a:schemeClr val="tx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0875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흐름도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en-US" altLang="ko-KR" sz="1600" dirty="0" err="1"/>
              <a:t>CrackBot</a:t>
            </a:r>
            <a:r>
              <a:rPr lang="ko-KR" altLang="en-US" sz="1600" dirty="0"/>
              <a:t> </a:t>
            </a:r>
            <a:r>
              <a:rPr lang="en-US" altLang="ko-KR" sz="1600" dirty="0"/>
              <a:t>AI </a:t>
            </a:r>
            <a:r>
              <a:rPr lang="ko-KR" altLang="en-US" sz="1600" dirty="0"/>
              <a:t>서비스 흐름도</a:t>
            </a:r>
            <a:endParaRPr lang="ko-KR" altLang="en-US" sz="1400" b="1" i="1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196752"/>
            <a:ext cx="4291660" cy="54089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BF02A6-9C10-72D4-AC93-9BA89BC36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6835247-3565-4C3C-A3A0-6B0AA7F72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222875"/>
            <a:ext cx="3384376" cy="54006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9B865E-02E5-44FB-9A2B-0A47176A113B}"/>
              </a:ext>
            </a:extLst>
          </p:cNvPr>
          <p:cNvSpPr/>
          <p:nvPr/>
        </p:nvSpPr>
        <p:spPr>
          <a:xfrm>
            <a:off x="4572000" y="1196751"/>
            <a:ext cx="4291660" cy="54089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</a:rPr>
              <a:t>-  </a:t>
            </a:r>
            <a:r>
              <a:rPr lang="ko-KR" altLang="en-US" sz="1400" b="1" dirty="0">
                <a:solidFill>
                  <a:schemeClr val="tx1"/>
                </a:solidFill>
              </a:rPr>
              <a:t>이미지 분석 및 등급 산정</a:t>
            </a:r>
            <a:endParaRPr lang="ko-KR" altLang="en-US" sz="14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①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점검사가 촬영한 사진을 업로드하면 클라이언트가 서버로 탐지 요청을 전송한다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POST /v1/photos/detect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②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서버가 전달받은 이미지를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YOLOv8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모델에 전달해 균열 탐지 추론을 수행한다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③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탐지된 균열 정보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위치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폭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유형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신뢰도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를 </a:t>
            </a:r>
            <a:r>
              <a:rPr lang="en-US" altLang="ko-KR" sz="1200" dirty="0" err="1">
                <a:solidFill>
                  <a:schemeClr val="tx1"/>
                </a:solidFill>
                <a:ea typeface="맑은 고딕"/>
              </a:rPr>
              <a:t>DefectDetection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테이블에 저장한다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④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저장된 탐지 데이터를 기준으로 구역별 안전등급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(A~E)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을 계산한다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⑤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계산된 안전등급을 </a:t>
            </a:r>
            <a:r>
              <a:rPr lang="en-US" altLang="ko-KR" sz="1200" dirty="0" err="1">
                <a:solidFill>
                  <a:schemeClr val="tx1"/>
                </a:solidFill>
                <a:ea typeface="맑은 고딕"/>
              </a:rPr>
              <a:t>SafetyGrade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테이블에 저장한다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  <a:ea typeface="맑은 고딕"/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-  </a:t>
            </a:r>
            <a:r>
              <a:rPr lang="ko-KR" altLang="en-US" sz="1400" b="1" dirty="0">
                <a:solidFill>
                  <a:schemeClr val="tx1"/>
                </a:solidFill>
              </a:rPr>
              <a:t>보고서 생성 및 다운로드</a:t>
            </a:r>
            <a:endParaRPr lang="ko-KR" altLang="en-US" sz="14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⑥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점검사가 보고서 생성을 요청하면 서버가 이를 접수한다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POST /v1/reports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ea typeface="맑은 고딕"/>
              </a:rPr>
              <a:t>⑦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서버는 </a:t>
            </a:r>
            <a:r>
              <a:rPr lang="en-US" altLang="ko-KR" sz="1200" dirty="0" err="1">
                <a:solidFill>
                  <a:schemeClr val="tx1"/>
                </a:solidFill>
                <a:ea typeface="맑은 고딕"/>
              </a:rPr>
              <a:t>BackgroundTask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로 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PDF/DOCX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파일을 비동기 생성하고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ea typeface="맑은 고딕"/>
              </a:rPr>
              <a:t>클라이언트는 완료 여부를 폴링하여 확인한 뒤 파일을 다운로드한다</a:t>
            </a:r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r>
              <a:rPr lang="en-US" altLang="ko-KR" sz="1200" dirty="0">
                <a:solidFill>
                  <a:schemeClr val="tx1"/>
                </a:solidFill>
                <a:ea typeface="맑은 고딕"/>
              </a:rPr>
              <a:t>GET /v1/reports/{id}/download-file</a:t>
            </a:r>
            <a:endParaRPr lang="ko-KR" altLang="en-US" sz="1200" dirty="0">
              <a:solidFill>
                <a:schemeClr val="tx1"/>
              </a:solidFill>
              <a:ea typeface="맑은 고딕"/>
            </a:endParaRPr>
          </a:p>
          <a:p>
            <a:br>
              <a:rPr lang="ko-KR" altLang="en-US" sz="1050" dirty="0">
                <a:solidFill>
                  <a:schemeClr val="tx1"/>
                </a:solidFill>
              </a:rPr>
            </a:br>
            <a:endParaRPr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375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44AD0C7-8BFF-4732-819E-70C930D60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1628800"/>
            <a:ext cx="1999979" cy="4305300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76" name="Group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935895"/>
              </p:ext>
            </p:extLst>
          </p:nvPr>
        </p:nvGraphicFramePr>
        <p:xfrm>
          <a:off x="6228184" y="1628801"/>
          <a:ext cx="2730500" cy="4305300"/>
        </p:xfrm>
        <a:graphic>
          <a:graphicData uri="http://schemas.openxmlformats.org/drawingml/2006/table">
            <a:tbl>
              <a:tblPr/>
              <a:tblGrid>
                <a:gridCol w="293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2436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ko-KR" altLang="en-US" sz="800" b="1" dirty="0"/>
                        <a:t>이메일 입력란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/>
                        <a:t>Placeholder</a:t>
                      </a:r>
                      <a:r>
                        <a:rPr lang="ko-KR" altLang="en-US" sz="800" dirty="0"/>
                        <a:t>로 예시 이메일 형식 표시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예</a:t>
                      </a:r>
                      <a:r>
                        <a:rPr lang="en-US" altLang="ko-KR" sz="800" dirty="0"/>
                        <a:t>: admin@crackbot.ai)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이메일 형식 유효성 검사</a:t>
                      </a:r>
                      <a:r>
                        <a:rPr lang="en-US" altLang="ko-KR" sz="800" dirty="0"/>
                        <a:t>: @ </a:t>
                      </a:r>
                      <a:r>
                        <a:rPr lang="ko-KR" altLang="en-US" sz="800" dirty="0"/>
                        <a:t>및 도메인 미포함 시 하단에 에러 메시지 노출 </a:t>
                      </a:r>
                      <a:r>
                        <a:rPr lang="en-US" altLang="ko-KR" sz="800" dirty="0"/>
                        <a:t>("</a:t>
                      </a:r>
                      <a:r>
                        <a:rPr lang="ko-KR" altLang="en-US" sz="800" dirty="0"/>
                        <a:t>올바른 이메일 형식이 아닙니다</a:t>
                      </a:r>
                      <a:r>
                        <a:rPr lang="en-US" altLang="ko-KR" sz="800" dirty="0"/>
                        <a:t>")</a:t>
                      </a: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rebuchet MS" pitchFamily="34" charset="0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6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ko-KR" altLang="en-US" sz="800" b="1" dirty="0"/>
                        <a:t>비밀번호 입력란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기본값은 </a:t>
                      </a:r>
                      <a:r>
                        <a:rPr lang="ko-KR" altLang="en-US" sz="800" dirty="0" err="1"/>
                        <a:t>마스킹</a:t>
                      </a:r>
                      <a:r>
                        <a:rPr lang="en-US" altLang="ko-KR" sz="800" dirty="0"/>
                        <a:t>(●●●) </a:t>
                      </a:r>
                      <a:r>
                        <a:rPr lang="ko-KR" altLang="en-US" sz="800" dirty="0"/>
                        <a:t>처리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우측 </a:t>
                      </a:r>
                      <a:r>
                        <a:rPr lang="en-US" altLang="ko-KR" sz="800" dirty="0"/>
                        <a:t>"</a:t>
                      </a:r>
                      <a:r>
                        <a:rPr lang="ko-KR" altLang="en-US" sz="800" dirty="0"/>
                        <a:t>표시</a:t>
                      </a:r>
                      <a:r>
                        <a:rPr lang="en-US" altLang="ko-KR" sz="800" dirty="0"/>
                        <a:t>" </a:t>
                      </a:r>
                      <a:r>
                        <a:rPr lang="ko-KR" altLang="en-US" sz="800" dirty="0"/>
                        <a:t>텍스트 탭 시 </a:t>
                      </a:r>
                      <a:r>
                        <a:rPr lang="ko-KR" altLang="en-US" sz="800" dirty="0" err="1"/>
                        <a:t>평문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 err="1"/>
                        <a:t>토글</a:t>
                      </a:r>
                      <a:endParaRPr lang="en-US" altLang="ko-KR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최소 </a:t>
                      </a:r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자 이상 등 비밀번호 정책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820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ko-KR" altLang="en-US" sz="800" b="1" dirty="0"/>
                        <a:t>로그인 버튼 </a:t>
                      </a:r>
                      <a:r>
                        <a:rPr lang="en-US" altLang="ko-KR" sz="800" b="1" dirty="0"/>
                        <a:t>(→ </a:t>
                      </a:r>
                      <a:r>
                        <a:rPr lang="ko-KR" altLang="en-US" sz="800" b="1" dirty="0"/>
                        <a:t>홈 화면 이동</a:t>
                      </a:r>
                      <a:r>
                        <a:rPr lang="en-US" altLang="ko-KR" sz="800" b="1" dirty="0"/>
                        <a:t>)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이메일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비밀번호 두 필드가 모두 입력되기 전까지 버튼 비활성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회색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탭 시 </a:t>
                      </a:r>
                      <a:r>
                        <a:rPr lang="en-US" altLang="ko-KR" sz="800" dirty="0"/>
                        <a:t>POST /v1/auth/login </a:t>
                      </a:r>
                      <a:r>
                        <a:rPr lang="ko-KR" altLang="en-US" sz="800" dirty="0"/>
                        <a:t>호출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성공 시 홈 화면으로 전환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인증 실패 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하단에 </a:t>
                      </a:r>
                      <a:r>
                        <a:rPr lang="en-US" altLang="ko-KR" sz="800" dirty="0"/>
                        <a:t>"</a:t>
                      </a:r>
                      <a:r>
                        <a:rPr lang="ko-KR" altLang="en-US" sz="800" dirty="0"/>
                        <a:t>이메일 또는 비밀번호가 올바르지 않습니다</a:t>
                      </a:r>
                      <a:r>
                        <a:rPr lang="en-US" altLang="ko-KR" sz="800" dirty="0"/>
                        <a:t>" </a:t>
                      </a:r>
                      <a:r>
                        <a:rPr lang="ko-KR" altLang="en-US" sz="800" dirty="0"/>
                        <a:t>에러 토스트</a:t>
                      </a:r>
                      <a:endParaRPr lang="en-US" altLang="ko-KR" sz="800" dirty="0"/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7419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ko-KR" altLang="en-US" sz="800" b="1" dirty="0"/>
                        <a:t>하단 내비게이션 </a:t>
                      </a:r>
                      <a:r>
                        <a:rPr lang="en-US" altLang="ko-KR" sz="800" b="1" dirty="0"/>
                        <a:t>– </a:t>
                      </a:r>
                      <a:r>
                        <a:rPr lang="ko-KR" altLang="en-US" sz="800" b="1" dirty="0"/>
                        <a:t>점검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카메라</a:t>
                      </a:r>
                      <a:r>
                        <a:rPr lang="en-US" altLang="ko-KR" sz="800" b="1" dirty="0"/>
                        <a:t>) </a:t>
                      </a:r>
                      <a:r>
                        <a:rPr lang="ko-KR" altLang="en-US" sz="800" b="1" dirty="0"/>
                        <a:t>버튼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하단 탭 중앙 강조된 원형 아이콘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초록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다른 탭 대비 크게 표시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탭 시 </a:t>
                      </a:r>
                      <a:r>
                        <a:rPr lang="en-US" altLang="ko-KR" sz="800" dirty="0" err="1"/>
                        <a:t>CameraScreen</a:t>
                      </a:r>
                      <a:r>
                        <a:rPr lang="ko-KR" altLang="en-US" sz="800" dirty="0"/>
                        <a:t>으로 즉시 이동해 새 점검 촬영 시작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진행 중인 프로젝트가 없을 경우 프로젝트 선택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생성 화면을 먼저 노출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i="1" dirty="0"/>
                        <a:t>프로젝트 생성 흐름 참고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2476500" y="288809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cxnSp>
        <p:nvCxnSpPr>
          <p:cNvPr id="83" name="AutoShape 162"/>
          <p:cNvCxnSpPr>
            <a:cxnSpLocks noChangeShapeType="1"/>
          </p:cNvCxnSpPr>
          <p:nvPr/>
        </p:nvCxnSpPr>
        <p:spPr bwMode="auto">
          <a:xfrm>
            <a:off x="2349500" y="3972208"/>
            <a:ext cx="1193800" cy="500063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2476500" y="3364717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sp>
        <p:nvSpPr>
          <p:cNvPr id="88" name="Oval 167"/>
          <p:cNvSpPr>
            <a:spLocks noChangeArrowheads="1"/>
          </p:cNvSpPr>
          <p:nvPr/>
        </p:nvSpPr>
        <p:spPr bwMode="auto">
          <a:xfrm>
            <a:off x="4688582" y="541779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4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화면 설계서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26DD14B-8A3F-46EC-8B5C-4C438AD6C3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56" y="1628801"/>
            <a:ext cx="2007785" cy="4305300"/>
          </a:xfrm>
          <a:prstGeom prst="rect">
            <a:avLst/>
          </a:prstGeom>
        </p:spPr>
      </p:pic>
      <p:sp>
        <p:nvSpPr>
          <p:cNvPr id="90" name="Oval 161">
            <a:extLst>
              <a:ext uri="{FF2B5EF4-FFF2-40B4-BE49-F238E27FC236}">
                <a16:creationId xmlns:a16="http://schemas.microsoft.com/office/drawing/2014/main" id="{07915662-EC87-4273-991B-D9695CB0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768" y="379676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sp>
        <p:nvSpPr>
          <p:cNvPr id="92" name="Text Box 100">
            <a:extLst>
              <a:ext uri="{FF2B5EF4-FFF2-40B4-BE49-F238E27FC236}">
                <a16:creationId xmlns:a16="http://schemas.microsoft.com/office/drawing/2014/main" id="{874A5B72-C911-4665-BFCF-BEFD1BEF8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0" y="1196752"/>
            <a:ext cx="92075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marL="179388" indent="-179388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350"/>
              </a:spcBef>
              <a:buClr>
                <a:srgbClr val="FF0000"/>
              </a:buClr>
              <a:buFont typeface="Wingdings" pitchFamily="2" charset="2"/>
              <a:buChar char=""/>
            </a:pP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로그인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홈 화면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점검 프로젝트</a:t>
            </a:r>
            <a:endParaRPr lang="ko-KR" altLang="ko-KR" sz="1400" dirty="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531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807C1DF6-BF39-4F69-BFCE-B185933DD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28800"/>
            <a:ext cx="2015893" cy="4305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1582DB9-D645-4C2D-8A1A-90F4249A3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628800"/>
            <a:ext cx="2010828" cy="4305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CD646B-27EA-4324-9356-B02AA2FD8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628800"/>
            <a:ext cx="2025725" cy="4305300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76" name="Group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956671"/>
              </p:ext>
            </p:extLst>
          </p:nvPr>
        </p:nvGraphicFramePr>
        <p:xfrm>
          <a:off x="6660232" y="1628801"/>
          <a:ext cx="2376263" cy="4419542"/>
        </p:xfrm>
        <a:graphic>
          <a:graphicData uri="http://schemas.openxmlformats.org/drawingml/2006/table">
            <a:tbl>
              <a:tblPr/>
              <a:tblGrid>
                <a:gridCol w="255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949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en-US" altLang="ko-KR" sz="800" b="1" dirty="0"/>
                        <a:t>"+" </a:t>
                      </a:r>
                      <a:r>
                        <a:rPr lang="ko-KR" altLang="en-US" sz="800" b="1" dirty="0"/>
                        <a:t>신규 프로젝트 등록 버튼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탭 시 새 점검 프로젝트 생성 화면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2)</a:t>
                      </a:r>
                      <a:r>
                        <a:rPr lang="ko-KR" altLang="en-US" sz="800" dirty="0"/>
                        <a:t>으로 이동</a:t>
                      </a:r>
                      <a:endParaRPr lang="en-US" altLang="ko-KR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아이콘 색상은 하단 내비게이션의 진행중 상태 색상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초록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en-US" sz="800" dirty="0"/>
                        <a:t>과 통일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166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ko-KR" altLang="en-US" sz="800" b="1" dirty="0"/>
                        <a:t>프로젝트 카드 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예</a:t>
                      </a:r>
                      <a:r>
                        <a:rPr lang="en-US" altLang="ko-KR" sz="800" b="1" dirty="0"/>
                        <a:t>: </a:t>
                      </a:r>
                      <a:r>
                        <a:rPr lang="ko-KR" altLang="en-US" sz="800" b="1" dirty="0" err="1"/>
                        <a:t>라온관</a:t>
                      </a:r>
                      <a:r>
                        <a:rPr lang="en-US" altLang="ko-KR" sz="800" b="1" dirty="0"/>
                        <a:t>)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카드 구성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프로젝트명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시작일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구역 개수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상태 배지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예정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진행중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완료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탭 시 해당 프로젝트 상세 화면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3)</a:t>
                      </a:r>
                      <a:r>
                        <a:rPr lang="ko-KR" altLang="en-US" sz="800" dirty="0"/>
                        <a:t>으로 이동</a:t>
                      </a:r>
                      <a:endParaRPr lang="en-US" altLang="ko-KR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리스트 정렬 기준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최근 </a:t>
                      </a:r>
                      <a:r>
                        <a:rPr lang="ko-KR" altLang="en-US" sz="800" dirty="0" err="1"/>
                        <a:t>생성순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172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en-US" altLang="ko-KR" sz="800" b="1" dirty="0"/>
                        <a:t>[</a:t>
                      </a:r>
                      <a:r>
                        <a:rPr lang="ko-KR" altLang="en-US" sz="800" b="1" dirty="0"/>
                        <a:t>프로젝트 생성</a:t>
                      </a:r>
                      <a:r>
                        <a:rPr lang="en-US" altLang="ko-KR" sz="800" b="1" dirty="0"/>
                        <a:t>] </a:t>
                      </a:r>
                      <a:r>
                        <a:rPr lang="ko-KR" altLang="en-US" sz="800" b="1" dirty="0"/>
                        <a:t>버튼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건물명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주소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시작일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종료예정일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점검구역 필수 항목이 모두 입력되어야 활성화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미입력</a:t>
                      </a:r>
                      <a:r>
                        <a:rPr lang="ko-KR" altLang="en-US" sz="800" dirty="0"/>
                        <a:t> 시 비활성 회색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점검구역은 태그 형태로 다중 선택</a:t>
                      </a:r>
                      <a:r>
                        <a:rPr lang="en-US" altLang="ko-KR" sz="800" dirty="0"/>
                        <a:t>(A</a:t>
                      </a:r>
                      <a:r>
                        <a:rPr lang="ko-KR" altLang="en-US" sz="800" dirty="0"/>
                        <a:t>구역</a:t>
                      </a:r>
                      <a:r>
                        <a:rPr lang="en-US" altLang="ko-KR" sz="800" dirty="0"/>
                        <a:t>·B</a:t>
                      </a:r>
                      <a:r>
                        <a:rPr lang="ko-KR" altLang="en-US" sz="800" dirty="0"/>
                        <a:t>구역 등</a:t>
                      </a:r>
                      <a:r>
                        <a:rPr lang="en-US" altLang="ko-KR" sz="800" dirty="0"/>
                        <a:t>), "+</a:t>
                      </a:r>
                      <a:r>
                        <a:rPr lang="ko-KR" altLang="en-US" sz="800" dirty="0"/>
                        <a:t>추가</a:t>
                      </a:r>
                      <a:r>
                        <a:rPr lang="en-US" altLang="ko-KR" sz="800" dirty="0"/>
                        <a:t>"</a:t>
                      </a:r>
                      <a:r>
                        <a:rPr lang="ko-KR" altLang="en-US" sz="800" dirty="0"/>
                        <a:t>로 신규 </a:t>
                      </a:r>
                      <a:r>
                        <a:rPr lang="ko-KR" altLang="en-US" sz="800" dirty="0" err="1"/>
                        <a:t>구역명</a:t>
                      </a:r>
                      <a:r>
                        <a:rPr lang="ko-KR" altLang="en-US" sz="800" dirty="0"/>
                        <a:t> 직접 입력 가능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탭 시 </a:t>
                      </a:r>
                      <a:r>
                        <a:rPr lang="en-US" altLang="ko-KR" sz="800" dirty="0"/>
                        <a:t>POST /v1/projects </a:t>
                      </a:r>
                      <a:r>
                        <a:rPr lang="ko-KR" altLang="en-US" sz="800" dirty="0"/>
                        <a:t>호출 → 성공하면 프로젝트 상세 화면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3)</a:t>
                      </a:r>
                      <a:r>
                        <a:rPr lang="ko-KR" altLang="en-US" sz="800" dirty="0"/>
                        <a:t>으로 자동 이동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0012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en-US" altLang="ko-KR" sz="800" b="1" dirty="0"/>
                        <a:t>[</a:t>
                      </a:r>
                      <a:r>
                        <a:rPr lang="ko-KR" altLang="en-US" sz="800" b="1" dirty="0"/>
                        <a:t>촬영 </a:t>
                      </a:r>
                      <a:r>
                        <a:rPr lang="en-US" altLang="ko-KR" sz="800" b="1" dirty="0"/>
                        <a:t>/ </a:t>
                      </a:r>
                      <a:r>
                        <a:rPr lang="ko-KR" altLang="en-US" sz="800" b="1" dirty="0"/>
                        <a:t>분석</a:t>
                      </a:r>
                      <a:r>
                        <a:rPr lang="en-US" altLang="ko-KR" sz="800" b="1" dirty="0"/>
                        <a:t>] </a:t>
                      </a:r>
                      <a:r>
                        <a:rPr lang="ko-KR" altLang="en-US" sz="800" b="1" dirty="0"/>
                        <a:t>버튼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탭 시 </a:t>
                      </a:r>
                      <a:r>
                        <a:rPr lang="en-US" altLang="ko-KR" sz="800" dirty="0" err="1"/>
                        <a:t>CameraScreen</a:t>
                      </a:r>
                      <a:r>
                        <a:rPr lang="ko-KR" altLang="en-US" sz="800" dirty="0"/>
                        <a:t>으로 이동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새 사진 촬영 또는 갤러리에서 선택 가능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옆의 </a:t>
                      </a: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보고서 생성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버튼과 색상으로 구분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초록 채움 </a:t>
                      </a:r>
                      <a:r>
                        <a:rPr lang="en-US" altLang="ko-KR" sz="800" dirty="0"/>
                        <a:t>vs </a:t>
                      </a:r>
                      <a:r>
                        <a:rPr lang="ko-KR" altLang="en-US" sz="800" dirty="0"/>
                        <a:t>흰색 테두리</a:t>
                      </a:r>
                      <a:r>
                        <a:rPr lang="en-US" altLang="ko-KR" sz="800" dirty="0"/>
                        <a:t>) → </a:t>
                      </a:r>
                      <a:r>
                        <a:rPr lang="ko-KR" altLang="en-US" sz="800" dirty="0"/>
                        <a:t>서로 다른 플로우로 분기</a:t>
                      </a:r>
                      <a:endParaRPr lang="en-US" altLang="ko-KR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촬영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분석된 결과는 상단 구역별 현황</a:t>
                      </a:r>
                      <a:r>
                        <a:rPr lang="en-US" altLang="ko-KR" sz="800" dirty="0"/>
                        <a:t>(A</a:t>
                      </a:r>
                      <a:r>
                        <a:rPr lang="ko-KR" altLang="en-US" sz="800" dirty="0"/>
                        <a:t>구역</a:t>
                      </a:r>
                      <a:r>
                        <a:rPr lang="en-US" altLang="ko-KR" sz="800" dirty="0"/>
                        <a:t>/B</a:t>
                      </a:r>
                      <a:r>
                        <a:rPr lang="ko-KR" altLang="en-US" sz="800" dirty="0"/>
                        <a:t>구역 안전등급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en-US" sz="800" dirty="0"/>
                        <a:t>에 자동 반영되어 즉시 업데이트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1952278" y="1700808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cxnSp>
        <p:nvCxnSpPr>
          <p:cNvPr id="83" name="AutoShape 162"/>
          <p:cNvCxnSpPr>
            <a:cxnSpLocks noChangeShapeType="1"/>
          </p:cNvCxnSpPr>
          <p:nvPr/>
        </p:nvCxnSpPr>
        <p:spPr bwMode="auto">
          <a:xfrm>
            <a:off x="1979712" y="1916832"/>
            <a:ext cx="354644" cy="306388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1952278" y="2825502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sp>
        <p:nvSpPr>
          <p:cNvPr id="88" name="Oval 167"/>
          <p:cNvSpPr>
            <a:spLocks noChangeArrowheads="1"/>
          </p:cNvSpPr>
          <p:nvPr/>
        </p:nvSpPr>
        <p:spPr bwMode="auto">
          <a:xfrm>
            <a:off x="5364088" y="4437112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4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화면 설계서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90" name="Oval 161">
            <a:extLst>
              <a:ext uri="{FF2B5EF4-FFF2-40B4-BE49-F238E27FC236}">
                <a16:creationId xmlns:a16="http://schemas.microsoft.com/office/drawing/2014/main" id="{07915662-EC87-4273-991B-D9695CB0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833614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sp>
        <p:nvSpPr>
          <p:cNvPr id="22" name="Text Box 100">
            <a:extLst>
              <a:ext uri="{FF2B5EF4-FFF2-40B4-BE49-F238E27FC236}">
                <a16:creationId xmlns:a16="http://schemas.microsoft.com/office/drawing/2014/main" id="{DD458203-8EC0-47B7-ADDC-BC9759B8F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0" y="1196752"/>
            <a:ext cx="92075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marL="179388" indent="-179388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350"/>
              </a:spcBef>
              <a:buClr>
                <a:srgbClr val="FF0000"/>
              </a:buClr>
              <a:buFont typeface="Wingdings" pitchFamily="2" charset="2"/>
              <a:buChar char=""/>
            </a:pP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점검 페이지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프로젝트 생성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프로젝트 상세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촬영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/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분석</a:t>
            </a:r>
            <a:endParaRPr lang="ko-KR" altLang="ko-KR" sz="1400" dirty="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cxnSp>
        <p:nvCxnSpPr>
          <p:cNvPr id="31" name="AutoShape 162">
            <a:extLst>
              <a:ext uri="{FF2B5EF4-FFF2-40B4-BE49-F238E27FC236}">
                <a16:creationId xmlns:a16="http://schemas.microsoft.com/office/drawing/2014/main" id="{B21C6006-CAE8-4AD1-941C-5F65698915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0331" y="4130724"/>
            <a:ext cx="354644" cy="306388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1227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74D471A-23A3-4B27-9601-A34285114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307" y="1628800"/>
            <a:ext cx="2022677" cy="43204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58FDF5F-8819-4606-AA41-194DBB8F4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048" y="1628800"/>
            <a:ext cx="1692160" cy="43053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7733888-CC8A-49C5-BA87-C88AA2CFD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628800"/>
            <a:ext cx="1996883" cy="4305300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76" name="Group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399749"/>
              </p:ext>
            </p:extLst>
          </p:nvPr>
        </p:nvGraphicFramePr>
        <p:xfrm>
          <a:off x="6660232" y="1628801"/>
          <a:ext cx="2376263" cy="5140691"/>
        </p:xfrm>
        <a:graphic>
          <a:graphicData uri="http://schemas.openxmlformats.org/drawingml/2006/table">
            <a:tbl>
              <a:tblPr/>
              <a:tblGrid>
                <a:gridCol w="255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949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ko-KR" altLang="en-US" sz="800" b="1" dirty="0"/>
                        <a:t>점검구역 선택 </a:t>
                      </a:r>
                      <a:r>
                        <a:rPr lang="ko-KR" altLang="en-US" sz="800" b="1" dirty="0" err="1"/>
                        <a:t>드롭다운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en-US" altLang="ko-KR" sz="800" b="1" dirty="0"/>
                        <a:t>(B</a:t>
                      </a:r>
                      <a:r>
                        <a:rPr lang="ko-KR" altLang="en-US" sz="800" b="1" dirty="0"/>
                        <a:t>구역</a:t>
                      </a:r>
                      <a:r>
                        <a:rPr lang="en-US" altLang="ko-KR" sz="800" b="1" dirty="0"/>
                        <a:t>)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현재 프로젝트에 등록된 구역 목록 중에서 선택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예</a:t>
                      </a:r>
                      <a:r>
                        <a:rPr lang="en-US" altLang="ko-KR" sz="800" dirty="0"/>
                        <a:t>: A</a:t>
                      </a:r>
                      <a:r>
                        <a:rPr lang="ko-KR" altLang="en-US" sz="800" dirty="0"/>
                        <a:t>구역</a:t>
                      </a:r>
                      <a:r>
                        <a:rPr lang="en-US" altLang="ko-KR" sz="800" dirty="0"/>
                        <a:t>/B</a:t>
                      </a:r>
                      <a:r>
                        <a:rPr lang="ko-KR" altLang="en-US" sz="800" dirty="0"/>
                        <a:t>구역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촬영 전 반드시 구역을 선택해야 </a:t>
                      </a:r>
                      <a:r>
                        <a:rPr lang="en-US" altLang="ko-KR" sz="800" dirty="0"/>
                        <a:t>[AI </a:t>
                      </a:r>
                      <a:r>
                        <a:rPr lang="ko-KR" altLang="en-US" sz="800" dirty="0"/>
                        <a:t>분석 시작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버튼이 활성화되는지 결정 필요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선택된 구역 값은 탐지 결과 저장 시 </a:t>
                      </a:r>
                      <a:r>
                        <a:rPr lang="en-US" altLang="ko-KR" sz="800" dirty="0" err="1"/>
                        <a:t>DefectDetection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레코드에 함께 저장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166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en-US" altLang="ko-KR" sz="800" b="1" dirty="0"/>
                        <a:t>[</a:t>
                      </a:r>
                      <a:r>
                        <a:rPr lang="ko-KR" altLang="en-US" sz="800" b="1" dirty="0"/>
                        <a:t>다시 선택</a:t>
                      </a:r>
                      <a:r>
                        <a:rPr lang="en-US" altLang="ko-KR" sz="800" b="1" dirty="0"/>
                        <a:t>] / [AI </a:t>
                      </a:r>
                      <a:r>
                        <a:rPr lang="ko-KR" altLang="en-US" sz="800" b="1" dirty="0"/>
                        <a:t>분석 시작</a:t>
                      </a:r>
                      <a:r>
                        <a:rPr lang="en-US" altLang="ko-KR" sz="800" b="1" dirty="0"/>
                        <a:t>] </a:t>
                      </a:r>
                      <a:r>
                        <a:rPr lang="ko-KR" altLang="en-US" sz="800" b="1" dirty="0"/>
                        <a:t>버튼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다시 선택</a:t>
                      </a:r>
                      <a:r>
                        <a:rPr lang="en-US" altLang="ko-KR" sz="800" dirty="0"/>
                        <a:t>]: </a:t>
                      </a:r>
                      <a:r>
                        <a:rPr lang="ko-KR" altLang="en-US" sz="800" dirty="0"/>
                        <a:t>촬영한 사진을 취소하고 카메라 화면으로 복귀</a:t>
                      </a:r>
                      <a:endParaRPr lang="en-US" altLang="ko-KR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/>
                        <a:t>[AI </a:t>
                      </a:r>
                      <a:r>
                        <a:rPr lang="ko-KR" altLang="en-US" sz="800" dirty="0"/>
                        <a:t>분석 시작</a:t>
                      </a:r>
                      <a:r>
                        <a:rPr lang="en-US" altLang="ko-KR" sz="800" dirty="0"/>
                        <a:t>]: </a:t>
                      </a:r>
                      <a:r>
                        <a:rPr lang="ko-KR" altLang="en-US" sz="800" dirty="0"/>
                        <a:t>탭 시 로딩 화면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3)</a:t>
                      </a:r>
                      <a:r>
                        <a:rPr lang="ko-KR" altLang="en-US" sz="800" dirty="0"/>
                        <a:t>으로 전환</a:t>
                      </a:r>
                      <a:r>
                        <a:rPr lang="en-US" altLang="ko-KR" sz="800" dirty="0"/>
                        <a:t>, POST /v1/photos/detect </a:t>
                      </a:r>
                      <a:r>
                        <a:rPr lang="ko-KR" altLang="en-US" sz="800" dirty="0"/>
                        <a:t>호출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172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en-US" altLang="ko-KR" sz="800" b="1" dirty="0"/>
                        <a:t>AI </a:t>
                      </a:r>
                      <a:r>
                        <a:rPr lang="ko-KR" altLang="en-US" sz="800" b="1" dirty="0"/>
                        <a:t>분석 중 로딩 화면</a:t>
                      </a:r>
                      <a:endParaRPr lang="ko-KR" altLang="en-US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단계 진행 체크리스트로 표시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이미지 </a:t>
                      </a:r>
                      <a:r>
                        <a:rPr lang="ko-KR" altLang="en-US" sz="800" dirty="0" err="1"/>
                        <a:t>전처리</a:t>
                      </a:r>
                      <a:r>
                        <a:rPr lang="ko-KR" altLang="en-US" sz="800" dirty="0"/>
                        <a:t> → 객체 탐지</a:t>
                      </a:r>
                      <a:r>
                        <a:rPr lang="en-US" altLang="ko-KR" sz="800" dirty="0"/>
                        <a:t>(YOLOv8) → </a:t>
                      </a:r>
                      <a:r>
                        <a:rPr lang="ko-KR" altLang="en-US" sz="800" dirty="0"/>
                        <a:t>균열 폭 측정</a:t>
                      </a:r>
                      <a:r>
                        <a:rPr lang="en-US" altLang="ko-KR" sz="800" dirty="0"/>
                        <a:t>(OpenCV) → </a:t>
                      </a:r>
                      <a:r>
                        <a:rPr lang="ko-KR" altLang="en-US" sz="800" dirty="0"/>
                        <a:t>등급 판정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완료된 단계는 초록 체크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진행 중은 회전 </a:t>
                      </a:r>
                      <a:r>
                        <a:rPr lang="ko-KR" altLang="en-US" sz="800" dirty="0" err="1"/>
                        <a:t>스피너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대기 단계는 빈 원으로 상태 구분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분석 완료 시 자동으로 탐지 결과 화면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4)</a:t>
                      </a:r>
                      <a:r>
                        <a:rPr lang="ko-KR" altLang="en-US" sz="800" dirty="0"/>
                        <a:t>으로 전환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0012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r>
                        <a:rPr lang="ko-KR" altLang="en-US" sz="800" b="1" dirty="0"/>
                        <a:t>탐지 결과 화면</a:t>
                      </a:r>
                      <a:endParaRPr lang="en-US" altLang="ko-KR" sz="800" b="1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사진 위에 탐지된 균열 위치를 </a:t>
                      </a:r>
                      <a:r>
                        <a:rPr lang="ko-KR" altLang="en-US" sz="800" dirty="0" err="1"/>
                        <a:t>바운딩박스로</a:t>
                      </a:r>
                      <a:r>
                        <a:rPr lang="ko-KR" altLang="en-US" sz="800" dirty="0"/>
                        <a:t> 오버레이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좌상단에 클래스명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신뢰도 표기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예</a:t>
                      </a:r>
                      <a:r>
                        <a:rPr lang="en-US" altLang="ko-KR" sz="800" dirty="0"/>
                        <a:t>: crack 0.56)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탐지된 결함 리스트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결함 유형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균열</a:t>
                      </a:r>
                      <a:r>
                        <a:rPr lang="en-US" altLang="ko-KR" sz="800" dirty="0"/>
                        <a:t>/Crack), </a:t>
                      </a:r>
                      <a:r>
                        <a:rPr lang="ko-KR" altLang="en-US" sz="800" dirty="0"/>
                        <a:t>신뢰도</a:t>
                      </a:r>
                      <a:r>
                        <a:rPr lang="en-US" altLang="ko-KR" sz="800" dirty="0"/>
                        <a:t>(%), </a:t>
                      </a:r>
                      <a:r>
                        <a:rPr lang="ko-KR" altLang="en-US" sz="800" dirty="0"/>
                        <a:t>폭</a:t>
                      </a:r>
                      <a:r>
                        <a:rPr lang="en-US" altLang="ko-KR" sz="800" dirty="0"/>
                        <a:t>(mm), </a:t>
                      </a:r>
                      <a:r>
                        <a:rPr lang="ko-KR" altLang="en-US" sz="800" dirty="0"/>
                        <a:t>심각도</a:t>
                      </a:r>
                      <a:r>
                        <a:rPr lang="en-US" altLang="ko-KR" sz="800" dirty="0"/>
                        <a:t>(low/medium/high)</a:t>
                      </a:r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하단 요약 카드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최대 균열 폭</a:t>
                      </a:r>
                      <a:r>
                        <a:rPr lang="en-US" altLang="ko-KR" sz="800" dirty="0"/>
                        <a:t>(mm)</a:t>
                      </a:r>
                      <a:r>
                        <a:rPr lang="ko-KR" altLang="en-US" sz="800" dirty="0"/>
                        <a:t>과 안전등급</a:t>
                      </a:r>
                      <a:r>
                        <a:rPr lang="en-US" altLang="ko-KR" sz="800" dirty="0"/>
                        <a:t>(A~E), </a:t>
                      </a:r>
                      <a:r>
                        <a:rPr lang="ko-KR" altLang="en-US" sz="800" dirty="0"/>
                        <a:t>판정 사유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신뢰도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기준치 대비 초과 여부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텍스트로 표시 </a:t>
                      </a:r>
                      <a:endParaRPr lang="en-US" altLang="ko-KR" sz="800" dirty="0"/>
                    </a:p>
                    <a:p>
                      <a:pPr marL="173037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재촬영</a:t>
                      </a:r>
                      <a:r>
                        <a:rPr lang="en-US" altLang="ko-KR" sz="800" dirty="0"/>
                        <a:t>] / [</a:t>
                      </a:r>
                      <a:r>
                        <a:rPr lang="ko-KR" altLang="en-US" sz="800" dirty="0"/>
                        <a:t>프로젝트로 이동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재촬영은 카메라 화면으로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프로젝트로 이동은 프로젝트 상세 화면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구역별 현황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en-US" sz="800" dirty="0"/>
                        <a:t>으로 복귀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1835696" y="5013176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cxnSp>
        <p:nvCxnSpPr>
          <p:cNvPr id="83" name="AutoShape 162"/>
          <p:cNvCxnSpPr>
            <a:cxnSpLocks noChangeShapeType="1"/>
          </p:cNvCxnSpPr>
          <p:nvPr/>
        </p:nvCxnSpPr>
        <p:spPr bwMode="auto">
          <a:xfrm>
            <a:off x="2057116" y="5517232"/>
            <a:ext cx="354644" cy="306388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1835696" y="5371928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sp>
        <p:nvSpPr>
          <p:cNvPr id="88" name="Oval 167"/>
          <p:cNvSpPr>
            <a:spLocks noChangeArrowheads="1"/>
          </p:cNvSpPr>
          <p:nvPr/>
        </p:nvSpPr>
        <p:spPr bwMode="auto">
          <a:xfrm>
            <a:off x="6344766" y="162880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4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화면 설계서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90" name="Oval 161">
            <a:extLst>
              <a:ext uri="{FF2B5EF4-FFF2-40B4-BE49-F238E27FC236}">
                <a16:creationId xmlns:a16="http://schemas.microsoft.com/office/drawing/2014/main" id="{07915662-EC87-4273-991B-D9695CB0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162880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sp>
        <p:nvSpPr>
          <p:cNvPr id="22" name="Text Box 100">
            <a:extLst>
              <a:ext uri="{FF2B5EF4-FFF2-40B4-BE49-F238E27FC236}">
                <a16:creationId xmlns:a16="http://schemas.microsoft.com/office/drawing/2014/main" id="{DD458203-8EC0-47B7-ADDC-BC9759B8F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0" y="1196752"/>
            <a:ext cx="92075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marL="179388" indent="-179388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350"/>
              </a:spcBef>
              <a:buClr>
                <a:srgbClr val="FF0000"/>
              </a:buClr>
              <a:buFont typeface="Wingdings" pitchFamily="2" charset="2"/>
              <a:buChar char=""/>
            </a:pP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촬영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/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분석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로딩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탐지 결과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보고서 생성</a:t>
            </a:r>
            <a:endParaRPr lang="ko-KR" altLang="ko-KR" sz="1400" dirty="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cxnSp>
        <p:nvCxnSpPr>
          <p:cNvPr id="31" name="AutoShape 162">
            <a:extLst>
              <a:ext uri="{FF2B5EF4-FFF2-40B4-BE49-F238E27FC236}">
                <a16:creationId xmlns:a16="http://schemas.microsoft.com/office/drawing/2014/main" id="{B21C6006-CAE8-4AD1-941C-5F65698915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1531" y="3573016"/>
            <a:ext cx="354644" cy="306388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03092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5359606-F14A-DDEC-A185-BDD0EFB4D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E81167B-355D-47DF-B1AA-5946619E3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06267"/>
            <a:ext cx="8496944" cy="553581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433121-681D-4833-9D37-83EF8D3F02EB}"/>
              </a:ext>
            </a:extLst>
          </p:cNvPr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 err="1"/>
              <a:t>CrackBot</a:t>
            </a:r>
            <a:r>
              <a:rPr dirty="0"/>
              <a:t> AI </a:t>
            </a:r>
            <a:r>
              <a:rPr lang="ko-KR" altLang="en-US" dirty="0"/>
              <a:t>메뉴 구성도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6768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API 엔드포인트 구성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375A2A-DA98-9997-0E24-F0F1B6CF56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AA9F48F-82A8-40F1-ABEE-0328137F0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353999"/>
            <a:ext cx="8964488" cy="5243353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887487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059406"/>
              </p:ext>
            </p:extLst>
          </p:nvPr>
        </p:nvGraphicFramePr>
        <p:xfrm>
          <a:off x="539552" y="1340768"/>
          <a:ext cx="7992888" cy="4538740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8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9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앱의 첫 화면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재실행 시 진입 화면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등록된 계정으로 로그인해 홈 화면으로 이동하는 기능이다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이메일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 인증에 성공하면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JWT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토큰을 발급받아 이후 모든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청에 사용한다</a:t>
                      </a:r>
                      <a:r>
                        <a:rPr lang="en-US" altLang="ko-KR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/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사용자가 이메일과 비밀번호를 입력한다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 필드가 모두 입력되기 전까지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버튼은 비활성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회색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상태를 유지한다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 탭 시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/v1/auth/login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호출한다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인증에 성공하면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Token/Refresh Token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저장하고 홈 화면으로 전환한다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인증에 실패하면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이메일 또는 비밀번호가 올바르지 않습니다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에러 메시지를 하단에 노출한다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5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 연속 로그인 실패 시 해당 계정을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분간 잠금 처리한다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 입력란 우측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텍스트를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탭하면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(●●●) ↔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평문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표기가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토글된다</a:t>
                      </a:r>
                      <a:r>
                        <a:rPr lang="en-US" altLang="ko-KR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연결되는 기능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홈 화면 진입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토큰 만료 시 자동 로그아웃 및 재로그인 유도</a:t>
                      </a:r>
                      <a:endParaRPr lang="ko-KR" altLang="en-US" sz="1050" b="0" dirty="0"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사용자 인증</a:t>
                      </a: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 err="1"/>
              <a:t>로그인</a:t>
            </a:r>
            <a:r>
              <a:rPr dirty="0"/>
              <a:t> / 홈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설계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F6C211D-7607-4363-8C5F-1A32C3A5F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99" y="1484784"/>
            <a:ext cx="200778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66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dirty="0"/>
              <a:t>로그인 </a:t>
            </a:r>
            <a:r>
              <a:rPr lang="en-US" altLang="ko-KR" dirty="0"/>
              <a:t>/ </a:t>
            </a:r>
            <a:r>
              <a:rPr lang="ko-KR" altLang="en-US" dirty="0"/>
              <a:t>홈 화면 설계</a:t>
            </a:r>
            <a:endParaRPr lang="ko-KR" altLang="en-US" sz="1600" b="1" i="1" dirty="0">
              <a:solidFill>
                <a:srgbClr val="FF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9C39D49-3147-4851-9D8B-317798869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710117"/>
              </p:ext>
            </p:extLst>
          </p:nvPr>
        </p:nvGraphicFramePr>
        <p:xfrm>
          <a:off x="1590675" y="1913384"/>
          <a:ext cx="5953125" cy="1371600"/>
        </p:xfrm>
        <a:graphic>
          <a:graphicData uri="http://schemas.openxmlformats.org/drawingml/2006/table">
            <a:tbl>
              <a:tblPr/>
              <a:tblGrid>
                <a:gridCol w="1019175">
                  <a:extLst>
                    <a:ext uri="{9D8B030D-6E8A-4147-A177-3AD203B41FA5}">
                      <a16:colId xmlns:a16="http://schemas.microsoft.com/office/drawing/2014/main" val="50910152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510317985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226778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입출력구분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항목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설명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3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이메일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사용자가 입력한 이메일 주소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형식 검증 포함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28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비밀번호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사용자가 입력한 비밀번호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(8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자 이상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078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Access/Refresh Token</a:t>
                      </a:r>
                      <a:endParaRPr 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인증 성공 시 발급되는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JWT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토큰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442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에러 메시지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인증 실패 시 화면 하단에 노출되는 안내 문구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89969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EB5D160-1210-4B69-A9B9-519CA3A17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943507"/>
              </p:ext>
            </p:extLst>
          </p:nvPr>
        </p:nvGraphicFramePr>
        <p:xfrm>
          <a:off x="1600200" y="4149080"/>
          <a:ext cx="5943598" cy="1127760"/>
        </p:xfrm>
        <a:graphic>
          <a:graphicData uri="http://schemas.openxmlformats.org/drawingml/2006/table">
            <a:tbl>
              <a:tblPr/>
              <a:tblGrid>
                <a:gridCol w="2224630">
                  <a:extLst>
                    <a:ext uri="{9D8B030D-6E8A-4147-A177-3AD203B41FA5}">
                      <a16:colId xmlns:a16="http://schemas.microsoft.com/office/drawing/2014/main" val="1072965363"/>
                    </a:ext>
                  </a:extLst>
                </a:gridCol>
                <a:gridCol w="3718968">
                  <a:extLst>
                    <a:ext uri="{9D8B030D-6E8A-4147-A177-3AD203B41FA5}">
                      <a16:colId xmlns:a16="http://schemas.microsoft.com/office/drawing/2014/main" val="3300710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기능명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예외사항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설명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843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이메일 형식이 올바르지 않은 경우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입력란 하단에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올바른 이메일 형식이 아닙니다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메시지 표시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로그인 버튼 비활성 유지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 연속 로그인 실패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계정을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분간 잠금 처리하고 잠금 해제 예상 시간을 안내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695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네트워크 오류로 요청 실패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네트워크 연결을 확인해주세요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토스트 노출 후 재시도 허용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419422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D93E12CC-3C07-4F23-9385-7469AC774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3717032"/>
            <a:ext cx="202651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▶ 선행필수기능 및 예외사항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79DEA6F6-2C26-4B74-B280-E8826D803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28" y="1556792"/>
            <a:ext cx="160332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/>
            <a:r>
              <a:rPr lang="ko-KR" altLang="ko-KR" sz="1100" b="1" dirty="0"/>
              <a:t>▶ 입출력 데이터 항목</a:t>
            </a:r>
            <a:endParaRPr lang="ko-KR" altLang="ko-KR" sz="1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65573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052349"/>
              </p:ext>
            </p:extLst>
          </p:nvPr>
        </p:nvGraphicFramePr>
        <p:xfrm>
          <a:off x="539552" y="1340768"/>
          <a:ext cx="7992888" cy="4538740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8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PROJ-01-02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프로젝트 생성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9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대상 건물에 대한 신규 점검 프로젝트를 등록하는 기능이다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건물명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기간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구역을 입력해 프로젝트를 생성하고 상세 화면으로 이동한다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br>
                        <a:rPr lang="ko-KR" altLang="en-US" sz="1050" dirty="0"/>
                      </a:b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프로젝트 목록 화면 우측 상단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[+]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버튼을 </a:t>
                      </a:r>
                      <a:r>
                        <a:rPr lang="ko-KR" altLang="en-US" sz="105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탭하면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새 프로젝트 생성 화면으로 이동한다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건물명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시작일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종료예정일을 입력한다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모두 필수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구역은 태그 형태로 다중 등록하며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'+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신규 구역명을 직접 입력할 수 있다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항목이 모두 입력되기 전까지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생성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버튼은 비활성 상태를 유지한다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생성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 탭 시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/v1/projects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호출한다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 성공 시 해당 프로젝트의 상세 화면으로 자동 이동하며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상태는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예정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초기화된다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연결되는 기능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상세 화면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구역 이름 중복 등록 방지 로직 필요</a:t>
                      </a:r>
                      <a:endParaRPr lang="ko-KR" altLang="en-US" sz="1050" b="0" dirty="0"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점검 프로젝트 관리</a:t>
                      </a: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dirty="0"/>
              <a:t>프로젝트 화면 설계</a:t>
            </a:r>
            <a:endParaRPr lang="ko-KR" altLang="en-US" sz="1600" b="1" i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44DC6D6-1D63-4A56-B4D3-53EBB1581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12776"/>
            <a:ext cx="2015893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18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 err="1"/>
              <a:t>프로젝트</a:t>
            </a:r>
            <a:r>
              <a:rPr lang="en-US" altLang="ko-KR" dirty="0"/>
              <a:t> </a:t>
            </a:r>
            <a:r>
              <a:rPr lang="ko-KR" altLang="en-US" dirty="0"/>
              <a:t>화면</a:t>
            </a:r>
            <a:r>
              <a:rPr dirty="0"/>
              <a:t> </a:t>
            </a:r>
            <a:r>
              <a:rPr dirty="0" err="1"/>
              <a:t>설계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D93E12CC-3C07-4F23-9385-7469AC774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3717032"/>
            <a:ext cx="202651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▶ 선행필수기능 및 예외사항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79DEA6F6-2C26-4B74-B280-E8826D803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1556792"/>
            <a:ext cx="160332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/>
            <a:r>
              <a:rPr lang="ko-KR" altLang="ko-KR" sz="1100" b="1" dirty="0"/>
              <a:t>▶ 입출력 데이터 항목</a:t>
            </a:r>
            <a:endParaRPr lang="ko-KR" altLang="ko-KR" sz="1100" dirty="0">
              <a:effectLst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52FA44C-51B9-42EF-A6A0-C05A1C1EB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00172"/>
              </p:ext>
            </p:extLst>
          </p:nvPr>
        </p:nvGraphicFramePr>
        <p:xfrm>
          <a:off x="1595437" y="1844824"/>
          <a:ext cx="5953125" cy="1219200"/>
        </p:xfrm>
        <a:graphic>
          <a:graphicData uri="http://schemas.openxmlformats.org/drawingml/2006/table">
            <a:tbl>
              <a:tblPr/>
              <a:tblGrid>
                <a:gridCol w="1019175">
                  <a:extLst>
                    <a:ext uri="{9D8B030D-6E8A-4147-A177-3AD203B41FA5}">
                      <a16:colId xmlns:a16="http://schemas.microsoft.com/office/drawing/2014/main" val="50815767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638787048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877664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입출력구분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항목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설명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391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건물명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주소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점검 대상 건물의 명칭과 주소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텍스트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2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시작일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종료예정일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점검 기간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날짜 선택기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356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점검 구역 태그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다중 등록 가능한 구역명 목록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예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 A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구역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B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구역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377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프로젝트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생성된 프로젝트의 고유 식별자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상세 화면 진입에 사용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85987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BF8589-A75C-4479-A5C2-8DD7EB7B4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668194"/>
              </p:ext>
            </p:extLst>
          </p:nvPr>
        </p:nvGraphicFramePr>
        <p:xfrm>
          <a:off x="1600200" y="4012664"/>
          <a:ext cx="5943599" cy="1280160"/>
        </p:xfrm>
        <a:graphic>
          <a:graphicData uri="http://schemas.openxmlformats.org/drawingml/2006/table">
            <a:tbl>
              <a:tblPr/>
              <a:tblGrid>
                <a:gridCol w="2339698">
                  <a:extLst>
                    <a:ext uri="{9D8B030D-6E8A-4147-A177-3AD203B41FA5}">
                      <a16:colId xmlns:a16="http://schemas.microsoft.com/office/drawing/2014/main" val="1937858446"/>
                    </a:ext>
                  </a:extLst>
                </a:gridCol>
                <a:gridCol w="3603901">
                  <a:extLst>
                    <a:ext uri="{9D8B030D-6E8A-4147-A177-3AD203B41FA5}">
                      <a16:colId xmlns:a16="http://schemas.microsoft.com/office/drawing/2014/main" val="10305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기능명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예외사항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설명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860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필수 항목 미입력 상태로 생성 시도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[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프로젝트 생성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]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버튼이 비활성 상태이므로 요청 자체가 발생하지 않음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506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종료예정일이 시작일보다 빠른 경우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날짜 입력란 하단에 오류 메시지 표시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저장 불가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99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동일 주소의 진행 중 프로젝트가 이미 존재하는 경우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기존 프로젝트로 이동할지 신규 생성할지 확인하는 팝업 노출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159059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AEF101E3-9F6C-4977-8753-F3431B80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1464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8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848075"/>
              </p:ext>
            </p:extLst>
          </p:nvPr>
        </p:nvGraphicFramePr>
        <p:xfrm>
          <a:off x="539552" y="1340768"/>
          <a:ext cx="7992888" cy="4538740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8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균열 탐지 실행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9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촬영하거나 업로드한 사진을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YOLOv8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모델로 분석해 균열 위치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크기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심각도를 자동 탐지하는 기능이다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분석이 완료되면 결과가 프로젝트에 자동 저장되고 안전등급 산정에 반영된다</a:t>
                      </a:r>
                      <a:r>
                        <a:rPr lang="en-US" altLang="ko-KR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촬영 화면에서 점검구역을 선택하고 사진을 촬영하거나 갤러리에서 불러온다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[AI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 시작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 탭 시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/v1/photos/detect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호출한다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로딩 화면에서 이미지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객체 탐지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(YOLO) →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균열 폭 측정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(OpenCV) →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등급 판정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진행 상태를 표시한다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 완료 시 탐지 결과 화면으로 자동 전환되며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원본 사진 위에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바운딩박스와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클래스명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신뢰도가 </a:t>
                      </a:r>
                      <a:r>
                        <a:rPr lang="ko-KR" alt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오버레이된다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탐지된 균열 정보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위치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폭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유형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신뢰도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05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DefectDetection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테이블에 저장된다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탐지 결과를 기준으로 안전등급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(A~E)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자동 산정되어 </a:t>
                      </a:r>
                      <a:r>
                        <a:rPr lang="en-US" altLang="ko-KR" sz="105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SafetyGrade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테이블에 저장된다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ko-KR" altLang="en-US" sz="1050" dirty="0"/>
                      </a:br>
                      <a:endParaRPr lang="ko-KR" altLang="en-US" sz="1050" b="0" dirty="0"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연결되는 기능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탐지 결과 확인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안전등급 확인</a:t>
                      </a:r>
                      <a:endParaRPr lang="ko-KR" altLang="en-US" sz="105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 분석 처리 시간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 이내</a:t>
                      </a:r>
                      <a:endParaRPr lang="ko-KR" altLang="en-US" sz="1050" b="0" dirty="0"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AI </a:t>
                      </a:r>
                      <a:r>
                        <a:rPr lang="ko-KR" altLang="en-US" sz="1050" dirty="0"/>
                        <a:t>균열 탐지</a:t>
                      </a: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en-US" altLang="ko-KR" dirty="0"/>
              <a:t>AI</a:t>
            </a:r>
            <a:r>
              <a:rPr lang="ko-KR" altLang="en-US" dirty="0"/>
              <a:t>분석 화면 설계</a:t>
            </a:r>
            <a:endParaRPr lang="ko-KR" altLang="en-US" sz="1600" b="1" i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E1D323F-31B0-4B1C-9031-3D3C888ED8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99964"/>
            <a:ext cx="187220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59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en-US" altLang="ko-KR" dirty="0"/>
              <a:t>AI</a:t>
            </a:r>
            <a:r>
              <a:rPr lang="ko-KR" altLang="en-US" dirty="0"/>
              <a:t>분석 화면 설계</a:t>
            </a:r>
            <a:endParaRPr lang="ko-KR" altLang="en-US" sz="1600" b="1" i="1" dirty="0">
              <a:solidFill>
                <a:srgbClr val="FF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D93E12CC-3C07-4F23-9385-7469AC774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3717032"/>
            <a:ext cx="202651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▶ 선행필수기능 및 예외사항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79DEA6F6-2C26-4B74-B280-E8826D803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1556792"/>
            <a:ext cx="160332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/>
            <a:r>
              <a:rPr lang="ko-KR" altLang="ko-KR" sz="1100" b="1" dirty="0"/>
              <a:t>▶ 입출력 데이터 항목</a:t>
            </a:r>
            <a:endParaRPr lang="ko-KR" altLang="ko-KR" sz="1100" dirty="0"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F101E3-9F6C-4977-8753-F3431B80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1464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DBB091-ADD3-429F-A0AB-A25F6830E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726814"/>
              </p:ext>
            </p:extLst>
          </p:nvPr>
        </p:nvGraphicFramePr>
        <p:xfrm>
          <a:off x="1595437" y="1849760"/>
          <a:ext cx="5953125" cy="1219200"/>
        </p:xfrm>
        <a:graphic>
          <a:graphicData uri="http://schemas.openxmlformats.org/drawingml/2006/table">
            <a:tbl>
              <a:tblPr/>
              <a:tblGrid>
                <a:gridCol w="1019175">
                  <a:extLst>
                    <a:ext uri="{9D8B030D-6E8A-4147-A177-3AD203B41FA5}">
                      <a16:colId xmlns:a16="http://schemas.microsoft.com/office/drawing/2014/main" val="2974577294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404220904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38318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입출력구분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항목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설명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811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사진 이미지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촬영 또는 업로드된 원본 사진 파일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681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입력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점검구역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분석 결과를 매칭할 구역 정보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31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탐지 결과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균열 위치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바운딩박스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폭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(mm),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신뢰도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(%),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심각도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67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출력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안전등급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구역별로 산정된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A~E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등급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83595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F994002-73D6-46DB-80A8-5D643C851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606766"/>
              </p:ext>
            </p:extLst>
          </p:nvPr>
        </p:nvGraphicFramePr>
        <p:xfrm>
          <a:off x="1580728" y="4005064"/>
          <a:ext cx="5943599" cy="1280160"/>
        </p:xfrm>
        <a:graphic>
          <a:graphicData uri="http://schemas.openxmlformats.org/drawingml/2006/table">
            <a:tbl>
              <a:tblPr/>
              <a:tblGrid>
                <a:gridCol w="2362711">
                  <a:extLst>
                    <a:ext uri="{9D8B030D-6E8A-4147-A177-3AD203B41FA5}">
                      <a16:colId xmlns:a16="http://schemas.microsoft.com/office/drawing/2014/main" val="2013189261"/>
                    </a:ext>
                  </a:extLst>
                </a:gridCol>
                <a:gridCol w="3580888">
                  <a:extLst>
                    <a:ext uri="{9D8B030D-6E8A-4147-A177-3AD203B41FA5}">
                      <a16:colId xmlns:a16="http://schemas.microsoft.com/office/drawing/2014/main" val="1018085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기능명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예외사항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설명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216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이미지 화질이 낮아 분석이 불가능한 경우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재촬영이 필요합니다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메시지와 함께 촬영 화면으로 재안내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184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분석 처리 시간이 기준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예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 30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초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을 초과하는 경우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대기열에 재등록하고 완료 시 별도 알림으로 안내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3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탐지된 균열이 없는 경우</a:t>
                      </a:r>
                      <a:endParaRPr lang="ko-KR" altLang="en-US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이상 없음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"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으로 표시하고 안전등급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A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로 자동 산정</a:t>
                      </a:r>
                      <a:endParaRPr lang="ko-KR" altLang="en-US" dirty="0">
                        <a:effectLst/>
                      </a:endParaRPr>
                    </a:p>
                  </a:txBody>
                  <a:tcPr marL="73025" marR="730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04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274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dirty="0"/>
              <a:t>화면 흐름도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7511D3-092B-0E5E-ADB8-4B746E2E6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제목 12">
            <a:extLst>
              <a:ext uri="{FF2B5EF4-FFF2-40B4-BE49-F238E27FC236}">
                <a16:creationId xmlns:a16="http://schemas.microsoft.com/office/drawing/2014/main" id="{F073248A-68DC-126C-08AC-5D561EF158D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4EA8AB-4EF8-45A4-A30C-336E623C3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6" y="1473868"/>
            <a:ext cx="8820472" cy="476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43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엔티티 관계도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ERD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311E42-8094-1ED2-BF9F-D52B09934D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E6DC794-B03A-4759-BBB4-36D8CF857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257726"/>
            <a:ext cx="8944382" cy="512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13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처리도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흐름도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AI 균열 탐지 기능 흐름도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31150"/>
              </p:ext>
            </p:extLst>
          </p:nvPr>
        </p:nvGraphicFramePr>
        <p:xfrm>
          <a:off x="168879" y="2132856"/>
          <a:ext cx="8848773" cy="40840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기능 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606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  클라이언트가 업로드한 이미지를 수신하여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 → RGB → NumPy → BGR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순서로 전처리한 뒤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YOLO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모델에 입력해 추론을 실행한다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  추론 결과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results.boxes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순회하며 신뢰도로 심각도를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bbox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균열 폭을 계산해 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DefectDetection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객체를 생성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저장한다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순회가 끝나면 시각화 이미지를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Base64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인코딩해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응답한다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684901"/>
              </p:ext>
            </p:extLst>
          </p:nvPr>
        </p:nvGraphicFramePr>
        <p:xfrm>
          <a:off x="168879" y="1398060"/>
          <a:ext cx="8865668" cy="764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1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DETECT-01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프로그램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균열 탐지 프로그램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2026. 07. 01.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3B5AA8"/>
                          </a:solidFill>
                        </a:rPr>
                        <a:t>Page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rgbClr val="3B5AA8"/>
                          </a:solidFill>
                          <a:latin typeface="+mn-lt"/>
                          <a:ea typeface="+mn-ea"/>
                          <a:cs typeface="+mn-cs"/>
                        </a:rPr>
                        <a:t>1/2</a:t>
                      </a:r>
                      <a:endParaRPr lang="ko-KR" altLang="en-US" sz="1000" b="1" kern="1200" dirty="0">
                        <a:solidFill>
                          <a:srgbClr val="3B5AA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3B5AA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촬영된 건축물 사진을 업로드하면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YOLOv8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모델로 균열을 탐지하고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신뢰도와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바운딩박스를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기반으로 심각도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균열 폭을 계산해 결과를 반환하는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 프로그램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DDFED18E-A586-1B3B-5C6C-55B5407DD4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D7C044-4E7C-4108-B093-E9A5E6F42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53187"/>
            <a:ext cx="6696744" cy="32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88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처리도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흐름도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AI 균열 탐지 기능 흐름도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2366"/>
              </p:ext>
            </p:extLst>
          </p:nvPr>
        </p:nvGraphicFramePr>
        <p:xfrm>
          <a:off x="168879" y="2132856"/>
          <a:ext cx="8848773" cy="40840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기능 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606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  클라이언트가 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project_id·format·template_type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담아 보고서 생성을 요청한다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  서버는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레코드를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status=pending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생성하고 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BackgroundTasks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작업을 등록한 뒤 즉시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응답을 반환한다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  백그라운드 작업은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status=processing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갱신하고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gather_data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프로젝트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건물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구역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탐지 데이터를 집계한다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값에 따라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PDF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ReportLab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DOCX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python-docx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각각 파일을 생성한다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  파일 생성이 끝나면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status=completed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갱신하고 </a:t>
                      </a:r>
                      <a:r>
                        <a:rPr lang="en-US" altLang="ko-KR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file_path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저장한다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 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프론트엔드는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/v1/reports/{id}/status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 간격으로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폴링하다가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확인되면 다운로드 링크를 표시한다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457484"/>
              </p:ext>
            </p:extLst>
          </p:nvPr>
        </p:nvGraphicFramePr>
        <p:xfrm>
          <a:off x="168879" y="1398060"/>
          <a:ext cx="8865668" cy="764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1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REPORT-01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프로그램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보고서 생성 프로그램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2026. 07. 01.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3B5AA8"/>
                          </a:solidFill>
                        </a:rPr>
                        <a:t>Page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rgbClr val="3B5AA8"/>
                          </a:solidFill>
                          <a:latin typeface="+mn-lt"/>
                          <a:ea typeface="+mn-ea"/>
                          <a:cs typeface="+mn-cs"/>
                        </a:rPr>
                        <a:t>2/2</a:t>
                      </a:r>
                      <a:endParaRPr lang="ko-KR" altLang="en-US" sz="1000" b="1" kern="1200" dirty="0">
                        <a:solidFill>
                          <a:srgbClr val="3B5AA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3B5AA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프로젝트의 탐지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등급 데이터를 취합해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PDF/DOCX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보고서를 비동기로 생성하고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프론트엔드는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폴링을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통해 완료 여부를 확인해 다운로드 링크를 제공받는 프로그램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DDFED18E-A586-1B3B-5C6C-55B5407DD4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702A43C-7904-452E-91BC-AE9AE89B7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436890"/>
            <a:ext cx="7794866" cy="27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734AFF-158A-07BF-BC18-52B3EA10F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63FE7A-46C5-4306-B3C8-E00D661A0FA3}"/>
              </a:ext>
            </a:extLst>
          </p:cNvPr>
          <p:cNvSpPr/>
          <p:nvPr/>
        </p:nvSpPr>
        <p:spPr>
          <a:xfrm>
            <a:off x="4572000" y="1472061"/>
            <a:ext cx="4291660" cy="43864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○  알고리즘 시나리오</a:t>
            </a:r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① </a:t>
            </a:r>
            <a:r>
              <a:rPr lang="en-US" altLang="ko-KR" sz="1000" dirty="0">
                <a:solidFill>
                  <a:schemeClr val="tx1"/>
                </a:solidFill>
              </a:rPr>
              <a:t>YOLOv8n(</a:t>
            </a:r>
            <a:r>
              <a:rPr lang="en-US" altLang="ko-KR" sz="1000" dirty="0" err="1">
                <a:solidFill>
                  <a:schemeClr val="tx1"/>
                </a:solidFill>
              </a:rPr>
              <a:t>nano</a:t>
            </a:r>
            <a:r>
              <a:rPr lang="en-US" altLang="ko-KR" sz="1000" dirty="0">
                <a:solidFill>
                  <a:schemeClr val="tx1"/>
                </a:solidFill>
              </a:rPr>
              <a:t>) </a:t>
            </a:r>
            <a:r>
              <a:rPr lang="ko-KR" altLang="en-US" sz="1000" dirty="0">
                <a:solidFill>
                  <a:schemeClr val="tx1"/>
                </a:solidFill>
              </a:rPr>
              <a:t>모델을 사용해 실시간 단일 스테이지 방식으로 이미지에서 균열을 탐지한다</a:t>
            </a:r>
            <a:r>
              <a:rPr lang="en-US" altLang="ko-KR" sz="1000" dirty="0">
                <a:solidFill>
                  <a:schemeClr val="tx1"/>
                </a:solidFill>
              </a:rPr>
              <a:t>. </a:t>
            </a:r>
            <a:r>
              <a:rPr lang="ko-KR" altLang="en-US" sz="1000" dirty="0">
                <a:solidFill>
                  <a:schemeClr val="tx1"/>
                </a:solidFill>
              </a:rPr>
              <a:t>입력은 임의 해상도의 </a:t>
            </a:r>
            <a:r>
              <a:rPr lang="en-US" altLang="ko-KR" sz="1000" dirty="0">
                <a:solidFill>
                  <a:schemeClr val="tx1"/>
                </a:solidFill>
              </a:rPr>
              <a:t>RGB </a:t>
            </a:r>
            <a:r>
              <a:rPr lang="ko-KR" altLang="en-US" sz="1000" dirty="0">
                <a:solidFill>
                  <a:schemeClr val="tx1"/>
                </a:solidFill>
              </a:rPr>
              <a:t>이미지이며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출력은 </a:t>
            </a:r>
            <a:r>
              <a:rPr lang="ko-KR" altLang="en-US" sz="1000" dirty="0" err="1">
                <a:solidFill>
                  <a:schemeClr val="tx1"/>
                </a:solidFill>
              </a:rPr>
              <a:t>바운딩박스</a:t>
            </a:r>
            <a:r>
              <a:rPr lang="ko-KR" altLang="en-US" sz="1000" dirty="0">
                <a:solidFill>
                  <a:schemeClr val="tx1"/>
                </a:solidFill>
              </a:rPr>
              <a:t> 좌표</a:t>
            </a:r>
            <a:r>
              <a:rPr lang="en-US" altLang="ko-KR" sz="1000" dirty="0">
                <a:solidFill>
                  <a:schemeClr val="tx1"/>
                </a:solidFill>
              </a:rPr>
              <a:t>(x1,y1,x2,y2), </a:t>
            </a:r>
            <a:r>
              <a:rPr lang="ko-KR" altLang="en-US" sz="1000" dirty="0">
                <a:solidFill>
                  <a:schemeClr val="tx1"/>
                </a:solidFill>
              </a:rPr>
              <a:t>클래스</a:t>
            </a:r>
            <a:r>
              <a:rPr lang="en-US" altLang="ko-KR" sz="1000" dirty="0">
                <a:solidFill>
                  <a:schemeClr val="tx1"/>
                </a:solidFill>
              </a:rPr>
              <a:t>(Crack), </a:t>
            </a:r>
            <a:r>
              <a:rPr lang="ko-KR" altLang="en-US" sz="1000" dirty="0">
                <a:solidFill>
                  <a:schemeClr val="tx1"/>
                </a:solidFill>
              </a:rPr>
              <a:t>신뢰도</a:t>
            </a:r>
            <a:r>
              <a:rPr lang="en-US" altLang="ko-KR" sz="1000" dirty="0">
                <a:solidFill>
                  <a:schemeClr val="tx1"/>
                </a:solidFill>
              </a:rPr>
              <a:t>(0~1)</a:t>
            </a:r>
            <a:r>
              <a:rPr lang="ko-KR" altLang="en-US" sz="1000" dirty="0">
                <a:solidFill>
                  <a:schemeClr val="tx1"/>
                </a:solidFill>
              </a:rPr>
              <a:t>이다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② </a:t>
            </a:r>
            <a:r>
              <a:rPr lang="ko-KR" altLang="en-US" sz="1000" dirty="0">
                <a:solidFill>
                  <a:schemeClr val="tx1"/>
                </a:solidFill>
              </a:rPr>
              <a:t>모델은 </a:t>
            </a:r>
            <a:r>
              <a:rPr lang="en-US" altLang="ko-KR" sz="1000" dirty="0">
                <a:solidFill>
                  <a:schemeClr val="tx1"/>
                </a:solidFill>
              </a:rPr>
              <a:t>COCO </a:t>
            </a:r>
            <a:r>
              <a:rPr lang="ko-KR" altLang="en-US" sz="1000" dirty="0">
                <a:solidFill>
                  <a:schemeClr val="tx1"/>
                </a:solidFill>
              </a:rPr>
              <a:t>데이터셋</a:t>
            </a:r>
            <a:r>
              <a:rPr lang="en-US" altLang="ko-KR" sz="1000" dirty="0">
                <a:solidFill>
                  <a:schemeClr val="tx1"/>
                </a:solidFill>
              </a:rPr>
              <a:t>(80</a:t>
            </a:r>
            <a:r>
              <a:rPr lang="ko-KR" altLang="en-US" sz="1000" dirty="0">
                <a:solidFill>
                  <a:schemeClr val="tx1"/>
                </a:solidFill>
              </a:rPr>
              <a:t>클래스 일반 객체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으로 사전 학습된 가중치를 기반으로 전이 학습</a:t>
            </a:r>
            <a:r>
              <a:rPr lang="en-US" altLang="ko-KR" sz="1000" dirty="0">
                <a:solidFill>
                  <a:schemeClr val="tx1"/>
                </a:solidFill>
              </a:rPr>
              <a:t>(Transfer Learning)</a:t>
            </a:r>
            <a:r>
              <a:rPr lang="ko-KR" altLang="en-US" sz="1000" dirty="0">
                <a:solidFill>
                  <a:schemeClr val="tx1"/>
                </a:solidFill>
              </a:rPr>
              <a:t>을 수행한다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③ </a:t>
            </a:r>
            <a:r>
              <a:rPr lang="en-US" altLang="ko-KR" sz="1000" dirty="0" err="1">
                <a:solidFill>
                  <a:schemeClr val="tx1"/>
                </a:solidFill>
              </a:rPr>
              <a:t>Roboflow</a:t>
            </a:r>
            <a:r>
              <a:rPr lang="ko-KR" altLang="en-US" sz="1000" dirty="0">
                <a:solidFill>
                  <a:schemeClr val="tx1"/>
                </a:solidFill>
              </a:rPr>
              <a:t>에서 수집한 균열 데이터셋 </a:t>
            </a:r>
            <a:r>
              <a:rPr lang="en-US" altLang="ko-KR" sz="1000" dirty="0">
                <a:solidFill>
                  <a:schemeClr val="tx1"/>
                </a:solidFill>
              </a:rPr>
              <a:t>1,350</a:t>
            </a:r>
            <a:r>
              <a:rPr lang="ko-KR" altLang="en-US" sz="1000" dirty="0">
                <a:solidFill>
                  <a:schemeClr val="tx1"/>
                </a:solidFill>
              </a:rPr>
              <a:t>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학습 </a:t>
            </a:r>
            <a:r>
              <a:rPr lang="en-US" altLang="ko-KR" sz="1000" dirty="0">
                <a:solidFill>
                  <a:schemeClr val="tx1"/>
                </a:solidFill>
              </a:rPr>
              <a:t>974</a:t>
            </a:r>
            <a:r>
              <a:rPr lang="ko-KR" altLang="en-US" sz="1000" dirty="0">
                <a:solidFill>
                  <a:schemeClr val="tx1"/>
                </a:solidFill>
              </a:rPr>
              <a:t>장 </a:t>
            </a:r>
            <a:r>
              <a:rPr lang="en-US" altLang="ko-KR" sz="1000" dirty="0">
                <a:solidFill>
                  <a:schemeClr val="tx1"/>
                </a:solidFill>
              </a:rPr>
              <a:t>/ </a:t>
            </a:r>
            <a:r>
              <a:rPr lang="ko-KR" altLang="en-US" sz="1000" dirty="0">
                <a:solidFill>
                  <a:schemeClr val="tx1"/>
                </a:solidFill>
              </a:rPr>
              <a:t>검증 </a:t>
            </a:r>
            <a:r>
              <a:rPr lang="en-US" altLang="ko-KR" sz="1000" dirty="0">
                <a:solidFill>
                  <a:schemeClr val="tx1"/>
                </a:solidFill>
              </a:rPr>
              <a:t>190</a:t>
            </a:r>
            <a:r>
              <a:rPr lang="ko-KR" altLang="en-US" sz="1000" dirty="0">
                <a:solidFill>
                  <a:schemeClr val="tx1"/>
                </a:solidFill>
              </a:rPr>
              <a:t>장 </a:t>
            </a:r>
            <a:r>
              <a:rPr lang="en-US" altLang="ko-KR" sz="1000" dirty="0">
                <a:solidFill>
                  <a:schemeClr val="tx1"/>
                </a:solidFill>
              </a:rPr>
              <a:t>/ </a:t>
            </a:r>
            <a:r>
              <a:rPr lang="ko-KR" altLang="en-US" sz="1000" dirty="0">
                <a:solidFill>
                  <a:schemeClr val="tx1"/>
                </a:solidFill>
              </a:rPr>
              <a:t>테스트 </a:t>
            </a:r>
            <a:r>
              <a:rPr lang="en-US" altLang="ko-KR" sz="1000" dirty="0">
                <a:solidFill>
                  <a:schemeClr val="tx1"/>
                </a:solidFill>
              </a:rPr>
              <a:t>186</a:t>
            </a:r>
            <a:r>
              <a:rPr lang="ko-KR" altLang="en-US" sz="1000" dirty="0">
                <a:solidFill>
                  <a:schemeClr val="tx1"/>
                </a:solidFill>
              </a:rPr>
              <a:t>장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으로 </a:t>
            </a:r>
            <a:r>
              <a:rPr lang="ko-KR" altLang="en-US" sz="1000" dirty="0" err="1">
                <a:solidFill>
                  <a:schemeClr val="tx1"/>
                </a:solidFill>
              </a:rPr>
              <a:t>파인튜닝하며</a:t>
            </a:r>
            <a:r>
              <a:rPr lang="en-US" altLang="ko-KR" sz="1000" dirty="0">
                <a:solidFill>
                  <a:schemeClr val="tx1"/>
                </a:solidFill>
              </a:rPr>
              <a:t>, 50 </a:t>
            </a:r>
            <a:r>
              <a:rPr lang="ko-KR" altLang="en-US" sz="1000" dirty="0" err="1">
                <a:solidFill>
                  <a:schemeClr val="tx1"/>
                </a:solidFill>
              </a:rPr>
              <a:t>에포크</a:t>
            </a:r>
            <a:r>
              <a:rPr lang="ko-KR" altLang="en-US" sz="1000" dirty="0">
                <a:solidFill>
                  <a:schemeClr val="tx1"/>
                </a:solidFill>
              </a:rPr>
              <a:t> 학습 후 </a:t>
            </a:r>
            <a:r>
              <a:rPr lang="en-US" altLang="ko-KR" sz="1000" dirty="0">
                <a:solidFill>
                  <a:schemeClr val="tx1"/>
                </a:solidFill>
              </a:rPr>
              <a:t>best.pt(train12) </a:t>
            </a:r>
            <a:r>
              <a:rPr lang="ko-KR" altLang="en-US" sz="1000" dirty="0">
                <a:solidFill>
                  <a:schemeClr val="tx1"/>
                </a:solidFill>
              </a:rPr>
              <a:t>가중치를 사용한다</a:t>
            </a:r>
            <a:r>
              <a:rPr lang="en-US" altLang="ko-KR" sz="1000" dirty="0">
                <a:solidFill>
                  <a:schemeClr val="tx1"/>
                </a:solidFill>
              </a:rPr>
              <a:t>. </a:t>
            </a:r>
            <a:r>
              <a:rPr lang="ko-KR" altLang="en-US" sz="1000" dirty="0">
                <a:solidFill>
                  <a:schemeClr val="tx1"/>
                </a:solidFill>
              </a:rPr>
              <a:t>최종 성능은 </a:t>
            </a:r>
            <a:r>
              <a:rPr lang="en-US" altLang="ko-KR" sz="1000" dirty="0">
                <a:solidFill>
                  <a:schemeClr val="tx1"/>
                </a:solidFill>
              </a:rPr>
              <a:t>mAP50 = 0.86</a:t>
            </a:r>
            <a:r>
              <a:rPr lang="ko-KR" altLang="en-US" sz="1000" dirty="0">
                <a:solidFill>
                  <a:schemeClr val="tx1"/>
                </a:solidFill>
              </a:rPr>
              <a:t>이다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④ </a:t>
            </a:r>
            <a:r>
              <a:rPr lang="ko-KR" altLang="en-US" sz="1000" dirty="0">
                <a:solidFill>
                  <a:schemeClr val="tx1"/>
                </a:solidFill>
              </a:rPr>
              <a:t>추론 결과 탐지된 객체가 없으면 결과 없음으로 종료하고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있으면 각 </a:t>
            </a:r>
            <a:r>
              <a:rPr lang="ko-KR" altLang="en-US" sz="1000" dirty="0" err="1">
                <a:solidFill>
                  <a:schemeClr val="tx1"/>
                </a:solidFill>
              </a:rPr>
              <a:t>바운딩박스를</a:t>
            </a:r>
            <a:r>
              <a:rPr lang="ko-KR" altLang="en-US" sz="1000" dirty="0">
                <a:solidFill>
                  <a:schemeClr val="tx1"/>
                </a:solidFill>
              </a:rPr>
              <a:t> 순회한다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⑤ </a:t>
            </a:r>
            <a:r>
              <a:rPr lang="ko-KR" altLang="en-US" sz="1000" dirty="0">
                <a:solidFill>
                  <a:schemeClr val="tx1"/>
                </a:solidFill>
              </a:rPr>
              <a:t>각 박스의 신뢰도</a:t>
            </a:r>
            <a:r>
              <a:rPr lang="en-US" altLang="ko-KR" sz="1000" dirty="0">
                <a:solidFill>
                  <a:schemeClr val="tx1"/>
                </a:solidFill>
              </a:rPr>
              <a:t>(confidence)</a:t>
            </a:r>
            <a:r>
              <a:rPr lang="ko-KR" altLang="en-US" sz="1000" dirty="0">
                <a:solidFill>
                  <a:schemeClr val="tx1"/>
                </a:solidFill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</a:rPr>
              <a:t>0.85 </a:t>
            </a:r>
            <a:r>
              <a:rPr lang="ko-KR" altLang="en-US" sz="1000" dirty="0">
                <a:solidFill>
                  <a:schemeClr val="tx1"/>
                </a:solidFill>
              </a:rPr>
              <a:t>이상이면 </a:t>
            </a:r>
            <a:r>
              <a:rPr lang="en-US" altLang="ko-KR" sz="1000" dirty="0">
                <a:solidFill>
                  <a:schemeClr val="tx1"/>
                </a:solidFill>
              </a:rPr>
              <a:t>severity</a:t>
            </a:r>
            <a:r>
              <a:rPr lang="ko-KR" altLang="en-US" sz="1000" dirty="0">
                <a:solidFill>
                  <a:schemeClr val="tx1"/>
                </a:solidFill>
              </a:rPr>
              <a:t>를 </a:t>
            </a:r>
            <a:r>
              <a:rPr lang="en-US" altLang="ko-KR" sz="1000" dirty="0">
                <a:solidFill>
                  <a:schemeClr val="tx1"/>
                </a:solidFill>
              </a:rPr>
              <a:t>'critical'</a:t>
            </a:r>
            <a:r>
              <a:rPr lang="ko-KR" altLang="en-US" sz="1000" dirty="0">
                <a:solidFill>
                  <a:schemeClr val="tx1"/>
                </a:solidFill>
              </a:rPr>
              <a:t>로 분류한다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⑥ </a:t>
            </a:r>
            <a:r>
              <a:rPr lang="en-US" altLang="ko-KR" sz="1000" dirty="0">
                <a:solidFill>
                  <a:schemeClr val="tx1"/>
                </a:solidFill>
              </a:rPr>
              <a:t>confidence</a:t>
            </a:r>
            <a:r>
              <a:rPr lang="ko-KR" altLang="en-US" sz="1000" dirty="0">
                <a:solidFill>
                  <a:schemeClr val="tx1"/>
                </a:solidFill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</a:rPr>
              <a:t>0.70 </a:t>
            </a:r>
            <a:r>
              <a:rPr lang="ko-KR" altLang="en-US" sz="1000" dirty="0">
                <a:solidFill>
                  <a:schemeClr val="tx1"/>
                </a:solidFill>
              </a:rPr>
              <a:t>이상 </a:t>
            </a:r>
            <a:r>
              <a:rPr lang="en-US" altLang="ko-KR" sz="1000" dirty="0">
                <a:solidFill>
                  <a:schemeClr val="tx1"/>
                </a:solidFill>
              </a:rPr>
              <a:t>0.85 </a:t>
            </a:r>
            <a:r>
              <a:rPr lang="ko-KR" altLang="en-US" sz="1000" dirty="0">
                <a:solidFill>
                  <a:schemeClr val="tx1"/>
                </a:solidFill>
              </a:rPr>
              <a:t>미만이면 </a:t>
            </a:r>
            <a:r>
              <a:rPr lang="en-US" altLang="ko-KR" sz="1000" dirty="0">
                <a:solidFill>
                  <a:schemeClr val="tx1"/>
                </a:solidFill>
              </a:rPr>
              <a:t>'high'</a:t>
            </a:r>
            <a:r>
              <a:rPr lang="ko-KR" altLang="en-US" sz="1000" dirty="0">
                <a:solidFill>
                  <a:schemeClr val="tx1"/>
                </a:solidFill>
              </a:rPr>
              <a:t>로 분류한다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⑦ </a:t>
            </a:r>
            <a:r>
              <a:rPr lang="en-US" altLang="ko-KR" sz="1000" dirty="0">
                <a:solidFill>
                  <a:schemeClr val="tx1"/>
                </a:solidFill>
              </a:rPr>
              <a:t>confidence</a:t>
            </a:r>
            <a:r>
              <a:rPr lang="ko-KR" altLang="en-US" sz="1000" dirty="0">
                <a:solidFill>
                  <a:schemeClr val="tx1"/>
                </a:solidFill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</a:rPr>
              <a:t>0.50 </a:t>
            </a:r>
            <a:r>
              <a:rPr lang="ko-KR" altLang="en-US" sz="1000" dirty="0">
                <a:solidFill>
                  <a:schemeClr val="tx1"/>
                </a:solidFill>
              </a:rPr>
              <a:t>이상 </a:t>
            </a:r>
            <a:r>
              <a:rPr lang="en-US" altLang="ko-KR" sz="1000" dirty="0">
                <a:solidFill>
                  <a:schemeClr val="tx1"/>
                </a:solidFill>
              </a:rPr>
              <a:t>0.70 </a:t>
            </a:r>
            <a:r>
              <a:rPr lang="ko-KR" altLang="en-US" sz="1000" dirty="0">
                <a:solidFill>
                  <a:schemeClr val="tx1"/>
                </a:solidFill>
              </a:rPr>
              <a:t>미만이면 </a:t>
            </a:r>
            <a:r>
              <a:rPr lang="en-US" altLang="ko-KR" sz="1000" dirty="0">
                <a:solidFill>
                  <a:schemeClr val="tx1"/>
                </a:solidFill>
              </a:rPr>
              <a:t>'medium'</a:t>
            </a:r>
            <a:r>
              <a:rPr lang="ko-KR" altLang="en-US" sz="1000" dirty="0">
                <a:solidFill>
                  <a:schemeClr val="tx1"/>
                </a:solidFill>
              </a:rPr>
              <a:t>으로</a:t>
            </a:r>
            <a:r>
              <a:rPr lang="en-US" altLang="ko-KR" sz="1000" dirty="0">
                <a:solidFill>
                  <a:schemeClr val="tx1"/>
                </a:solidFill>
              </a:rPr>
              <a:t>, 0.50 </a:t>
            </a:r>
            <a:r>
              <a:rPr lang="ko-KR" altLang="en-US" sz="1000" dirty="0">
                <a:solidFill>
                  <a:schemeClr val="tx1"/>
                </a:solidFill>
              </a:rPr>
              <a:t>미만이면 </a:t>
            </a:r>
            <a:r>
              <a:rPr lang="en-US" altLang="ko-KR" sz="1000" dirty="0">
                <a:solidFill>
                  <a:schemeClr val="tx1"/>
                </a:solidFill>
              </a:rPr>
              <a:t>'low'</a:t>
            </a:r>
            <a:r>
              <a:rPr lang="ko-KR" altLang="en-US" sz="1000" dirty="0">
                <a:solidFill>
                  <a:schemeClr val="tx1"/>
                </a:solidFill>
              </a:rPr>
              <a:t>로 분류한다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⑧ </a:t>
            </a:r>
            <a:r>
              <a:rPr lang="ko-KR" altLang="en-US" sz="1000" dirty="0">
                <a:solidFill>
                  <a:schemeClr val="tx1"/>
                </a:solidFill>
              </a:rPr>
              <a:t>균열 너비는 </a:t>
            </a:r>
            <a:r>
              <a:rPr lang="ko-KR" altLang="en-US" sz="1000" dirty="0" err="1">
                <a:solidFill>
                  <a:schemeClr val="tx1"/>
                </a:solidFill>
              </a:rPr>
              <a:t>바운딩박스의</a:t>
            </a:r>
            <a:r>
              <a:rPr lang="ko-KR" altLang="en-US" sz="1000" dirty="0">
                <a:solidFill>
                  <a:schemeClr val="tx1"/>
                </a:solidFill>
              </a:rPr>
              <a:t> 너비와 높이 중 작은 값에 </a:t>
            </a:r>
            <a:r>
              <a:rPr lang="en-US" altLang="ko-KR" sz="1000" dirty="0">
                <a:solidFill>
                  <a:schemeClr val="tx1"/>
                </a:solidFill>
              </a:rPr>
              <a:t>0.1mm/px</a:t>
            </a:r>
            <a:r>
              <a:rPr lang="ko-KR" altLang="en-US" sz="1000" dirty="0">
                <a:solidFill>
                  <a:schemeClr val="tx1"/>
                </a:solidFill>
              </a:rPr>
              <a:t>를 곱하여 추정한다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r>
              <a:rPr lang="en-US" altLang="ko-KR" sz="1000" dirty="0" err="1">
                <a:solidFill>
                  <a:schemeClr val="tx1"/>
                </a:solidFill>
              </a:rPr>
              <a:t>crack_width_mm</a:t>
            </a:r>
            <a:r>
              <a:rPr lang="en-US" altLang="ko-KR" sz="1000" dirty="0">
                <a:solidFill>
                  <a:schemeClr val="tx1"/>
                </a:solidFill>
              </a:rPr>
              <a:t> = min(</a:t>
            </a:r>
            <a:r>
              <a:rPr lang="en-US" altLang="ko-KR" sz="1000" dirty="0" err="1">
                <a:solidFill>
                  <a:schemeClr val="tx1"/>
                </a:solidFill>
              </a:rPr>
              <a:t>bbox_width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</a:rPr>
              <a:t>bbox_height</a:t>
            </a:r>
            <a:r>
              <a:rPr lang="en-US" altLang="ko-KR" sz="1000" dirty="0">
                <a:solidFill>
                  <a:schemeClr val="tx1"/>
                </a:solidFill>
              </a:rPr>
              <a:t>) × 0.1</a:t>
            </a:r>
            <a:endParaRPr lang="ko-KR" altLang="en-US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⑨ </a:t>
            </a:r>
            <a:r>
              <a:rPr lang="ko-KR" altLang="en-US" sz="1000" dirty="0">
                <a:solidFill>
                  <a:schemeClr val="tx1"/>
                </a:solidFill>
              </a:rPr>
              <a:t>위 정보를 종합해 </a:t>
            </a:r>
            <a:r>
              <a:rPr lang="en-US" altLang="ko-KR" sz="1000" dirty="0" err="1">
                <a:solidFill>
                  <a:schemeClr val="tx1"/>
                </a:solidFill>
              </a:rPr>
              <a:t>DefectDetection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객체를 생성하고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다음 박스가 남아있으면 ② 순회 단계로 돌아가 반복한다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590376-E9AC-4ACC-A0F1-635FD99DB132}"/>
              </a:ext>
            </a:extLst>
          </p:cNvPr>
          <p:cNvSpPr/>
          <p:nvPr/>
        </p:nvSpPr>
        <p:spPr>
          <a:xfrm>
            <a:off x="40043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/>
              <a:t>YOLOv8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탐지</a:t>
            </a:r>
            <a:r>
              <a:rPr dirty="0"/>
              <a:t> </a:t>
            </a:r>
            <a:r>
              <a:rPr dirty="0" err="1"/>
              <a:t>알고리즘</a:t>
            </a:r>
            <a:r>
              <a:rPr dirty="0"/>
              <a:t> </a:t>
            </a:r>
            <a:r>
              <a:rPr dirty="0" err="1"/>
              <a:t>명세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5AEB3E-58F3-4922-B18E-F345234E2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23" y="1577481"/>
            <a:ext cx="4101926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F3FF9E-7C11-B11B-299D-5AF7C76BA4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87F6FE-E5C2-4D36-9440-064E047D1E4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24CB51A-814B-458F-B787-0CF0A8EA118D}"/>
              </a:ext>
            </a:extLst>
          </p:cNvPr>
          <p:cNvSpPr/>
          <p:nvPr/>
        </p:nvSpPr>
        <p:spPr>
          <a:xfrm>
            <a:off x="4572000" y="1472061"/>
            <a:ext cx="4291660" cy="43864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</a:rPr>
              <a:t>○  안전등급 판정 알고리즘 </a:t>
            </a:r>
            <a:r>
              <a:rPr lang="en-US" altLang="ko-KR" sz="1050" b="1" dirty="0">
                <a:solidFill>
                  <a:schemeClr val="tx1"/>
                </a:solidFill>
              </a:rPr>
              <a:t>— </a:t>
            </a:r>
            <a:r>
              <a:rPr lang="en-US" altLang="ko-KR" sz="1050" b="1" dirty="0" err="1">
                <a:solidFill>
                  <a:schemeClr val="tx1"/>
                </a:solidFill>
              </a:rPr>
              <a:t>calculate_grade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105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chemeClr val="tx1"/>
                </a:solidFill>
              </a:rPr>
              <a:t>안전등급 판정 알고리즘은 구역 내에서 탐지된 균열들의 최대 폭</a:t>
            </a:r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en-US" altLang="ko-KR" sz="1050" dirty="0">
                <a:solidFill>
                  <a:schemeClr val="tx1"/>
                </a:solidFill>
              </a:rPr>
              <a:t>)</a:t>
            </a:r>
            <a:r>
              <a:rPr lang="ko-KR" altLang="en-US" sz="1050" dirty="0">
                <a:solidFill>
                  <a:schemeClr val="tx1"/>
                </a:solidFill>
              </a:rPr>
              <a:t>과 결함 개수</a:t>
            </a:r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en-US" altLang="ko-KR" sz="1050" dirty="0" err="1">
                <a:solidFill>
                  <a:schemeClr val="tx1"/>
                </a:solidFill>
              </a:rPr>
              <a:t>defect_count</a:t>
            </a:r>
            <a:r>
              <a:rPr lang="en-US" altLang="ko-KR" sz="1050" dirty="0">
                <a:solidFill>
                  <a:schemeClr val="tx1"/>
                </a:solidFill>
              </a:rPr>
              <a:t>)</a:t>
            </a:r>
            <a:r>
              <a:rPr lang="ko-KR" altLang="en-US" sz="1050" dirty="0">
                <a:solidFill>
                  <a:schemeClr val="tx1"/>
                </a:solidFill>
              </a:rPr>
              <a:t>를 </a:t>
            </a:r>
            <a:r>
              <a:rPr lang="ko-KR" altLang="en-US" sz="1050" dirty="0" err="1">
                <a:solidFill>
                  <a:schemeClr val="tx1"/>
                </a:solidFill>
              </a:rPr>
              <a:t>입력받아</a:t>
            </a:r>
            <a:r>
              <a:rPr lang="ko-KR" altLang="en-US" sz="1050" dirty="0">
                <a:solidFill>
                  <a:schemeClr val="tx1"/>
                </a:solidFill>
              </a:rPr>
              <a:t> 해당 구역의 안전등급을 자동으로 산정하는 알고리즘이다</a:t>
            </a:r>
            <a:r>
              <a:rPr lang="en-US" altLang="ko-KR" sz="1050" dirty="0">
                <a:solidFill>
                  <a:schemeClr val="tx1"/>
                </a:solidFill>
              </a:rPr>
              <a:t>. </a:t>
            </a:r>
            <a:r>
              <a:rPr lang="ko-KR" altLang="en-US" sz="1050" dirty="0">
                <a:solidFill>
                  <a:schemeClr val="tx1"/>
                </a:solidFill>
              </a:rPr>
              <a:t>이 알고리즘은 국토안전관리원의 건축물 안전점검 지침에서 제시하는 균열 폭 기준을 근거로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최대 균열 폭이 </a:t>
            </a:r>
            <a:r>
              <a:rPr lang="en-US" altLang="ko-KR" sz="1050" dirty="0">
                <a:solidFill>
                  <a:schemeClr val="tx1"/>
                </a:solidFill>
              </a:rPr>
              <a:t>0.5mm </a:t>
            </a:r>
            <a:r>
              <a:rPr lang="ko-KR" altLang="en-US" sz="1050" dirty="0">
                <a:solidFill>
                  <a:schemeClr val="tx1"/>
                </a:solidFill>
              </a:rPr>
              <a:t>이상이면 즉각 사용중지가 필요한 </a:t>
            </a:r>
            <a:r>
              <a:rPr lang="en-US" altLang="ko-KR" sz="1050" dirty="0">
                <a:solidFill>
                  <a:schemeClr val="tx1"/>
                </a:solidFill>
              </a:rPr>
              <a:t>E</a:t>
            </a:r>
            <a:r>
              <a:rPr lang="ko-KR" altLang="en-US" sz="1050" dirty="0">
                <a:solidFill>
                  <a:schemeClr val="tx1"/>
                </a:solidFill>
              </a:rPr>
              <a:t>등급</a:t>
            </a:r>
            <a:r>
              <a:rPr lang="en-US" altLang="ko-KR" sz="1050" dirty="0">
                <a:solidFill>
                  <a:schemeClr val="tx1"/>
                </a:solidFill>
              </a:rPr>
              <a:t>, 0.3mm </a:t>
            </a:r>
            <a:r>
              <a:rPr lang="ko-KR" altLang="en-US" sz="1050" dirty="0">
                <a:solidFill>
                  <a:schemeClr val="tx1"/>
                </a:solidFill>
              </a:rPr>
              <a:t>이상이면 긴급 보수가 필요한 </a:t>
            </a:r>
            <a:r>
              <a:rPr lang="en-US" altLang="ko-KR" sz="1050" dirty="0">
                <a:solidFill>
                  <a:schemeClr val="tx1"/>
                </a:solidFill>
              </a:rPr>
              <a:t>D</a:t>
            </a:r>
            <a:r>
              <a:rPr lang="ko-KR" altLang="en-US" sz="1050" dirty="0">
                <a:solidFill>
                  <a:schemeClr val="tx1"/>
                </a:solidFill>
              </a:rPr>
              <a:t>등급</a:t>
            </a:r>
            <a:r>
              <a:rPr lang="en-US" altLang="ko-KR" sz="1050" dirty="0">
                <a:solidFill>
                  <a:schemeClr val="tx1"/>
                </a:solidFill>
              </a:rPr>
              <a:t>, 0.2mm </a:t>
            </a:r>
            <a:r>
              <a:rPr lang="ko-KR" altLang="en-US" sz="1050" dirty="0">
                <a:solidFill>
                  <a:schemeClr val="tx1"/>
                </a:solidFill>
              </a:rPr>
              <a:t>이상이면 정밀 안전진단이 권고되는 </a:t>
            </a:r>
            <a:r>
              <a:rPr lang="en-US" altLang="ko-KR" sz="1050" dirty="0">
                <a:solidFill>
                  <a:schemeClr val="tx1"/>
                </a:solidFill>
              </a:rPr>
              <a:t>C</a:t>
            </a:r>
            <a:r>
              <a:rPr lang="ko-KR" altLang="en-US" sz="1050" dirty="0">
                <a:solidFill>
                  <a:schemeClr val="tx1"/>
                </a:solidFill>
              </a:rPr>
              <a:t>등급</a:t>
            </a:r>
            <a:r>
              <a:rPr lang="en-US" altLang="ko-KR" sz="1050" dirty="0">
                <a:solidFill>
                  <a:schemeClr val="tx1"/>
                </a:solidFill>
              </a:rPr>
              <a:t>, 0.1mm </a:t>
            </a:r>
            <a:r>
              <a:rPr lang="ko-KR" altLang="en-US" sz="1050" dirty="0">
                <a:solidFill>
                  <a:schemeClr val="tx1"/>
                </a:solidFill>
              </a:rPr>
              <a:t>이상이면 주기적 모니터링이 필요한 </a:t>
            </a:r>
            <a:r>
              <a:rPr lang="en-US" altLang="ko-KR" sz="1050" dirty="0">
                <a:solidFill>
                  <a:schemeClr val="tx1"/>
                </a:solidFill>
              </a:rPr>
              <a:t>B</a:t>
            </a:r>
            <a:r>
              <a:rPr lang="ko-KR" altLang="en-US" sz="1050" dirty="0">
                <a:solidFill>
                  <a:schemeClr val="tx1"/>
                </a:solidFill>
              </a:rPr>
              <a:t>등급으로 판정하며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그 이하이거나 균열이 탐지되지 않은 경우 이상 없음을 의미하는 </a:t>
            </a:r>
            <a:r>
              <a:rPr lang="en-US" altLang="ko-KR" sz="1050" dirty="0">
                <a:solidFill>
                  <a:schemeClr val="tx1"/>
                </a:solidFill>
              </a:rPr>
              <a:t>A</a:t>
            </a:r>
            <a:r>
              <a:rPr lang="ko-KR" altLang="en-US" sz="1050" dirty="0">
                <a:solidFill>
                  <a:schemeClr val="tx1"/>
                </a:solidFill>
              </a:rPr>
              <a:t>등급으로 판정한다</a:t>
            </a:r>
            <a:r>
              <a:rPr lang="en-US" altLang="ko-KR" sz="1050" dirty="0">
                <a:solidFill>
                  <a:schemeClr val="tx1"/>
                </a:solidFill>
              </a:rPr>
              <a:t>. </a:t>
            </a:r>
            <a:r>
              <a:rPr lang="ko-KR" altLang="en-US" sz="1050" dirty="0">
                <a:solidFill>
                  <a:schemeClr val="tx1"/>
                </a:solidFill>
              </a:rPr>
              <a:t>단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균열 폭 데이터가 없는 경우</a:t>
            </a:r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ko-KR" altLang="en-US" sz="1050" dirty="0">
                <a:solidFill>
                  <a:schemeClr val="tx1"/>
                </a:solidFill>
              </a:rPr>
              <a:t>이 </a:t>
            </a:r>
            <a:r>
              <a:rPr lang="en-US" altLang="ko-KR" sz="1050" dirty="0">
                <a:solidFill>
                  <a:schemeClr val="tx1"/>
                </a:solidFill>
              </a:rPr>
              <a:t>None)</a:t>
            </a:r>
            <a:r>
              <a:rPr lang="ko-KR" altLang="en-US" sz="1050" dirty="0">
                <a:solidFill>
                  <a:schemeClr val="tx1"/>
                </a:solidFill>
              </a:rPr>
              <a:t>에는 결함이 아예 탐지되지 않았을 때만 </a:t>
            </a:r>
            <a:r>
              <a:rPr lang="en-US" altLang="ko-KR" sz="1050" dirty="0">
                <a:solidFill>
                  <a:schemeClr val="tx1"/>
                </a:solidFill>
              </a:rPr>
              <a:t>A</a:t>
            </a:r>
            <a:r>
              <a:rPr lang="ko-KR" altLang="en-US" sz="1050" dirty="0">
                <a:solidFill>
                  <a:schemeClr val="tx1"/>
                </a:solidFill>
              </a:rPr>
              <a:t>등급을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그 외에는 보수적으로 </a:t>
            </a:r>
            <a:r>
              <a:rPr lang="en-US" altLang="ko-KR" sz="1050" dirty="0">
                <a:solidFill>
                  <a:schemeClr val="tx1"/>
                </a:solidFill>
              </a:rPr>
              <a:t>B</a:t>
            </a:r>
            <a:r>
              <a:rPr lang="ko-KR" altLang="en-US" sz="1050" dirty="0">
                <a:solidFill>
                  <a:schemeClr val="tx1"/>
                </a:solidFill>
              </a:rPr>
              <a:t>등급을 부여한다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br>
              <a:rPr lang="ko-KR" altLang="en-US" sz="1050" dirty="0">
                <a:solidFill>
                  <a:schemeClr val="tx1"/>
                </a:solidFill>
              </a:rPr>
            </a:br>
            <a:endParaRPr sz="1050" dirty="0">
              <a:solidFill>
                <a:schemeClr val="tx1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BE1D9B7C-A762-4FE8-8733-75FBA2127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78" y="1916832"/>
            <a:ext cx="2257898" cy="373353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C9EA112-6641-421C-9B92-098918DD8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2290" y="1916832"/>
            <a:ext cx="1891625" cy="3733531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709003B6-8A7E-4C99-87AB-400A7DEFEAF6}"/>
              </a:ext>
            </a:extLst>
          </p:cNvPr>
          <p:cNvSpPr/>
          <p:nvPr/>
        </p:nvSpPr>
        <p:spPr>
          <a:xfrm>
            <a:off x="222256" y="1481273"/>
            <a:ext cx="19153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예시 ① 양호한 구역</a:t>
            </a:r>
            <a:endParaRPr lang="ko-KR" altLang="en-US" sz="12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F96916D-CC16-4A3B-84BC-078381704090}"/>
              </a:ext>
            </a:extLst>
          </p:cNvPr>
          <p:cNvSpPr/>
          <p:nvPr/>
        </p:nvSpPr>
        <p:spPr>
          <a:xfrm>
            <a:off x="2123728" y="1484784"/>
            <a:ext cx="23271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예시 ② 심각한 구역</a:t>
            </a:r>
            <a:endParaRPr lang="ko-KR" altLang="en-US" sz="12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EA751F-6C80-419B-825B-B119BF7C9641}"/>
              </a:ext>
            </a:extLst>
          </p:cNvPr>
          <p:cNvSpPr/>
          <p:nvPr/>
        </p:nvSpPr>
        <p:spPr>
          <a:xfrm>
            <a:off x="40043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 err="1"/>
              <a:t>안전등급</a:t>
            </a:r>
            <a:r>
              <a:rPr dirty="0"/>
              <a:t> </a:t>
            </a:r>
            <a:r>
              <a:rPr dirty="0" err="1"/>
              <a:t>판정</a:t>
            </a:r>
            <a:r>
              <a:rPr dirty="0"/>
              <a:t> </a:t>
            </a:r>
            <a:r>
              <a:rPr dirty="0" err="1"/>
              <a:t>알고리즘</a:t>
            </a:r>
            <a:r>
              <a:rPr dirty="0"/>
              <a:t> </a:t>
            </a:r>
            <a:r>
              <a:rPr dirty="0" err="1"/>
              <a:t>상세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1431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848179"/>
              </p:ext>
            </p:extLst>
          </p:nvPr>
        </p:nvGraphicFramePr>
        <p:xfrm>
          <a:off x="298210" y="1216519"/>
          <a:ext cx="8547580" cy="5020793"/>
        </p:xfrm>
        <a:graphic>
          <a:graphicData uri="http://schemas.openxmlformats.org/drawingml/2006/table">
            <a:tbl>
              <a:tblPr/>
              <a:tblGrid>
                <a:gridCol w="123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 err="1"/>
                        <a:t>기능</a:t>
                      </a:r>
                      <a:r>
                        <a:rPr sz="1050" b="1" dirty="0"/>
                        <a:t> </a:t>
                      </a:r>
                      <a:r>
                        <a:rPr sz="1050" b="1" dirty="0" err="1"/>
                        <a:t>분류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/>
                        <a:t>기능번호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/>
                        <a:t>기능 명</a:t>
                      </a:r>
                      <a:endParaRPr lang="ko-KR" altLang="en-US" sz="1050" b="1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54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AUTH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AUTH-01-01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로그인 (JWT 발급)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AUTH-01-02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토큰 갱신 (Refresh)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AUTH-01-03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로그아웃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AUTH-01-04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내 </a:t>
                      </a:r>
                      <a:r>
                        <a:rPr sz="1050" dirty="0" err="1"/>
                        <a:t>정보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조회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BLDG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BLDG-02-01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건물 목록 조회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54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50"/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BLDG-02-02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건물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등록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BLDG-02-03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건물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상세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조회</a:t>
                      </a:r>
                      <a:r>
                        <a:rPr sz="1050" dirty="0"/>
                        <a:t>/</a:t>
                      </a:r>
                      <a:r>
                        <a:rPr sz="1050" dirty="0" err="1"/>
                        <a:t>수정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>PROJ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PROJ-03-01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프로젝트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목록</a:t>
                      </a:r>
                      <a:r>
                        <a:rPr sz="1050" dirty="0"/>
                        <a:t>/</a:t>
                      </a:r>
                      <a:r>
                        <a:rPr sz="1050" dirty="0" err="1"/>
                        <a:t>생성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PROJ-03-02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프로젝트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상세·상태변경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PROJ-03-03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안전등급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조회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>PHOTO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PHOTO-04-01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이미지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업로드</a:t>
                      </a:r>
                      <a:r>
                        <a:rPr sz="1050" dirty="0"/>
                        <a:t> (AI </a:t>
                      </a:r>
                      <a:r>
                        <a:rPr sz="1050" dirty="0" err="1"/>
                        <a:t>즉시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탐지</a:t>
                      </a:r>
                      <a:r>
                        <a:rPr sz="1050" dirty="0"/>
                        <a:t>)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734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50" dirty="0"/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PHOTO-04-02</a:t>
                      </a:r>
                      <a:endParaRPr 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탐지 결과 조회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D1689A0B-A7D8-D8ED-64B0-385C3B6772C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052307-33C6-8A6E-99FA-D8F564BAD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91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테이블 정의서 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-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E1CCA4-B5BD-BA57-028C-1D5146B789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CC1265F-2B7D-4FC1-A1A0-C7565A7C8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628800"/>
            <a:ext cx="4182539" cy="31895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AE780D-8B9E-428B-BD96-31F7B711A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009" y="1554262"/>
            <a:ext cx="4032448" cy="4190766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FDFC57-4A0D-4943-8D19-6FF52BC4A458}"/>
              </a:ext>
            </a:extLst>
          </p:cNvPr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DB 테이블 정의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6564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779912" y="570166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소스코드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78239" y="1473901"/>
            <a:ext cx="4781793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2A5D967A-F7C6-7D67-ED51-C6C55F51CC1D}"/>
              </a:ext>
            </a:extLst>
          </p:cNvPr>
          <p:cNvSpPr/>
          <p:nvPr/>
        </p:nvSpPr>
        <p:spPr>
          <a:xfrm>
            <a:off x="35496" y="3636864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50" dirty="0">
                <a:solidFill>
                  <a:srgbClr val="00B050"/>
                </a:solidFill>
              </a:rPr>
              <a:t># backend/app/services/detection.py (</a:t>
            </a:r>
            <a:r>
              <a:rPr sz="1050" dirty="0" err="1">
                <a:solidFill>
                  <a:srgbClr val="00B050"/>
                </a:solidFill>
              </a:rPr>
              <a:t>핵심</a:t>
            </a:r>
            <a:r>
              <a:rPr sz="1050" dirty="0">
                <a:solidFill>
                  <a:srgbClr val="00B050"/>
                </a:solidFill>
              </a:rPr>
              <a:t> </a:t>
            </a:r>
            <a:r>
              <a:rPr sz="1050" dirty="0" err="1">
                <a:solidFill>
                  <a:srgbClr val="00B050"/>
                </a:solidFill>
              </a:rPr>
              <a:t>부분</a:t>
            </a:r>
            <a:r>
              <a:rPr sz="1050" dirty="0">
                <a:solidFill>
                  <a:srgbClr val="00B050"/>
                </a:solidFill>
              </a:rPr>
              <a:t>)</a:t>
            </a:r>
            <a:r>
              <a:rPr sz="1050" dirty="0">
                <a:solidFill>
                  <a:schemeClr val="tx1"/>
                </a:solidFill>
              </a:rPr>
              <a:t>
</a:t>
            </a:r>
            <a:r>
              <a:rPr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def</a:t>
            </a:r>
            <a:r>
              <a:rPr sz="1050" dirty="0">
                <a:solidFill>
                  <a:schemeClr val="tx1"/>
                </a:solidFill>
              </a:rPr>
              <a:t> </a:t>
            </a:r>
            <a:r>
              <a:rPr sz="1050" dirty="0" err="1">
                <a:solidFill>
                  <a:srgbClr val="7030A0"/>
                </a:solidFill>
              </a:rPr>
              <a:t>run_detection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 err="1">
                <a:solidFill>
                  <a:schemeClr val="tx1"/>
                </a:solidFill>
              </a:rPr>
              <a:t>image_bytes</a:t>
            </a:r>
            <a:r>
              <a:rPr sz="1050" dirty="0">
                <a:solidFill>
                  <a:schemeClr val="tx1"/>
                </a:solidFill>
              </a:rPr>
              <a:t>: bytes, filename: str) -&gt; </a:t>
            </a:r>
            <a:r>
              <a:rPr sz="1050" dirty="0" err="1">
                <a:solidFill>
                  <a:schemeClr val="tx1"/>
                </a:solidFill>
              </a:rPr>
              <a:t>dict</a:t>
            </a:r>
            <a:r>
              <a:rPr sz="1050" dirty="0">
                <a:solidFill>
                  <a:schemeClr val="tx1"/>
                </a:solidFill>
              </a:rPr>
              <a:t>:
    </a:t>
            </a:r>
            <a:r>
              <a:rPr sz="1050" dirty="0" err="1">
                <a:solidFill>
                  <a:schemeClr val="tx1"/>
                </a:solidFill>
              </a:rPr>
              <a:t>pil_img</a:t>
            </a:r>
            <a:r>
              <a:rPr sz="1050" dirty="0">
                <a:solidFill>
                  <a:schemeClr val="tx1"/>
                </a:solidFill>
              </a:rPr>
              <a:t> = </a:t>
            </a:r>
            <a:r>
              <a:rPr sz="1050" dirty="0" err="1">
                <a:solidFill>
                  <a:schemeClr val="tx1"/>
                </a:solidFill>
              </a:rPr>
              <a:t>Image.</a:t>
            </a:r>
            <a:r>
              <a:rPr sz="1050" dirty="0" err="1">
                <a:solidFill>
                  <a:srgbClr val="7030A0"/>
                </a:solidFill>
              </a:rPr>
              <a:t>open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 err="1">
                <a:solidFill>
                  <a:schemeClr val="tx1"/>
                </a:solidFill>
              </a:rPr>
              <a:t>io.</a:t>
            </a:r>
            <a:r>
              <a:rPr sz="1050" dirty="0" err="1">
                <a:solidFill>
                  <a:srgbClr val="7030A0"/>
                </a:solidFill>
              </a:rPr>
              <a:t>BytesIO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 err="1">
                <a:solidFill>
                  <a:schemeClr val="tx1"/>
                </a:solidFill>
              </a:rPr>
              <a:t>image_bytes</a:t>
            </a:r>
            <a:r>
              <a:rPr sz="1050" dirty="0">
                <a:solidFill>
                  <a:schemeClr val="tx1"/>
                </a:solidFill>
              </a:rPr>
              <a:t>)).</a:t>
            </a:r>
            <a:r>
              <a:rPr sz="1050" dirty="0">
                <a:solidFill>
                  <a:srgbClr val="7030A0"/>
                </a:solidFill>
              </a:rPr>
              <a:t>convert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'RGB'</a:t>
            </a:r>
            <a:r>
              <a:rPr sz="1050" dirty="0">
                <a:solidFill>
                  <a:schemeClr val="tx1"/>
                </a:solidFill>
              </a:rPr>
              <a:t>)
    </a:t>
            </a:r>
            <a:r>
              <a:rPr sz="1050" dirty="0" err="1">
                <a:solidFill>
                  <a:schemeClr val="tx1"/>
                </a:solidFill>
              </a:rPr>
              <a:t>img</a:t>
            </a:r>
            <a:r>
              <a:rPr sz="1050" dirty="0">
                <a:solidFill>
                  <a:schemeClr val="tx1"/>
                </a:solidFill>
              </a:rPr>
              <a:t> = </a:t>
            </a:r>
            <a:r>
              <a:rPr sz="1050" dirty="0" err="1">
                <a:solidFill>
                  <a:schemeClr val="tx1"/>
                </a:solidFill>
              </a:rPr>
              <a:t>np.array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 err="1">
                <a:solidFill>
                  <a:schemeClr val="tx1"/>
                </a:solidFill>
              </a:rPr>
              <a:t>pil_img</a:t>
            </a:r>
            <a:r>
              <a:rPr sz="1050" dirty="0">
                <a:solidFill>
                  <a:schemeClr val="tx1"/>
                </a:solidFill>
              </a:rPr>
              <a:t>)[:, :, ::-1]  </a:t>
            </a:r>
            <a:r>
              <a:rPr sz="1050" dirty="0">
                <a:solidFill>
                  <a:srgbClr val="00B050"/>
                </a:solidFill>
              </a:rPr>
              <a:t># RGB→BGR</a:t>
            </a:r>
            <a:r>
              <a:rPr sz="1050" dirty="0">
                <a:solidFill>
                  <a:schemeClr val="tx1"/>
                </a:solidFill>
              </a:rPr>
              <a:t>
    model = </a:t>
            </a:r>
            <a:r>
              <a:rPr sz="1050" dirty="0" err="1">
                <a:solidFill>
                  <a:srgbClr val="7030A0"/>
                </a:solidFill>
              </a:rPr>
              <a:t>get_model</a:t>
            </a:r>
            <a:r>
              <a:rPr sz="1050" dirty="0">
                <a:solidFill>
                  <a:schemeClr val="tx1"/>
                </a:solidFill>
              </a:rPr>
              <a:t>()  </a:t>
            </a:r>
            <a:r>
              <a:rPr sz="1050" dirty="0">
                <a:solidFill>
                  <a:srgbClr val="00B050"/>
                </a:solidFill>
              </a:rPr>
              <a:t># YOLOv8 </a:t>
            </a:r>
            <a:r>
              <a:rPr sz="1050" dirty="0" err="1">
                <a:solidFill>
                  <a:srgbClr val="00B050"/>
                </a:solidFill>
              </a:rPr>
              <a:t>모델</a:t>
            </a:r>
            <a:r>
              <a:rPr sz="1050" dirty="0">
                <a:solidFill>
                  <a:srgbClr val="00B050"/>
                </a:solidFill>
              </a:rPr>
              <a:t> </a:t>
            </a:r>
            <a:r>
              <a:rPr sz="1050" dirty="0" err="1">
                <a:solidFill>
                  <a:srgbClr val="00B050"/>
                </a:solidFill>
              </a:rPr>
              <a:t>로드</a:t>
            </a:r>
            <a:r>
              <a:rPr sz="1050" dirty="0">
                <a:solidFill>
                  <a:schemeClr val="tx1"/>
                </a:solidFill>
              </a:rPr>
              <a:t>
    results = </a:t>
            </a:r>
            <a:r>
              <a:rPr sz="1050" dirty="0">
                <a:solidFill>
                  <a:srgbClr val="7030A0"/>
                </a:solidFill>
              </a:rPr>
              <a:t>model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 err="1">
                <a:solidFill>
                  <a:schemeClr val="tx1"/>
                </a:solidFill>
              </a:rPr>
              <a:t>img</a:t>
            </a:r>
            <a:r>
              <a:rPr sz="1050" dirty="0">
                <a:solidFill>
                  <a:schemeClr val="tx1"/>
                </a:solidFill>
              </a:rPr>
              <a:t>)[0]
    detections = []
    </a:t>
            </a:r>
            <a:r>
              <a:rPr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sz="1050" dirty="0">
                <a:solidFill>
                  <a:schemeClr val="tx1"/>
                </a:solidFill>
              </a:rPr>
              <a:t> box </a:t>
            </a:r>
            <a:r>
              <a:rPr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</a:t>
            </a:r>
            <a:r>
              <a:rPr sz="1050" dirty="0">
                <a:solidFill>
                  <a:schemeClr val="tx1"/>
                </a:solidFill>
              </a:rPr>
              <a:t> </a:t>
            </a:r>
            <a:r>
              <a:rPr sz="1050" dirty="0" err="1">
                <a:solidFill>
                  <a:schemeClr val="tx1"/>
                </a:solidFill>
              </a:rPr>
              <a:t>results.boxes</a:t>
            </a:r>
            <a:r>
              <a:rPr sz="1050" dirty="0">
                <a:solidFill>
                  <a:schemeClr val="tx1"/>
                </a:solidFill>
              </a:rPr>
              <a:t>:
        conf = </a:t>
            </a:r>
            <a:r>
              <a:rPr sz="1050" dirty="0">
                <a:solidFill>
                  <a:srgbClr val="7030A0"/>
                </a:solidFill>
              </a:rPr>
              <a:t>float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 err="1">
                <a:solidFill>
                  <a:schemeClr val="tx1"/>
                </a:solidFill>
              </a:rPr>
              <a:t>box.conf</a:t>
            </a:r>
            <a:r>
              <a:rPr sz="1050" dirty="0">
                <a:solidFill>
                  <a:schemeClr val="tx1"/>
                </a:solidFill>
              </a:rPr>
              <a:t>[0])
        x1, y1, x2, y2 = </a:t>
            </a:r>
            <a:r>
              <a:rPr sz="1050" dirty="0" err="1">
                <a:solidFill>
                  <a:schemeClr val="tx1"/>
                </a:solidFill>
              </a:rPr>
              <a:t>box.xyxy</a:t>
            </a:r>
            <a:r>
              <a:rPr sz="1050" dirty="0">
                <a:solidFill>
                  <a:schemeClr val="tx1"/>
                </a:solidFill>
              </a:rPr>
              <a:t>[0].</a:t>
            </a:r>
            <a:r>
              <a:rPr sz="1050" dirty="0" err="1">
                <a:solidFill>
                  <a:srgbClr val="7030A0"/>
                </a:solidFill>
              </a:rPr>
              <a:t>tolist</a:t>
            </a:r>
            <a:r>
              <a:rPr sz="1050" dirty="0">
                <a:solidFill>
                  <a:schemeClr val="tx1"/>
                </a:solidFill>
              </a:rPr>
              <a:t>()
        severity = </a:t>
            </a:r>
            <a:r>
              <a:rPr sz="1050" dirty="0">
                <a:solidFill>
                  <a:srgbClr val="7030A0"/>
                </a:solidFill>
              </a:rPr>
              <a:t>_</a:t>
            </a:r>
            <a:r>
              <a:rPr sz="1050" dirty="0" err="1">
                <a:solidFill>
                  <a:srgbClr val="7030A0"/>
                </a:solidFill>
              </a:rPr>
              <a:t>confidence_to_severity</a:t>
            </a:r>
            <a:r>
              <a:rPr sz="1050" dirty="0">
                <a:solidFill>
                  <a:schemeClr val="tx1"/>
                </a:solidFill>
              </a:rPr>
              <a:t>(conf)
        </a:t>
            </a:r>
            <a:r>
              <a:rPr sz="1050" dirty="0" err="1">
                <a:solidFill>
                  <a:schemeClr val="tx1"/>
                </a:solidFill>
              </a:rPr>
              <a:t>crack_width_mm</a:t>
            </a:r>
            <a:r>
              <a:rPr sz="1050" dirty="0">
                <a:solidFill>
                  <a:schemeClr val="tx1"/>
                </a:solidFill>
              </a:rPr>
              <a:t> = </a:t>
            </a:r>
            <a:r>
              <a:rPr sz="1050" dirty="0">
                <a:solidFill>
                  <a:srgbClr val="7030A0"/>
                </a:solidFill>
              </a:rPr>
              <a:t>min</a:t>
            </a:r>
            <a:r>
              <a:rPr sz="1050" dirty="0">
                <a:solidFill>
                  <a:schemeClr val="tx1"/>
                </a:solidFill>
              </a:rPr>
              <a:t>(x2-x1, y2-y1) * 0.1  </a:t>
            </a:r>
            <a:r>
              <a:rPr sz="1050" dirty="0">
                <a:solidFill>
                  <a:srgbClr val="00B050"/>
                </a:solidFill>
              </a:rPr>
              <a:t># </a:t>
            </a:r>
            <a:r>
              <a:rPr sz="1050" dirty="0" err="1">
                <a:solidFill>
                  <a:srgbClr val="00B050"/>
                </a:solidFill>
              </a:rPr>
              <a:t>px→mm</a:t>
            </a:r>
            <a:r>
              <a:rPr sz="1050" dirty="0">
                <a:solidFill>
                  <a:schemeClr val="tx1"/>
                </a:solidFill>
              </a:rPr>
              <a:t>
        </a:t>
            </a:r>
            <a:r>
              <a:rPr sz="1050" dirty="0" err="1">
                <a:solidFill>
                  <a:schemeClr val="tx1"/>
                </a:solidFill>
              </a:rPr>
              <a:t>detections.</a:t>
            </a:r>
            <a:r>
              <a:rPr sz="1050" dirty="0" err="1">
                <a:solidFill>
                  <a:srgbClr val="7030A0"/>
                </a:solidFill>
              </a:rPr>
              <a:t>append</a:t>
            </a:r>
            <a:r>
              <a:rPr sz="1050" dirty="0">
                <a:solidFill>
                  <a:schemeClr val="tx1"/>
                </a:solidFill>
              </a:rPr>
              <a:t>({
           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sz="1050" dirty="0" err="1">
                <a:solidFill>
                  <a:schemeClr val="accent6">
                    <a:lumMod val="75000"/>
                  </a:schemeClr>
                </a:solidFill>
              </a:rPr>
              <a:t>class_name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sz="1050" dirty="0">
                <a:solidFill>
                  <a:schemeClr val="tx1"/>
                </a:solidFill>
              </a:rPr>
              <a:t>: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'Crack'</a:t>
            </a:r>
            <a:r>
              <a:rPr sz="1050" dirty="0">
                <a:solidFill>
                  <a:schemeClr val="tx1"/>
                </a:solidFill>
              </a:rPr>
              <a:t>,
           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'confidence'</a:t>
            </a:r>
            <a:r>
              <a:rPr sz="1050" dirty="0">
                <a:solidFill>
                  <a:schemeClr val="tx1"/>
                </a:solidFill>
              </a:rPr>
              <a:t>: </a:t>
            </a:r>
            <a:r>
              <a:rPr sz="1050" dirty="0">
                <a:solidFill>
                  <a:srgbClr val="7030A0"/>
                </a:solidFill>
              </a:rPr>
              <a:t>round</a:t>
            </a:r>
            <a:r>
              <a:rPr sz="1050" dirty="0">
                <a:solidFill>
                  <a:schemeClr val="tx1"/>
                </a:solidFill>
              </a:rPr>
              <a:t>(conf, 4),
           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'severity'</a:t>
            </a:r>
            <a:r>
              <a:rPr sz="1050" dirty="0">
                <a:solidFill>
                  <a:schemeClr val="tx1"/>
                </a:solidFill>
              </a:rPr>
              <a:t>: severity,
           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sz="1050" dirty="0" err="1">
                <a:solidFill>
                  <a:schemeClr val="accent6">
                    <a:lumMod val="75000"/>
                  </a:schemeClr>
                </a:solidFill>
              </a:rPr>
              <a:t>crack_width_mm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sz="1050" dirty="0">
                <a:solidFill>
                  <a:schemeClr val="tx1"/>
                </a:solidFill>
              </a:rPr>
              <a:t>: </a:t>
            </a:r>
            <a:r>
              <a:rPr sz="1050" dirty="0" err="1">
                <a:solidFill>
                  <a:schemeClr val="tx1"/>
                </a:solidFill>
              </a:rPr>
              <a:t>crack_width_mm</a:t>
            </a:r>
            <a:r>
              <a:rPr sz="1050" dirty="0">
                <a:solidFill>
                  <a:schemeClr val="tx1"/>
                </a:solidFill>
              </a:rPr>
              <a:t>,
           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sz="1050" dirty="0" err="1">
                <a:solidFill>
                  <a:schemeClr val="accent6">
                    <a:lumMod val="75000"/>
                  </a:schemeClr>
                </a:solidFill>
              </a:rPr>
              <a:t>bbox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sz="1050" dirty="0">
                <a:solidFill>
                  <a:schemeClr val="tx1"/>
                </a:solidFill>
              </a:rPr>
              <a:t>: </a:t>
            </a:r>
            <a:r>
              <a:rPr sz="1050" dirty="0" err="1">
                <a:solidFill>
                  <a:schemeClr val="tx1"/>
                </a:solidFill>
              </a:rPr>
              <a:t>json.</a:t>
            </a:r>
            <a:r>
              <a:rPr sz="1050" dirty="0" err="1">
                <a:solidFill>
                  <a:srgbClr val="7030A0"/>
                </a:solidFill>
              </a:rPr>
              <a:t>dumps</a:t>
            </a:r>
            <a:r>
              <a:rPr sz="1050" dirty="0">
                <a:solidFill>
                  <a:schemeClr val="tx1"/>
                </a:solidFill>
              </a:rPr>
              <a:t>({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'x'</a:t>
            </a:r>
            <a:r>
              <a:rPr sz="1050" dirty="0">
                <a:solidFill>
                  <a:schemeClr val="tx1"/>
                </a:solidFill>
              </a:rPr>
              <a:t>:x1,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'y'</a:t>
            </a:r>
            <a:r>
              <a:rPr sz="1050" dirty="0">
                <a:solidFill>
                  <a:schemeClr val="tx1"/>
                </a:solidFill>
              </a:rPr>
              <a:t>:y1,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'w'</a:t>
            </a:r>
            <a:r>
              <a:rPr sz="1050" dirty="0">
                <a:solidFill>
                  <a:schemeClr val="tx1"/>
                </a:solidFill>
              </a:rPr>
              <a:t>:x2-x1,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'h'</a:t>
            </a:r>
            <a:r>
              <a:rPr sz="1050" dirty="0">
                <a:solidFill>
                  <a:schemeClr val="tx1"/>
                </a:solidFill>
              </a:rPr>
              <a:t>:y2-y1})
        })
    annotated = </a:t>
            </a:r>
            <a:r>
              <a:rPr sz="1050" dirty="0" err="1">
                <a:solidFill>
                  <a:schemeClr val="tx1"/>
                </a:solidFill>
              </a:rPr>
              <a:t>results.</a:t>
            </a:r>
            <a:r>
              <a:rPr sz="1050" dirty="0" err="1">
                <a:solidFill>
                  <a:srgbClr val="7030A0"/>
                </a:solidFill>
              </a:rPr>
              <a:t>plot</a:t>
            </a:r>
            <a:r>
              <a:rPr sz="1050" dirty="0">
                <a:solidFill>
                  <a:schemeClr val="tx1"/>
                </a:solidFill>
              </a:rPr>
              <a:t>()  </a:t>
            </a:r>
            <a:r>
              <a:rPr sz="1050" dirty="0">
                <a:solidFill>
                  <a:srgbClr val="00B050"/>
                </a:solidFill>
              </a:rPr>
              <a:t># </a:t>
            </a:r>
            <a:r>
              <a:rPr sz="1050" dirty="0" err="1">
                <a:solidFill>
                  <a:srgbClr val="00B050"/>
                </a:solidFill>
              </a:rPr>
              <a:t>바운딩박스</a:t>
            </a:r>
            <a:r>
              <a:rPr sz="1050" dirty="0">
                <a:solidFill>
                  <a:srgbClr val="00B050"/>
                </a:solidFill>
              </a:rPr>
              <a:t> </a:t>
            </a:r>
            <a:r>
              <a:rPr sz="1050" dirty="0" err="1">
                <a:solidFill>
                  <a:srgbClr val="00B050"/>
                </a:solidFill>
              </a:rPr>
              <a:t>오버레이</a:t>
            </a:r>
            <a:r>
              <a:rPr sz="1050" dirty="0">
                <a:solidFill>
                  <a:schemeClr val="tx1"/>
                </a:solidFill>
              </a:rPr>
              <a:t>
    _, </a:t>
            </a:r>
            <a:r>
              <a:rPr sz="1050" dirty="0" err="1">
                <a:solidFill>
                  <a:schemeClr val="tx1"/>
                </a:solidFill>
              </a:rPr>
              <a:t>buf</a:t>
            </a:r>
            <a:r>
              <a:rPr sz="1050" dirty="0">
                <a:solidFill>
                  <a:schemeClr val="tx1"/>
                </a:solidFill>
              </a:rPr>
              <a:t> = cv2.</a:t>
            </a:r>
            <a:r>
              <a:rPr sz="1050" dirty="0">
                <a:solidFill>
                  <a:srgbClr val="7030A0"/>
                </a:solidFill>
              </a:rPr>
              <a:t>imencode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'.jpg'</a:t>
            </a:r>
            <a:r>
              <a:rPr sz="1050" dirty="0">
                <a:solidFill>
                  <a:schemeClr val="tx1"/>
                </a:solidFill>
              </a:rPr>
              <a:t>, annotated, [cv2.IMWRITE_JPEG_QUALITY, 85])
    img_b64 = base64.</a:t>
            </a:r>
            <a:r>
              <a:rPr sz="1050" dirty="0">
                <a:solidFill>
                  <a:srgbClr val="7030A0"/>
                </a:solidFill>
              </a:rPr>
              <a:t>b64encode</a:t>
            </a:r>
            <a:r>
              <a:rPr sz="1050" dirty="0">
                <a:solidFill>
                  <a:schemeClr val="tx1"/>
                </a:solidFill>
              </a:rPr>
              <a:t>(</a:t>
            </a:r>
            <a:r>
              <a:rPr sz="1050" dirty="0" err="1">
                <a:solidFill>
                  <a:schemeClr val="tx1"/>
                </a:solidFill>
              </a:rPr>
              <a:t>buf.</a:t>
            </a:r>
            <a:r>
              <a:rPr sz="1050" dirty="0" err="1">
                <a:solidFill>
                  <a:srgbClr val="7030A0"/>
                </a:solidFill>
              </a:rPr>
              <a:t>tobytes</a:t>
            </a:r>
            <a:r>
              <a:rPr sz="1050" dirty="0">
                <a:solidFill>
                  <a:schemeClr val="tx1"/>
                </a:solidFill>
              </a:rPr>
              <a:t>()).</a:t>
            </a:r>
            <a:r>
              <a:rPr sz="1050" dirty="0">
                <a:solidFill>
                  <a:srgbClr val="7030A0"/>
                </a:solidFill>
              </a:rPr>
              <a:t>decode</a:t>
            </a:r>
            <a:r>
              <a:rPr sz="1050" dirty="0">
                <a:solidFill>
                  <a:schemeClr val="tx1"/>
                </a:solidFill>
              </a:rPr>
              <a:t>('utf-8')
    </a:t>
            </a:r>
            <a:r>
              <a:rPr sz="1050" dirty="0">
                <a:solidFill>
                  <a:srgbClr val="3B5AA8"/>
                </a:solidFill>
              </a:rPr>
              <a:t>return</a:t>
            </a:r>
            <a:r>
              <a:rPr sz="1050" dirty="0">
                <a:solidFill>
                  <a:schemeClr val="tx1"/>
                </a:solidFill>
              </a:rPr>
              <a:t> {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'detections'</a:t>
            </a:r>
            <a:r>
              <a:rPr sz="1050" dirty="0">
                <a:solidFill>
                  <a:schemeClr val="tx1"/>
                </a:solidFill>
              </a:rPr>
              <a:t>: detections,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'count'</a:t>
            </a:r>
            <a:r>
              <a:rPr sz="1050" dirty="0">
                <a:solidFill>
                  <a:schemeClr val="tx1"/>
                </a:solidFill>
              </a:rPr>
              <a:t>: </a:t>
            </a:r>
            <a:r>
              <a:rPr sz="1050" dirty="0" err="1">
                <a:solidFill>
                  <a:srgbClr val="7030A0"/>
                </a:solidFill>
              </a:rPr>
              <a:t>len</a:t>
            </a:r>
            <a:r>
              <a:rPr sz="1050" dirty="0">
                <a:solidFill>
                  <a:schemeClr val="tx1"/>
                </a:solidFill>
              </a:rPr>
              <a:t>(detections),
            </a:t>
            </a:r>
            <a:r>
              <a:rPr sz="1050" dirty="0">
                <a:solidFill>
                  <a:schemeClr val="accent6">
                    <a:lumMod val="75000"/>
                  </a:schemeClr>
                </a:solidFill>
              </a:rPr>
              <a:t>'annotated_image_base64'</a:t>
            </a:r>
            <a:r>
              <a:rPr sz="1050" dirty="0">
                <a:solidFill>
                  <a:schemeClr val="tx1"/>
                </a:solidFill>
              </a:rPr>
              <a:t>: img_b64}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F8B2554-4982-E7CB-6CA8-D35BFBB015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75C462-BA66-401D-BBE0-A4F6DF7DE1AD}"/>
              </a:ext>
            </a:extLst>
          </p:cNvPr>
          <p:cNvSpPr/>
          <p:nvPr/>
        </p:nvSpPr>
        <p:spPr>
          <a:xfrm>
            <a:off x="4932040" y="1473901"/>
            <a:ext cx="4166411" cy="16670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50" i="1" dirty="0">
                <a:solidFill>
                  <a:srgbClr val="00B050"/>
                </a:solidFill>
              </a:rPr>
              <a:t># backend/app/services/grade.py</a:t>
            </a:r>
            <a:endParaRPr lang="en-US" altLang="ko-KR" sz="1050" dirty="0">
              <a:solidFill>
                <a:srgbClr val="00B050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 </a:t>
            </a:r>
          </a:p>
          <a:p>
            <a:r>
              <a:rPr lang="en-US" altLang="ko-KR" sz="1050" b="1" dirty="0">
                <a:solidFill>
                  <a:srgbClr val="003399"/>
                </a:solidFill>
              </a:rPr>
              <a:t>def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rgbClr val="7030A0"/>
                </a:solidFill>
              </a:rPr>
              <a:t>calculate_grade</a:t>
            </a:r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en-US" altLang="ko-KR" sz="1050" dirty="0" err="1">
                <a:solidFill>
                  <a:schemeClr val="tx1"/>
                </a:solidFill>
              </a:rPr>
              <a:t>defect_count</a:t>
            </a:r>
            <a:r>
              <a:rPr lang="en-US" altLang="ko-KR" sz="1050" dirty="0">
                <a:solidFill>
                  <a:schemeClr val="tx1"/>
                </a:solidFill>
              </a:rPr>
              <a:t>):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</a:t>
            </a:r>
            <a:r>
              <a:rPr lang="en-US" altLang="ko-KR" sz="1050" b="1" dirty="0">
                <a:solidFill>
                  <a:srgbClr val="003399"/>
                </a:solidFill>
              </a:rPr>
              <a:t>if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b="1" dirty="0">
                <a:solidFill>
                  <a:srgbClr val="003399"/>
                </a:solidFill>
              </a:rPr>
              <a:t>is</a:t>
            </a:r>
            <a:r>
              <a:rPr lang="en-US" altLang="ko-KR" sz="1050" dirty="0">
                <a:solidFill>
                  <a:srgbClr val="003399"/>
                </a:solidFill>
              </a:rPr>
              <a:t> </a:t>
            </a:r>
            <a:r>
              <a:rPr lang="en-US" altLang="ko-KR" sz="1050" b="1" dirty="0">
                <a:solidFill>
                  <a:srgbClr val="003399"/>
                </a:solidFill>
              </a:rPr>
              <a:t>None</a:t>
            </a:r>
            <a:r>
              <a:rPr lang="en-US" altLang="ko-KR" sz="1050" dirty="0">
                <a:solidFill>
                  <a:schemeClr val="tx1"/>
                </a:solidFill>
              </a:rPr>
              <a:t>: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    </a:t>
            </a:r>
            <a:r>
              <a:rPr lang="en-US" altLang="ko-KR" sz="1050" b="1" dirty="0">
                <a:solidFill>
                  <a:srgbClr val="003399"/>
                </a:solidFill>
              </a:rPr>
              <a:t>return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'A'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b="1" dirty="0">
                <a:solidFill>
                  <a:srgbClr val="003399"/>
                </a:solidFill>
              </a:rPr>
              <a:t>if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chemeClr val="tx1"/>
                </a:solidFill>
              </a:rPr>
              <a:t>defect_count</a:t>
            </a:r>
            <a:r>
              <a:rPr lang="en-US" altLang="ko-KR" sz="1050" dirty="0">
                <a:solidFill>
                  <a:schemeClr val="tx1"/>
                </a:solidFill>
              </a:rPr>
              <a:t> == 0 </a:t>
            </a:r>
            <a:r>
              <a:rPr lang="en-US" altLang="ko-KR" sz="1050" b="1" dirty="0">
                <a:solidFill>
                  <a:srgbClr val="003399"/>
                </a:solidFill>
              </a:rPr>
              <a:t>else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'B'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</a:t>
            </a:r>
            <a:r>
              <a:rPr lang="en-US" altLang="ko-KR" sz="1050" b="1" dirty="0">
                <a:solidFill>
                  <a:srgbClr val="003399"/>
                </a:solidFill>
              </a:rPr>
              <a:t>if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en-US" altLang="ko-KR" sz="1050" dirty="0">
                <a:solidFill>
                  <a:schemeClr val="tx1"/>
                </a:solidFill>
              </a:rPr>
              <a:t> &gt;= 0.5: </a:t>
            </a:r>
            <a:r>
              <a:rPr lang="en-US" altLang="ko-KR" sz="1050" b="1" dirty="0">
                <a:solidFill>
                  <a:srgbClr val="003399"/>
                </a:solidFill>
              </a:rPr>
              <a:t>return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'E'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</a:t>
            </a:r>
            <a:r>
              <a:rPr lang="en-US" altLang="ko-KR" sz="1050" dirty="0">
                <a:solidFill>
                  <a:srgbClr val="003399"/>
                </a:solidFill>
              </a:rPr>
              <a:t> </a:t>
            </a:r>
            <a:r>
              <a:rPr lang="en-US" altLang="ko-KR" sz="1050" b="1" dirty="0">
                <a:solidFill>
                  <a:srgbClr val="003399"/>
                </a:solidFill>
              </a:rPr>
              <a:t>if</a:t>
            </a:r>
            <a:r>
              <a:rPr lang="en-US" altLang="ko-KR" sz="1050" dirty="0">
                <a:solidFill>
                  <a:srgbClr val="003399"/>
                </a:solidFill>
              </a:rPr>
              <a:t> 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en-US" altLang="ko-KR" sz="1050" dirty="0">
                <a:solidFill>
                  <a:schemeClr val="tx1"/>
                </a:solidFill>
              </a:rPr>
              <a:t> &gt;= 0.3: </a:t>
            </a:r>
            <a:r>
              <a:rPr lang="en-US" altLang="ko-KR" sz="1050" b="1" dirty="0">
                <a:solidFill>
                  <a:srgbClr val="003399"/>
                </a:solidFill>
              </a:rPr>
              <a:t>return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'D'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</a:t>
            </a:r>
            <a:r>
              <a:rPr lang="en-US" altLang="ko-KR" sz="1050" b="1" dirty="0">
                <a:solidFill>
                  <a:srgbClr val="003399"/>
                </a:solidFill>
              </a:rPr>
              <a:t>if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en-US" altLang="ko-KR" sz="1050" dirty="0">
                <a:solidFill>
                  <a:schemeClr val="tx1"/>
                </a:solidFill>
              </a:rPr>
              <a:t> &gt;= 0.2: </a:t>
            </a:r>
            <a:r>
              <a:rPr lang="en-US" altLang="ko-KR" sz="1050" b="1" dirty="0">
                <a:solidFill>
                  <a:srgbClr val="003399"/>
                </a:solidFill>
              </a:rPr>
              <a:t>return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'C'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</a:t>
            </a:r>
            <a:r>
              <a:rPr lang="en-US" altLang="ko-KR" sz="1050" dirty="0">
                <a:solidFill>
                  <a:srgbClr val="003399"/>
                </a:solidFill>
              </a:rPr>
              <a:t> </a:t>
            </a:r>
            <a:r>
              <a:rPr lang="en-US" altLang="ko-KR" sz="1050" b="1" dirty="0">
                <a:solidFill>
                  <a:srgbClr val="003399"/>
                </a:solidFill>
              </a:rPr>
              <a:t>if</a:t>
            </a:r>
            <a:r>
              <a:rPr lang="en-US" altLang="ko-KR" sz="1050" dirty="0">
                <a:solidFill>
                  <a:srgbClr val="003399"/>
                </a:solidFill>
              </a:rPr>
              <a:t> </a:t>
            </a:r>
            <a:r>
              <a:rPr lang="en-US" altLang="ko-KR" sz="1050" dirty="0" err="1">
                <a:solidFill>
                  <a:schemeClr val="tx1"/>
                </a:solidFill>
              </a:rPr>
              <a:t>max_crack_mm</a:t>
            </a:r>
            <a:r>
              <a:rPr lang="en-US" altLang="ko-KR" sz="1050" dirty="0">
                <a:solidFill>
                  <a:schemeClr val="tx1"/>
                </a:solidFill>
              </a:rPr>
              <a:t> &gt;= 0.1: </a:t>
            </a:r>
            <a:r>
              <a:rPr lang="en-US" altLang="ko-KR" sz="1050" b="1" dirty="0">
                <a:solidFill>
                  <a:srgbClr val="003399"/>
                </a:solidFill>
              </a:rPr>
              <a:t>return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'B'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</a:t>
            </a:r>
            <a:r>
              <a:rPr lang="en-US" altLang="ko-KR" sz="1050" b="1" dirty="0">
                <a:solidFill>
                  <a:srgbClr val="003399"/>
                </a:solidFill>
              </a:rPr>
              <a:t>return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'A'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6F65EC-D784-4C98-87DD-AB80616454DA}"/>
              </a:ext>
            </a:extLst>
          </p:cNvPr>
          <p:cNvSpPr/>
          <p:nvPr/>
        </p:nvSpPr>
        <p:spPr>
          <a:xfrm>
            <a:off x="4932040" y="3212977"/>
            <a:ext cx="4166411" cy="1944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i="1" dirty="0">
                <a:solidFill>
                  <a:srgbClr val="00B050"/>
                </a:solidFill>
              </a:rPr>
              <a:t># backend/app/routers/photos.py (</a:t>
            </a:r>
            <a:r>
              <a:rPr lang="ko-KR" altLang="en-US" sz="1000" i="1" dirty="0">
                <a:solidFill>
                  <a:srgbClr val="00B050"/>
                </a:solidFill>
              </a:rPr>
              <a:t>핵심 부분</a:t>
            </a:r>
            <a:r>
              <a:rPr lang="en-US" altLang="ko-KR" sz="1000" i="1" dirty="0">
                <a:solidFill>
                  <a:srgbClr val="00B050"/>
                </a:solidFill>
              </a:rPr>
              <a:t>)</a:t>
            </a:r>
            <a:endParaRPr lang="ko-KR" altLang="en-US" sz="1000" dirty="0">
              <a:solidFill>
                <a:srgbClr val="00B050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@</a:t>
            </a:r>
            <a:r>
              <a:rPr lang="en-US" altLang="ko-KR" sz="1000" dirty="0" err="1">
                <a:solidFill>
                  <a:schemeClr val="tx1"/>
                </a:solidFill>
              </a:rPr>
              <a:t>router.</a:t>
            </a:r>
            <a:r>
              <a:rPr lang="en-US" altLang="ko-KR" sz="1000" dirty="0" err="1">
                <a:solidFill>
                  <a:srgbClr val="7030A0"/>
                </a:solidFill>
              </a:rPr>
              <a:t>post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  <a:t>'/photos/detect'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000" b="1" dirty="0">
                <a:solidFill>
                  <a:srgbClr val="003399"/>
                </a:solidFill>
              </a:rPr>
              <a:t>async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rgbClr val="003399"/>
                </a:solidFill>
              </a:rPr>
              <a:t>def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 err="1">
                <a:solidFill>
                  <a:srgbClr val="7030A0"/>
                </a:solidFill>
              </a:rPr>
              <a:t>detect_crack</a:t>
            </a:r>
            <a:r>
              <a:rPr lang="en-US" altLang="ko-KR" sz="1000" dirty="0">
                <a:solidFill>
                  <a:schemeClr val="tx1"/>
                </a:solidFill>
              </a:rPr>
              <a:t>(file: </a:t>
            </a:r>
            <a:r>
              <a:rPr lang="en-US" altLang="ko-KR" sz="1000" dirty="0" err="1">
                <a:solidFill>
                  <a:schemeClr val="tx1"/>
                </a:solidFill>
              </a:rPr>
              <a:t>UploadFile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</a:rPr>
              <a:t>db</a:t>
            </a:r>
            <a:r>
              <a:rPr lang="en-US" altLang="ko-KR" sz="1000" dirty="0">
                <a:solidFill>
                  <a:schemeClr val="tx1"/>
                </a:solidFill>
              </a:rPr>
              <a:t>: Session = </a:t>
            </a:r>
            <a:r>
              <a:rPr lang="en-US" altLang="ko-KR" sz="1000" dirty="0">
                <a:solidFill>
                  <a:srgbClr val="7030A0"/>
                </a:solidFill>
              </a:rPr>
              <a:t>Depends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</a:rPr>
              <a:t>get_db</a:t>
            </a:r>
            <a:r>
              <a:rPr lang="en-US" altLang="ko-KR" sz="1000" dirty="0">
                <a:solidFill>
                  <a:schemeClr val="tx1"/>
                </a:solidFill>
              </a:rPr>
              <a:t>)):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    </a:t>
            </a:r>
            <a:r>
              <a:rPr lang="en-US" altLang="ko-KR" sz="1000" dirty="0" err="1">
                <a:solidFill>
                  <a:schemeClr val="tx1"/>
                </a:solidFill>
              </a:rPr>
              <a:t>image_bytes</a:t>
            </a:r>
            <a:r>
              <a:rPr lang="en-US" altLang="ko-KR" sz="1000" dirty="0">
                <a:solidFill>
                  <a:schemeClr val="tx1"/>
                </a:solidFill>
              </a:rPr>
              <a:t> = </a:t>
            </a:r>
            <a:r>
              <a:rPr lang="en-US" altLang="ko-KR" sz="1000" b="1" dirty="0">
                <a:solidFill>
                  <a:srgbClr val="003399"/>
                </a:solidFill>
              </a:rPr>
              <a:t>await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</a:rPr>
              <a:t>file.</a:t>
            </a:r>
            <a:r>
              <a:rPr lang="en-US" altLang="ko-KR" sz="1000" dirty="0" err="1">
                <a:solidFill>
                  <a:srgbClr val="7030A0"/>
                </a:solidFill>
              </a:rPr>
              <a:t>read</a:t>
            </a:r>
            <a:r>
              <a:rPr lang="en-US" altLang="ko-KR" sz="10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    result = </a:t>
            </a:r>
            <a:r>
              <a:rPr lang="en-US" altLang="ko-KR" sz="1000" dirty="0" err="1">
                <a:solidFill>
                  <a:srgbClr val="7030A0"/>
                </a:solidFill>
              </a:rPr>
              <a:t>run_detection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</a:rPr>
              <a:t>image_bytes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</a:rPr>
              <a:t>file.filename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    </a:t>
            </a:r>
            <a:r>
              <a:rPr lang="en-US" altLang="ko-KR" sz="1000" i="1" dirty="0">
                <a:solidFill>
                  <a:srgbClr val="00B050"/>
                </a:solidFill>
              </a:rPr>
              <a:t># </a:t>
            </a:r>
            <a:r>
              <a:rPr lang="en-US" altLang="ko-KR" sz="1000" i="1" dirty="0" err="1">
                <a:solidFill>
                  <a:srgbClr val="00B050"/>
                </a:solidFill>
              </a:rPr>
              <a:t>DefectDetection</a:t>
            </a:r>
            <a:r>
              <a:rPr lang="en-US" altLang="ko-KR" sz="1000" i="1" dirty="0">
                <a:solidFill>
                  <a:srgbClr val="00B050"/>
                </a:solidFill>
              </a:rPr>
              <a:t> </a:t>
            </a:r>
            <a:r>
              <a:rPr lang="ko-KR" altLang="en-US" sz="1000" i="1" dirty="0">
                <a:solidFill>
                  <a:srgbClr val="00B050"/>
                </a:solidFill>
              </a:rPr>
              <a:t>레코드 저장</a:t>
            </a:r>
            <a:endParaRPr lang="ko-KR" altLang="en-US" sz="1000" dirty="0">
              <a:solidFill>
                <a:srgbClr val="00B050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    </a:t>
            </a:r>
            <a:r>
              <a:rPr lang="en-US" altLang="ko-KR" sz="1000" b="1" dirty="0">
                <a:solidFill>
                  <a:srgbClr val="003399"/>
                </a:solidFill>
              </a:rPr>
              <a:t>for</a:t>
            </a:r>
            <a:r>
              <a:rPr lang="en-US" altLang="ko-KR" sz="1000" dirty="0">
                <a:solidFill>
                  <a:schemeClr val="tx1"/>
                </a:solidFill>
              </a:rPr>
              <a:t> det </a:t>
            </a:r>
            <a:r>
              <a:rPr lang="en-US" altLang="ko-KR" sz="1000" b="1" dirty="0">
                <a:solidFill>
                  <a:srgbClr val="003399"/>
                </a:solidFill>
              </a:rPr>
              <a:t>in</a:t>
            </a:r>
            <a:r>
              <a:rPr lang="en-US" altLang="ko-KR" sz="1000" dirty="0">
                <a:solidFill>
                  <a:schemeClr val="tx1"/>
                </a:solidFill>
              </a:rPr>
              <a:t> result[</a:t>
            </a: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  <a:t>'detections'</a:t>
            </a:r>
            <a:r>
              <a:rPr lang="en-US" altLang="ko-KR" sz="1000" dirty="0">
                <a:solidFill>
                  <a:schemeClr val="tx1"/>
                </a:solidFill>
              </a:rPr>
              <a:t>]: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        </a:t>
            </a:r>
            <a:r>
              <a:rPr lang="en-US" altLang="ko-KR" sz="1000" dirty="0" err="1">
                <a:solidFill>
                  <a:schemeClr val="tx1"/>
                </a:solidFill>
              </a:rPr>
              <a:t>db_det</a:t>
            </a:r>
            <a:r>
              <a:rPr lang="en-US" altLang="ko-KR" sz="1000" dirty="0">
                <a:solidFill>
                  <a:schemeClr val="tx1"/>
                </a:solidFill>
              </a:rPr>
              <a:t> = </a:t>
            </a:r>
            <a:r>
              <a:rPr lang="en-US" altLang="ko-KR" sz="1000" dirty="0" err="1">
                <a:solidFill>
                  <a:schemeClr val="tx1"/>
                </a:solidFill>
              </a:rPr>
              <a:t>DefectDetection</a:t>
            </a:r>
            <a:r>
              <a:rPr lang="en-US" altLang="ko-KR" sz="1000" dirty="0">
                <a:solidFill>
                  <a:schemeClr val="tx1"/>
                </a:solidFill>
              </a:rPr>
              <a:t>(**det)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        </a:t>
            </a:r>
            <a:r>
              <a:rPr lang="en-US" altLang="ko-KR" sz="1000" dirty="0" err="1">
                <a:solidFill>
                  <a:schemeClr val="tx1"/>
                </a:solidFill>
              </a:rPr>
              <a:t>db.</a:t>
            </a:r>
            <a:r>
              <a:rPr lang="en-US" altLang="ko-KR" sz="1000" dirty="0" err="1">
                <a:solidFill>
                  <a:srgbClr val="7030A0"/>
                </a:solidFill>
              </a:rPr>
              <a:t>add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</a:rPr>
              <a:t>db_det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    </a:t>
            </a:r>
            <a:r>
              <a:rPr lang="en-US" altLang="ko-KR" sz="1000" dirty="0" err="1">
                <a:solidFill>
                  <a:schemeClr val="tx1"/>
                </a:solidFill>
              </a:rPr>
              <a:t>db.</a:t>
            </a:r>
            <a:r>
              <a:rPr lang="en-US" altLang="ko-KR" sz="1000" dirty="0" err="1">
                <a:solidFill>
                  <a:srgbClr val="7030A0"/>
                </a:solidFill>
              </a:rPr>
              <a:t>commit</a:t>
            </a:r>
            <a:r>
              <a:rPr lang="en-US" altLang="ko-KR" sz="10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    </a:t>
            </a:r>
            <a:r>
              <a:rPr lang="en-US" altLang="ko-KR" sz="1000" b="1" dirty="0">
                <a:solidFill>
                  <a:srgbClr val="003399"/>
                </a:solidFill>
              </a:rPr>
              <a:t>return</a:t>
            </a:r>
            <a:r>
              <a:rPr lang="en-US" altLang="ko-KR" sz="1000" dirty="0">
                <a:solidFill>
                  <a:schemeClr val="tx1"/>
                </a:solidFill>
              </a:rPr>
              <a:t> {</a:t>
            </a: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  <a:t>'success'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en-US" altLang="ko-KR" sz="1000" b="1" dirty="0">
                <a:solidFill>
                  <a:srgbClr val="003399"/>
                </a:solidFill>
              </a:rPr>
              <a:t>True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  <a:t>'data'</a:t>
            </a:r>
            <a:r>
              <a:rPr lang="en-US" altLang="ko-KR" sz="1000" dirty="0">
                <a:solidFill>
                  <a:schemeClr val="tx1"/>
                </a:solidFill>
              </a:rPr>
              <a:t>: result}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F67406-0389-45EE-A16B-2E587808B18E}"/>
              </a:ext>
            </a:extLst>
          </p:cNvPr>
          <p:cNvSpPr/>
          <p:nvPr/>
        </p:nvSpPr>
        <p:spPr>
          <a:xfrm>
            <a:off x="4942093" y="5247003"/>
            <a:ext cx="4166411" cy="12063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50" i="1" dirty="0">
                <a:solidFill>
                  <a:srgbClr val="00B050"/>
                </a:solidFill>
              </a:rPr>
              <a:t># frontend/</a:t>
            </a:r>
            <a:r>
              <a:rPr lang="en-US" altLang="ko-KR" sz="1050" i="1" dirty="0" err="1">
                <a:solidFill>
                  <a:srgbClr val="00B050"/>
                </a:solidFill>
              </a:rPr>
              <a:t>src</a:t>
            </a:r>
            <a:r>
              <a:rPr lang="en-US" altLang="ko-KR" sz="1050" i="1" dirty="0">
                <a:solidFill>
                  <a:srgbClr val="00B050"/>
                </a:solidFill>
              </a:rPr>
              <a:t>/</a:t>
            </a:r>
            <a:r>
              <a:rPr lang="en-US" altLang="ko-KR" sz="1050" i="1" dirty="0" err="1">
                <a:solidFill>
                  <a:srgbClr val="00B050"/>
                </a:solidFill>
              </a:rPr>
              <a:t>api</a:t>
            </a:r>
            <a:r>
              <a:rPr lang="en-US" altLang="ko-KR" sz="1050" i="1" dirty="0">
                <a:solidFill>
                  <a:srgbClr val="00B050"/>
                </a:solidFill>
              </a:rPr>
              <a:t>/detection.js</a:t>
            </a:r>
            <a:endParaRPr lang="en-US" altLang="ko-KR" sz="1050" dirty="0">
              <a:solidFill>
                <a:srgbClr val="00B050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 </a:t>
            </a:r>
          </a:p>
          <a:p>
            <a:r>
              <a:rPr lang="en-US" altLang="ko-KR" sz="1050" b="1" dirty="0">
                <a:solidFill>
                  <a:srgbClr val="003399"/>
                </a:solidFill>
              </a:rPr>
              <a:t>export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b="1" dirty="0">
                <a:solidFill>
                  <a:srgbClr val="003399"/>
                </a:solidFill>
              </a:rPr>
              <a:t>async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b="1" dirty="0">
                <a:solidFill>
                  <a:srgbClr val="003399"/>
                </a:solidFill>
              </a:rPr>
              <a:t>function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rgbClr val="7030A0"/>
                </a:solidFill>
              </a:rPr>
              <a:t>detectCrack</a:t>
            </a:r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en-US" altLang="ko-KR" sz="1050" dirty="0" err="1">
                <a:solidFill>
                  <a:schemeClr val="tx1"/>
                </a:solidFill>
              </a:rPr>
              <a:t>imageFile</a:t>
            </a:r>
            <a:r>
              <a:rPr lang="en-US" altLang="ko-KR" sz="1050" dirty="0">
                <a:solidFill>
                  <a:schemeClr val="tx1"/>
                </a:solidFill>
              </a:rPr>
              <a:t>) {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</a:t>
            </a:r>
            <a:r>
              <a:rPr lang="en-US" altLang="ko-KR" sz="1050" b="1" dirty="0">
                <a:solidFill>
                  <a:srgbClr val="003399"/>
                </a:solidFill>
              </a:rPr>
              <a:t>const</a:t>
            </a:r>
            <a:r>
              <a:rPr lang="en-US" altLang="ko-KR" sz="1050" dirty="0">
                <a:solidFill>
                  <a:schemeClr val="tx1"/>
                </a:solidFill>
              </a:rPr>
              <a:t> form = </a:t>
            </a:r>
            <a:r>
              <a:rPr lang="en-US" altLang="ko-KR" sz="1050" b="1" dirty="0">
                <a:solidFill>
                  <a:srgbClr val="003399"/>
                </a:solidFill>
              </a:rPr>
              <a:t>new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rgbClr val="7030A0"/>
                </a:solidFill>
              </a:rPr>
              <a:t>FormData</a:t>
            </a:r>
            <a:r>
              <a:rPr lang="en-US" altLang="ko-KR" sz="1050" dirty="0">
                <a:solidFill>
                  <a:schemeClr val="tx1"/>
                </a:solidFill>
              </a:rPr>
              <a:t>();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</a:t>
            </a:r>
            <a:r>
              <a:rPr lang="en-US" altLang="ko-KR" sz="1050" dirty="0" err="1">
                <a:solidFill>
                  <a:schemeClr val="tx1"/>
                </a:solidFill>
              </a:rPr>
              <a:t>form.</a:t>
            </a:r>
            <a:r>
              <a:rPr lang="en-US" altLang="ko-KR" sz="1050" dirty="0" err="1">
                <a:solidFill>
                  <a:srgbClr val="7030A0"/>
                </a:solidFill>
              </a:rPr>
              <a:t>append</a:t>
            </a:r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'file'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en-US" altLang="ko-KR" sz="1050" dirty="0" err="1">
                <a:solidFill>
                  <a:schemeClr val="tx1"/>
                </a:solidFill>
              </a:rPr>
              <a:t>imageFile</a:t>
            </a:r>
            <a:r>
              <a:rPr lang="en-US" altLang="ko-KR" sz="1050" dirty="0">
                <a:solidFill>
                  <a:schemeClr val="tx1"/>
                </a:solidFill>
              </a:rPr>
              <a:t>);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    </a:t>
            </a:r>
            <a:r>
              <a:rPr lang="en-US" altLang="ko-KR" sz="1050" b="1" dirty="0">
                <a:solidFill>
                  <a:srgbClr val="003399"/>
                </a:solidFill>
              </a:rPr>
              <a:t>return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 err="1">
                <a:solidFill>
                  <a:schemeClr val="tx1"/>
                </a:solidFill>
              </a:rPr>
              <a:t>apiClient.</a:t>
            </a:r>
            <a:r>
              <a:rPr lang="en-US" altLang="ko-KR" sz="1050" dirty="0" err="1">
                <a:solidFill>
                  <a:srgbClr val="7030A0"/>
                </a:solidFill>
              </a:rPr>
              <a:t>post</a:t>
            </a:r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en-US" altLang="ko-KR" sz="1050" dirty="0">
                <a:solidFill>
                  <a:schemeClr val="accent6">
                    <a:lumMod val="75000"/>
                  </a:schemeClr>
                </a:solidFill>
              </a:rPr>
              <a:t>'/v1/photos/detect'</a:t>
            </a:r>
            <a:r>
              <a:rPr lang="en-US" altLang="ko-KR" sz="1050" dirty="0">
                <a:solidFill>
                  <a:schemeClr val="tx1"/>
                </a:solidFill>
              </a:rPr>
              <a:t>, form);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9F5526-A2F4-4A3F-AA52-61E83E05907C}"/>
              </a:ext>
            </a:extLst>
          </p:cNvPr>
          <p:cNvSpPr/>
          <p:nvPr/>
        </p:nvSpPr>
        <p:spPr>
          <a:xfrm>
            <a:off x="4644008" y="1073659"/>
            <a:ext cx="2150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생성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0092E4-BB94-44D6-85BC-E60A23BEF5BF}"/>
              </a:ext>
            </a:extLst>
          </p:cNvPr>
          <p:cNvSpPr/>
          <p:nvPr/>
        </p:nvSpPr>
        <p:spPr>
          <a:xfrm>
            <a:off x="-108520" y="1073659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dirty="0"/>
              <a:t>YOLOv8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탐지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2459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766829"/>
              </p:ext>
            </p:extLst>
          </p:nvPr>
        </p:nvGraphicFramePr>
        <p:xfrm>
          <a:off x="594898" y="1196752"/>
          <a:ext cx="7793526" cy="5127456"/>
        </p:xfrm>
        <a:graphic>
          <a:graphicData uri="http://schemas.openxmlformats.org/drawingml/2006/table">
            <a:tbl>
              <a:tblPr/>
              <a:tblGrid>
                <a:gridCol w="952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28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 err="1"/>
                        <a:t>구분</a:t>
                      </a:r>
                      <a:endParaRPr sz="1050" b="1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/>
                        <a:t>항목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/>
                        <a:t>적용내역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89"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S/</a:t>
                      </a:r>
                      <a:r>
                        <a:rPr sz="1050" dirty="0" err="1"/>
                        <a:t>W개발환경</a:t>
                      </a:r>
                      <a:endParaRPr sz="1050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프론트엔드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개발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React 18 + Vite 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SPA 개발 프레임워크, 번들러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6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React Router v6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클라이언트 사이드 라우팅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dirty="0" err="1"/>
                        <a:t>백엔드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개발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FastAPI 0.115 (Python 3.11)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REST API </a:t>
                      </a:r>
                      <a:r>
                        <a:rPr sz="1050" dirty="0" err="1"/>
                        <a:t>서버</a:t>
                      </a:r>
                      <a:r>
                        <a:rPr sz="1050" dirty="0"/>
                        <a:t>, Swagger </a:t>
                      </a:r>
                      <a:r>
                        <a:rPr sz="1050" dirty="0" err="1"/>
                        <a:t>자동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생성</a:t>
                      </a:r>
                      <a:endParaRPr sz="1050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/>
                        <a:t>백엔드</a:t>
                      </a:r>
                      <a:r>
                        <a:rPr lang="ko-KR" altLang="en-US" sz="1050" dirty="0"/>
                        <a:t> 개발</a:t>
                      </a:r>
                      <a:endParaRPr sz="1050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SQLAlchemy 2.0 + SQLite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/>
                        <a:t>ORM 및 </a:t>
                      </a:r>
                      <a:r>
                        <a:rPr sz="1050" dirty="0" err="1"/>
                        <a:t>개발용</a:t>
                      </a:r>
                      <a:r>
                        <a:rPr sz="1050" dirty="0"/>
                        <a:t> DB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2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Ultralytics YOLOv8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균열 탐지 AI 모델 (mAP50 0.86)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OpenCV 4.6+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이미지 처리, 바운딩박스 오버레이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2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python-jose (JWT)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인증 토큰 생성/검증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2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ReportLab + python-docx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PDF/DOCX 보고서 자동 생성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606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H/W</a:t>
                      </a:r>
                      <a:r>
                        <a:rPr lang="ko-KR" altLang="en-US" sz="1050" dirty="0"/>
                        <a:t>개발환경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50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개발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도구</a:t>
                      </a:r>
                      <a:endParaRPr sz="1050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Visual Studio Code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주 개발 IDE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32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Docker Desktop + Docker Compose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컨테이너 배포 환경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2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50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Postman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API 테스트 도구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2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Git (로컬)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버전 관리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3299">
                <a:tc vMerge="1">
                  <a:txBody>
                    <a:bodyPr/>
                    <a:lstStyle/>
                    <a:p>
                      <a:pPr latinLnBrk="1"/>
                      <a:r>
                        <a:rPr dirty="0"/>
                        <a:t>H/</a:t>
                      </a:r>
                      <a:r>
                        <a:rPr dirty="0" err="1"/>
                        <a:t>W구성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디바이스</a:t>
                      </a:r>
                      <a:endParaRPr sz="1050" dirty="0"/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/>
                        <a:t>스마트폰 (Android/iOS)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/>
                        <a:t>현장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사진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촬영</a:t>
                      </a:r>
                      <a:r>
                        <a:rPr sz="1050" dirty="0"/>
                        <a:t>, 앱 </a:t>
                      </a:r>
                      <a:r>
                        <a:rPr sz="1050" dirty="0" err="1"/>
                        <a:t>접속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단말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FA21BE-BF57-0869-9170-38A087961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프로젝트 관리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2793828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</a:rPr>
              <a:t>일정 관리</a:t>
            </a:r>
            <a:r>
              <a:rPr lang="en-US" altLang="ko-KR" sz="1050" dirty="0">
                <a:solidFill>
                  <a:schemeClr val="tx1"/>
                </a:solidFill>
              </a:rPr>
              <a:t>: Notion </a:t>
            </a:r>
            <a:r>
              <a:rPr lang="ko-KR" altLang="en-US" sz="1050" dirty="0">
                <a:solidFill>
                  <a:schemeClr val="tx1"/>
                </a:solidFill>
              </a:rPr>
              <a:t>작업 보드</a:t>
            </a:r>
            <a:endParaRPr lang="en-US" altLang="ko-KR" sz="1050" dirty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</a:rPr>
              <a:t>소통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err="1">
                <a:solidFill>
                  <a:schemeClr val="tx1"/>
                </a:solidFill>
              </a:rPr>
              <a:t>KakaoTalk</a:t>
            </a:r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50" dirty="0">
                <a:solidFill>
                  <a:schemeClr val="tx1"/>
                </a:solidFill>
              </a:rPr>
              <a:t>API </a:t>
            </a:r>
            <a:r>
              <a:rPr lang="ko-KR" altLang="en-US" sz="1050" dirty="0">
                <a:solidFill>
                  <a:schemeClr val="tx1"/>
                </a:solidFill>
              </a:rPr>
              <a:t>문서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err="1">
                <a:solidFill>
                  <a:schemeClr val="tx1"/>
                </a:solidFill>
              </a:rPr>
              <a:t>FastAPI</a:t>
            </a:r>
            <a:r>
              <a:rPr lang="en-US" altLang="ko-KR" sz="1050" dirty="0">
                <a:solidFill>
                  <a:schemeClr val="tx1"/>
                </a:solidFill>
              </a:rPr>
              <a:t> Swagger UI (/docs)</a:t>
            </a:r>
          </a:p>
          <a:p>
            <a:pPr marL="171450" indent="-171450">
              <a:buFontTx/>
              <a:buChar char="-"/>
            </a:pPr>
            <a:endParaRPr lang="en-US" altLang="ko-KR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3131840" y="1484784"/>
            <a:ext cx="288032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50" dirty="0">
                <a:solidFill>
                  <a:schemeClr val="tx1"/>
                </a:solidFill>
              </a:rPr>
              <a:t>Git </a:t>
            </a:r>
            <a:r>
              <a:rPr lang="ko-KR" altLang="en-US" sz="1050" dirty="0">
                <a:solidFill>
                  <a:schemeClr val="tx1"/>
                </a:solidFill>
              </a:rPr>
              <a:t>로컬 버전 관리</a:t>
            </a:r>
            <a:r>
              <a:rPr lang="en-US" altLang="ko-KR" sz="1050" dirty="0">
                <a:solidFill>
                  <a:schemeClr val="tx1"/>
                </a:solidFill>
              </a:rPr>
              <a:t>, feature </a:t>
            </a:r>
            <a:r>
              <a:rPr lang="ko-KR" altLang="en-US" sz="1050" dirty="0" err="1">
                <a:solidFill>
                  <a:schemeClr val="tx1"/>
                </a:solidFill>
              </a:rPr>
              <a:t>브랜치</a:t>
            </a:r>
            <a:r>
              <a:rPr lang="ko-KR" altLang="en-US" sz="1050" dirty="0">
                <a:solidFill>
                  <a:schemeClr val="tx1"/>
                </a:solidFill>
              </a:rPr>
              <a:t> 전략 적용</a:t>
            </a:r>
            <a:endParaRPr lang="en-US" altLang="ko-KR" sz="1050" dirty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</a:rPr>
              <a:t>주요 </a:t>
            </a:r>
            <a:r>
              <a:rPr lang="ko-KR" altLang="en-US" sz="1050" dirty="0" err="1">
                <a:solidFill>
                  <a:schemeClr val="tx1"/>
                </a:solidFill>
              </a:rPr>
              <a:t>커밋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ko-KR" altLang="en-US" sz="1050" dirty="0">
                <a:solidFill>
                  <a:schemeClr val="tx1"/>
                </a:solidFill>
              </a:rPr>
              <a:t>인증 구현</a:t>
            </a:r>
            <a:r>
              <a:rPr lang="en-US" altLang="ko-KR" sz="1050" dirty="0">
                <a:solidFill>
                  <a:schemeClr val="tx1"/>
                </a:solidFill>
              </a:rPr>
              <a:t>, YOLO </a:t>
            </a:r>
            <a:r>
              <a:rPr lang="ko-KR" altLang="en-US" sz="1050" dirty="0">
                <a:solidFill>
                  <a:schemeClr val="tx1"/>
                </a:solidFill>
              </a:rPr>
              <a:t>통합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보고서 생성</a:t>
            </a:r>
            <a:r>
              <a:rPr lang="en-US" altLang="ko-KR" sz="1050" dirty="0">
                <a:solidFill>
                  <a:schemeClr val="tx1"/>
                </a:solidFill>
              </a:rPr>
              <a:t>, Docker </a:t>
            </a:r>
            <a:r>
              <a:rPr lang="ko-KR" altLang="en-US" sz="1050" dirty="0">
                <a:solidFill>
                  <a:schemeClr val="tx1"/>
                </a:solidFill>
              </a:rPr>
              <a:t>배포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05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6084168" y="1484784"/>
            <a:ext cx="2981592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이슈</a:t>
            </a:r>
            <a:r>
              <a:rPr lang="en-US" altLang="ko-KR" sz="1000" dirty="0">
                <a:solidFill>
                  <a:schemeClr val="tx1"/>
                </a:solidFill>
              </a:rPr>
              <a:t>1] YOLOv8 </a:t>
            </a:r>
            <a:r>
              <a:rPr lang="ko-KR" altLang="en-US" sz="1000" dirty="0">
                <a:solidFill>
                  <a:schemeClr val="tx1"/>
                </a:solidFill>
              </a:rPr>
              <a:t>모델 파일 </a:t>
            </a:r>
            <a:r>
              <a:rPr lang="en-US" altLang="ko-KR" sz="1000" dirty="0">
                <a:solidFill>
                  <a:schemeClr val="tx1"/>
                </a:solidFill>
              </a:rPr>
              <a:t>Git </a:t>
            </a:r>
            <a:r>
              <a:rPr lang="ko-KR" altLang="en-US" sz="1000" dirty="0">
                <a:solidFill>
                  <a:schemeClr val="tx1"/>
                </a:solidFill>
              </a:rPr>
              <a:t>관리 문제 → 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r>
              <a:rPr lang="en-US" altLang="ko-KR" sz="1000" dirty="0" err="1">
                <a:solidFill>
                  <a:schemeClr val="tx1"/>
                </a:solidFill>
              </a:rPr>
              <a:t>gitignore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제외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이슈</a:t>
            </a:r>
            <a:r>
              <a:rPr lang="en-US" altLang="ko-KR" sz="1000" dirty="0">
                <a:solidFill>
                  <a:schemeClr val="tx1"/>
                </a:solidFill>
              </a:rPr>
              <a:t>2] </a:t>
            </a:r>
            <a:r>
              <a:rPr lang="ko-KR" altLang="en-US" sz="1000" dirty="0">
                <a:solidFill>
                  <a:schemeClr val="tx1"/>
                </a:solidFill>
              </a:rPr>
              <a:t>한국어 </a:t>
            </a:r>
            <a:r>
              <a:rPr lang="en-US" altLang="ko-KR" sz="1000" dirty="0">
                <a:solidFill>
                  <a:schemeClr val="tx1"/>
                </a:solidFill>
              </a:rPr>
              <a:t>PDF </a:t>
            </a:r>
            <a:r>
              <a:rPr lang="ko-KR" altLang="en-US" sz="1000" dirty="0">
                <a:solidFill>
                  <a:schemeClr val="tx1"/>
                </a:solidFill>
              </a:rPr>
              <a:t>폰트 깨짐 → </a:t>
            </a:r>
            <a:r>
              <a:rPr lang="en-US" altLang="ko-KR" sz="1000" dirty="0">
                <a:solidFill>
                  <a:schemeClr val="tx1"/>
                </a:solidFill>
              </a:rPr>
              <a:t>malgun.ttf </a:t>
            </a:r>
            <a:r>
              <a:rPr lang="ko-KR" altLang="en-US" sz="1000" dirty="0">
                <a:solidFill>
                  <a:schemeClr val="tx1"/>
                </a:solidFill>
              </a:rPr>
              <a:t>등록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이슈</a:t>
            </a:r>
            <a:r>
              <a:rPr lang="en-US" altLang="ko-KR" sz="1000" dirty="0">
                <a:solidFill>
                  <a:schemeClr val="tx1"/>
                </a:solidFill>
              </a:rPr>
              <a:t>3] </a:t>
            </a:r>
            <a:r>
              <a:rPr lang="ko-KR" altLang="en-US" sz="1000" dirty="0">
                <a:solidFill>
                  <a:schemeClr val="tx1"/>
                </a:solidFill>
              </a:rPr>
              <a:t>보고서 생성 블로킹 → </a:t>
            </a:r>
            <a:r>
              <a:rPr lang="en-US" altLang="ko-KR" sz="1000" dirty="0" err="1">
                <a:solidFill>
                  <a:schemeClr val="tx1"/>
                </a:solidFill>
              </a:rPr>
              <a:t>BackgroundTasks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전환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이슈</a:t>
            </a:r>
            <a:r>
              <a:rPr lang="en-US" altLang="ko-KR" sz="1000" dirty="0">
                <a:solidFill>
                  <a:schemeClr val="tx1"/>
                </a:solidFill>
              </a:rPr>
              <a:t>4] API </a:t>
            </a:r>
            <a:r>
              <a:rPr lang="ko-KR" altLang="en-US" sz="1000" dirty="0">
                <a:solidFill>
                  <a:schemeClr val="tx1"/>
                </a:solidFill>
              </a:rPr>
              <a:t>인터페이스 불일치 → </a:t>
            </a:r>
            <a:r>
              <a:rPr lang="en-US" altLang="ko-KR" sz="1000" dirty="0">
                <a:solidFill>
                  <a:schemeClr val="tx1"/>
                </a:solidFill>
              </a:rPr>
              <a:t>Swagger</a:t>
            </a:r>
          </a:p>
          <a:p>
            <a:pPr marL="171450" indent="-171450">
              <a:buFontTx/>
              <a:buChar char="-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7872" y="1516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/>
              <a:t>이슈관리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3848" y="15007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형상관리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660" y="148478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프로젝트 관리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26D0B7D-EFC9-128F-423A-9281E7C679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93BE3A4-933A-46D5-AA17-5A8CC93AC6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83"/>
          <a:stretch/>
        </p:blipFill>
        <p:spPr bwMode="auto">
          <a:xfrm>
            <a:off x="3161488" y="1814581"/>
            <a:ext cx="2850672" cy="2622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F84B9B-D4E8-43A4-BDCB-5F7EC85B6A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50"/>
          <a:stretch/>
        </p:blipFill>
        <p:spPr bwMode="auto">
          <a:xfrm>
            <a:off x="6127916" y="1854116"/>
            <a:ext cx="2793828" cy="256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E9D5C92-4A7E-4002-9D0E-DC852F147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10" y="1894066"/>
            <a:ext cx="2450089" cy="252743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C7351D6-7DFC-43CD-BD5F-E7DE1B54BFBA}"/>
              </a:ext>
            </a:extLst>
          </p:cNvPr>
          <p:cNvSpPr/>
          <p:nvPr/>
        </p:nvSpPr>
        <p:spPr>
          <a:xfrm>
            <a:off x="311013" y="4437112"/>
            <a:ext cx="270507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그림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3-1  Notion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이용한 프로젝트 관리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BF15E58-2983-490E-8A82-4B3665E0A191}"/>
              </a:ext>
            </a:extLst>
          </p:cNvPr>
          <p:cNvSpPr/>
          <p:nvPr/>
        </p:nvSpPr>
        <p:spPr>
          <a:xfrm>
            <a:off x="3235081" y="4437112"/>
            <a:ext cx="270507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그림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3-2  Git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을 이용한 형상 관리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47EAEB-1DFF-4B89-A419-ED3F1BFAE46D}"/>
              </a:ext>
            </a:extLst>
          </p:cNvPr>
          <p:cNvSpPr/>
          <p:nvPr/>
        </p:nvSpPr>
        <p:spPr>
          <a:xfrm>
            <a:off x="6156176" y="4437112"/>
            <a:ext cx="270507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그림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3-3 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이슈 </a:t>
            </a:r>
            <a:r>
              <a:rPr lang="ko-KR" altLang="en-US" sz="1000" dirty="0" err="1">
                <a:solidFill>
                  <a:schemeClr val="bg1">
                    <a:lumMod val="65000"/>
                  </a:schemeClr>
                </a:solidFill>
              </a:rPr>
              <a:t>트래킹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및 해결 내역</a:t>
            </a:r>
          </a:p>
        </p:txBody>
      </p:sp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1600" y="6502764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B488D3-AF34-7CBE-A60C-C2CAAAD8CA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2303</TotalTime>
  <Words>4839</Words>
  <Application>Microsoft Office PowerPoint</Application>
  <PresentationFormat>화면 슬라이드 쇼(4:3)</PresentationFormat>
  <Paragraphs>707</Paragraphs>
  <Slides>35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3" baseType="lpstr">
      <vt:lpstr>맑은 고딕</vt:lpstr>
      <vt:lpstr>맑은 고딕</vt:lpstr>
      <vt:lpstr>현대하모니 L</vt:lpstr>
      <vt:lpstr>Arial</vt:lpstr>
      <vt:lpstr>Calibri</vt:lpstr>
      <vt:lpstr>Trebuchet MS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이낙선</dc:creator>
  <cp:lastModifiedBy>김광훈</cp:lastModifiedBy>
  <cp:revision>375</cp:revision>
  <dcterms:created xsi:type="dcterms:W3CDTF">2014-04-16T00:55:54Z</dcterms:created>
  <dcterms:modified xsi:type="dcterms:W3CDTF">2026-07-13T08:01:27Z</dcterms:modified>
</cp:coreProperties>
</file>