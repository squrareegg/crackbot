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65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91A1C2-3117-4824-B89E-C049B8889242}" v="49" dt="2026-03-27T03:29:00.3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B97A4-1822-46C8-83B0-F3FD6898E5D7}" type="datetimeFigureOut">
              <a:t>2026-03-26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D32ED4-7476-4E02-B08A-82EF601190FF}" type="slidenum"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803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7.png"/><Relationship Id="rId4" Type="http://schemas.openxmlformats.org/officeDocument/2006/relationships/image" Target="../media/image8.pn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1B3E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F52BA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02920"/>
            <a:ext cx="2560320" cy="347472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2026 한이음 드림업 프로젝트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CrackBot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00" dirty="0">
                <a:solidFill>
                  <a:srgbClr val="93C5FD"/>
                </a:solidFill>
              </a:rPr>
              <a:t>인간의 한계를 넘는</a:t>
            </a:r>
            <a:endParaRPr lang="en-US" sz="2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2200" dirty="0">
                <a:solidFill>
                  <a:srgbClr val="93C5FD"/>
                </a:solidFill>
              </a:rPr>
              <a:t>AI 무인 정밀 점검 시스템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2743200" cy="36576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383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</a:rPr>
              <a:t>발표자  김광훈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</a:rPr>
              <a:t>수행기간  2026.04.01 ~ 2026.10.30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731520"/>
            <a:ext cx="1828800" cy="1828800"/>
          </a:xfrm>
          <a:prstGeom prst="ellipse">
            <a:avLst/>
          </a:prstGeom>
          <a:solidFill>
            <a:srgbClr val="0F52BA">
              <a:alpha val="60000"/>
            </a:srgbClr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051560"/>
            <a:ext cx="1188720" cy="11887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839712" y="4206240"/>
            <a:ext cx="1078992" cy="310896"/>
          </a:xfrm>
          <a:prstGeom prst="rect">
            <a:avLst/>
          </a:prstGeom>
          <a:solidFill>
            <a:srgbClr val="0F52BA">
              <a:alpha val="3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39712" y="420624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OpenCV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010144" y="4206240"/>
            <a:ext cx="1078992" cy="310896"/>
          </a:xfrm>
          <a:prstGeom prst="rect">
            <a:avLst/>
          </a:prstGeom>
          <a:solidFill>
            <a:srgbClr val="0F52BA">
              <a:alpha val="3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10144" y="420624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FastAPI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001000" y="4617720"/>
            <a:ext cx="1078992" cy="310896"/>
          </a:xfrm>
          <a:prstGeom prst="rect">
            <a:avLst/>
          </a:prstGeom>
          <a:solidFill>
            <a:srgbClr val="0F52BA">
              <a:alpha val="3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08620" y="461772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React Native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839712" y="4617720"/>
            <a:ext cx="1078992" cy="310896"/>
          </a:xfrm>
          <a:prstGeom prst="rect">
            <a:avLst/>
          </a:prstGeom>
          <a:solidFill>
            <a:srgbClr val="0F52BA">
              <a:alpha val="3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39712" y="461772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LiDAR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</a:rPr>
              <a:t>문제 인식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왜 지금 AI 점검 시스템이 필요한가?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3192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393192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F4444"/>
                </a:solidFill>
              </a:rPr>
              <a:t>🚨  BREAKING NEWS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93B"/>
                </a:solidFill>
              </a:rPr>
              <a:t>47년 된 노후 건물</a:t>
            </a:r>
            <a:endParaRPr lang="en-US" sz="18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93B"/>
                </a:solidFill>
              </a:rPr>
              <a:t>한밤중 갑작스런 붕괴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2377440"/>
            <a:ext cx="365760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02920" y="23774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[이곳에 관련 이미지/도표를 삽입하세요]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노후 건물 붕괴 뉴스 사진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886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75569"/>
                </a:solidFill>
              </a:rPr>
              <a:t>징후가 충분했음에도 안전조치 미이행 → 핵심 위법사유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51560"/>
            <a:ext cx="54864" cy="105156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307592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504688" y="11430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안전 사각지대 심화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504688" y="1463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40년 이상 노후 건축물 급증에도</a:t>
            </a:r>
            <a:endParaRPr lang="en-US" sz="9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예산·인력 부족으로 정밀 점검 불가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589520" y="1234440"/>
            <a:ext cx="1051560" cy="6858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0" y="125272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30년↑ 건물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589520" y="156362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F4444"/>
                </a:solidFill>
              </a:rPr>
              <a:t>전체 건축물의 40% 돌파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754880" y="2240280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2240280"/>
            <a:ext cx="54864" cy="105156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496312"/>
            <a:ext cx="457200" cy="4572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04688" y="23317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현장 업무 극심한 비효율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504688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수기 기록 + 수동 사진 분류</a:t>
            </a:r>
            <a:endParaRPr lang="en-US" sz="9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보고서 작성에 최대 일주일 소요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7589520" y="2423160"/>
            <a:ext cx="1051560" cy="6858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589520" y="24414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최대 7일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7589520" y="275234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F4444"/>
                </a:solidFill>
              </a:rPr>
              <a:t>보고서 한 건 작성 시간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4754880" y="3429000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754880" y="3429000"/>
            <a:ext cx="54864" cy="105156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685032"/>
            <a:ext cx="457200" cy="4572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504688" y="3520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주관적 점검의 한계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5504688" y="3840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점검자 숙련도에 따라 결과 편차 발생</a:t>
            </a:r>
            <a:endParaRPr lang="en-US" sz="9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0.1mm 미세 균열은 육안 탐지 불가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7589520" y="3611880"/>
            <a:ext cx="1051560" cy="6858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7589520" y="363016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0.1mm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7589520" y="39410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F4444"/>
                </a:solidFill>
              </a:rPr>
              <a:t>육안 한계를 넘는 미세 균열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AI </a:t>
            </a:r>
            <a:r>
              <a:rPr lang="en-US" sz="900" dirty="0" err="1">
                <a:solidFill>
                  <a:srgbClr val="94A3B8"/>
                </a:solidFill>
              </a:rPr>
              <a:t>CrackBot</a:t>
            </a:r>
            <a:r>
              <a:rPr lang="en-US" sz="900" dirty="0">
                <a:solidFill>
                  <a:srgbClr val="94A3B8"/>
                </a:solidFill>
              </a:rPr>
              <a:t>  |  2 / 14</a:t>
            </a:r>
            <a:endParaRPr lang="en-US" sz="900" dirty="0"/>
          </a:p>
        </p:txBody>
      </p:sp>
      <p:pic>
        <p:nvPicPr>
          <p:cNvPr id="39" name="그림 38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038F1C-E431-0E64-D11C-272A85E2A5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612" y="2376603"/>
            <a:ext cx="3661377" cy="15054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</a:rPr>
              <a:t>경쟁사 분석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왜 AI CrackBot이 압도적인가?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8404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3840480" cy="4572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515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b="1" dirty="0" err="1">
                <a:solidFill>
                  <a:srgbClr val="EF4444"/>
                </a:solidFill>
                <a:ea typeface="+mn-lt"/>
                <a:cs typeface="+mn-lt"/>
              </a:rPr>
              <a:t>포스코이앤씨</a:t>
            </a:r>
            <a:endParaRPr lang="en-US" sz="900" b="1" dirty="0" err="1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93B"/>
                </a:solidFill>
              </a:rPr>
              <a:t>POS-VISION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40480" cy="502920"/>
          </a:xfrm>
          <a:prstGeom prst="rect">
            <a:avLst/>
          </a:prstGeom>
          <a:solidFill>
            <a:srgbClr val="FAFAFA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82496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161848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</a:rPr>
              <a:t>점검 방식  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828800" y="16184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 err="1">
                <a:solidFill>
                  <a:srgbClr val="475569"/>
                </a:solidFill>
                <a:ea typeface="Calibri"/>
                <a:cs typeface="Calibri"/>
              </a:rPr>
              <a:t>드론</a:t>
            </a:r>
            <a:r>
              <a:rPr lang="ko-KR" altLang="en-US" sz="1000" dirty="0">
                <a:solidFill>
                  <a:srgbClr val="475569"/>
                </a:solidFill>
                <a:ea typeface="Calibri"/>
                <a:cs typeface="Calibri"/>
              </a:rPr>
              <a:t> 활용 상공 촬영 방식</a:t>
            </a:r>
            <a:endParaRPr lang="en-US" altLang="ko-KR" sz="1000" dirty="0">
              <a:solidFill>
                <a:srgbClr val="475569"/>
              </a:solidFill>
              <a:ea typeface="Calibri"/>
              <a:cs typeface="Calibri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8541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2960" y="21214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</a:rPr>
              <a:t>정확도  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828800" y="21214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75569"/>
                </a:solidFill>
                <a:ea typeface="Calibri"/>
                <a:cs typeface="Calibri"/>
              </a:rPr>
              <a:t>0.3mm </a:t>
            </a:r>
            <a:r>
              <a:rPr lang="ko-KR" altLang="en-US" sz="1000" dirty="0">
                <a:solidFill>
                  <a:srgbClr val="475569"/>
                </a:solidFill>
                <a:ea typeface="Calibri"/>
                <a:cs typeface="Calibri"/>
              </a:rPr>
              <a:t>이상의</a:t>
            </a:r>
            <a:r>
              <a:rPr lang="en-US" sz="1000" dirty="0">
                <a:solidFill>
                  <a:srgbClr val="475569"/>
                </a:solidFill>
                <a:ea typeface="Calibri"/>
                <a:cs typeface="Calibri"/>
              </a:rPr>
              <a:t> </a:t>
            </a:r>
            <a:r>
              <a:rPr lang="en-US" sz="1000" dirty="0" err="1">
                <a:solidFill>
                  <a:srgbClr val="475569"/>
                </a:solidFill>
                <a:ea typeface="Calibri"/>
                <a:cs typeface="Calibri"/>
              </a:rPr>
              <a:t>균열</a:t>
            </a:r>
            <a:r>
              <a:rPr lang="en-US" altLang="ko-KR" sz="1000" dirty="0">
                <a:solidFill>
                  <a:srgbClr val="475569"/>
                </a:solidFill>
                <a:ea typeface="Calibri"/>
                <a:cs typeface="Calibri"/>
              </a:rPr>
              <a:t> </a:t>
            </a:r>
            <a:r>
              <a:rPr lang="ko-KR" altLang="en-US" sz="1000" dirty="0">
                <a:solidFill>
                  <a:srgbClr val="475569"/>
                </a:solidFill>
                <a:ea typeface="Calibri"/>
                <a:cs typeface="Calibri"/>
              </a:rPr>
              <a:t>탐지</a:t>
            </a:r>
            <a:endParaRPr lang="en-US" sz="1000" dirty="0">
              <a:solidFill>
                <a:srgbClr val="475569"/>
              </a:solidFill>
              <a:ea typeface="Calibri"/>
              <a:cs typeface="Calibri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365760" y="2578608"/>
            <a:ext cx="3840480" cy="502920"/>
          </a:xfrm>
          <a:prstGeom prst="rect">
            <a:avLst/>
          </a:prstGeom>
          <a:solidFill>
            <a:srgbClr val="FAFAF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8833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" y="262432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</a:rPr>
              <a:t>위험 구역  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828800" y="26243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475569"/>
                </a:solidFill>
                <a:ea typeface="Calibri"/>
                <a:cs typeface="Calibri"/>
              </a:rPr>
              <a:t>강풍 및 비행 제한 구역 영향</a:t>
            </a: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91256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" y="31272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</a:rPr>
              <a:t>균열 측정  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828800" y="31272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475569"/>
                </a:solidFill>
                <a:ea typeface="Calibri"/>
                <a:cs typeface="Calibri"/>
              </a:rPr>
              <a:t>영상 기반 품질 하자 전반 관리</a:t>
            </a:r>
            <a:endParaRPr lang="en-US" sz="1000" dirty="0">
              <a:solidFill>
                <a:srgbClr val="475569"/>
              </a:solidFill>
              <a:ea typeface="Calibri"/>
              <a:cs typeface="Calibri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365760" y="3584448"/>
            <a:ext cx="3840480" cy="502920"/>
          </a:xfrm>
          <a:prstGeom prst="rect">
            <a:avLst/>
          </a:prstGeom>
          <a:solidFill>
            <a:srgbClr val="FAFAFA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9417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22960" y="363016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</a:rPr>
              <a:t>보고서  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1828800" y="36301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475569"/>
                </a:solidFill>
                <a:ea typeface="Calibri"/>
                <a:cs typeface="Calibri"/>
              </a:rPr>
              <a:t>기업</a:t>
            </a:r>
            <a:r>
              <a:rPr lang="en-US" altLang="ko-KR" sz="1000" dirty="0">
                <a:solidFill>
                  <a:srgbClr val="475569"/>
                </a:solidFill>
                <a:ea typeface="Calibri"/>
                <a:cs typeface="Calibri"/>
              </a:rPr>
              <a:t> </a:t>
            </a:r>
            <a:r>
              <a:rPr lang="ko-KR" altLang="en-US" sz="1000" dirty="0">
                <a:solidFill>
                  <a:srgbClr val="475569"/>
                </a:solidFill>
                <a:ea typeface="Calibri"/>
                <a:cs typeface="Calibri"/>
              </a:rPr>
              <a:t>전용</a:t>
            </a:r>
            <a:r>
              <a:rPr lang="en-US" sz="1000">
                <a:solidFill>
                  <a:srgbClr val="475569"/>
                </a:solidFill>
                <a:ea typeface="Calibri"/>
                <a:cs typeface="Calibri"/>
              </a:rPr>
              <a:t> </a:t>
            </a:r>
            <a:r>
              <a:rPr lang="ko-KR" altLang="en-US" sz="1000">
                <a:solidFill>
                  <a:srgbClr val="475569"/>
                </a:solidFill>
                <a:ea typeface="Calibri"/>
                <a:cs typeface="Calibri"/>
              </a:rPr>
              <a:t>관리</a:t>
            </a:r>
            <a:r>
              <a:rPr lang="en-US" sz="1000">
                <a:solidFill>
                  <a:srgbClr val="475569"/>
                </a:solidFill>
                <a:ea typeface="Calibri"/>
                <a:cs typeface="Calibri"/>
              </a:rPr>
              <a:t> </a:t>
            </a:r>
            <a:r>
              <a:rPr lang="ko-KR" altLang="en-US" sz="1000">
                <a:solidFill>
                  <a:srgbClr val="475569"/>
                </a:solidFill>
                <a:ea typeface="Calibri"/>
                <a:cs typeface="Calibri"/>
              </a:rPr>
              <a:t>플랫폼</a:t>
            </a:r>
            <a:r>
              <a:rPr lang="en-US" sz="1000">
                <a:solidFill>
                  <a:srgbClr val="475569"/>
                </a:solidFill>
                <a:ea typeface="Calibri"/>
                <a:cs typeface="Calibri"/>
              </a:rPr>
              <a:t> </a:t>
            </a:r>
            <a:r>
              <a:rPr lang="ko-KR" altLang="en-US" sz="1000">
                <a:solidFill>
                  <a:srgbClr val="475569"/>
                </a:solidFill>
                <a:ea typeface="Calibri"/>
                <a:cs typeface="Calibri"/>
              </a:rPr>
              <a:t>활용</a:t>
            </a:r>
            <a:endParaRPr lang="ko-KR" altLang="en-US" sz="1000" dirty="0">
              <a:solidFill>
                <a:srgbClr val="475569"/>
              </a:solidFill>
              <a:ea typeface="Calibri"/>
              <a:cs typeface="Calibri"/>
            </a:endParaRPr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97096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22960" y="413308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</a:rPr>
              <a:t>하드웨어  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828800" y="41330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475569"/>
                </a:solidFill>
                <a:ea typeface="Calibri"/>
                <a:cs typeface="Calibri"/>
              </a:rPr>
              <a:t>고화질 영상 장비 장착 </a:t>
            </a:r>
            <a:r>
              <a:rPr lang="ko-KR" altLang="en-US" sz="1000" dirty="0" err="1">
                <a:solidFill>
                  <a:srgbClr val="475569"/>
                </a:solidFill>
                <a:ea typeface="Calibri"/>
                <a:cs typeface="Calibri"/>
              </a:rPr>
              <a:t>드론</a:t>
            </a:r>
            <a:endParaRPr lang="en-US" sz="1000" dirty="0" err="1">
              <a:solidFill>
                <a:srgbClr val="475569"/>
              </a:solidFill>
              <a:ea typeface="Calibri"/>
              <a:cs typeface="Calibri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4663440" y="1005840"/>
            <a:ext cx="41148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52B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4663440" y="1005840"/>
            <a:ext cx="4114800" cy="457200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32" name="Text 24"/>
          <p:cNvSpPr/>
          <p:nvPr/>
        </p:nvSpPr>
        <p:spPr>
          <a:xfrm>
            <a:off x="4800600" y="1051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CrackBot</a:t>
            </a:r>
            <a:endParaRPr lang="en-US" sz="1700" dirty="0"/>
          </a:p>
        </p:txBody>
      </p:sp>
      <p:sp>
        <p:nvSpPr>
          <p:cNvPr id="33" name="Shape 25"/>
          <p:cNvSpPr/>
          <p:nvPr/>
        </p:nvSpPr>
        <p:spPr>
          <a:xfrm>
            <a:off x="4663440" y="1005840"/>
            <a:ext cx="64008" cy="3749040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34" name="Shape 26"/>
          <p:cNvSpPr/>
          <p:nvPr/>
        </p:nvSpPr>
        <p:spPr>
          <a:xfrm>
            <a:off x="4663440" y="1572768"/>
            <a:ext cx="4114800" cy="502920"/>
          </a:xfrm>
          <a:prstGeom prst="rect">
            <a:avLst/>
          </a:prstGeom>
          <a:solidFill>
            <a:srgbClr val="F0F9FF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682496"/>
            <a:ext cx="256032" cy="25603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138928" y="161848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52BA"/>
                </a:solidFill>
              </a:rPr>
              <a:t>점검 방식  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6144768" y="16184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자율주행 로봇 무인 자동 스캔</a:t>
            </a:r>
            <a:endParaRPr lang="en-US" sz="10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185416"/>
            <a:ext cx="256032" cy="25603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138928" y="21214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52BA"/>
                </a:solidFill>
              </a:rPr>
              <a:t>정확도  </a:t>
            </a:r>
            <a:endParaRPr lang="en-US" sz="1000" dirty="0"/>
          </a:p>
        </p:txBody>
      </p:sp>
      <p:sp>
        <p:nvSpPr>
          <p:cNvPr id="40" name="Text 30"/>
          <p:cNvSpPr/>
          <p:nvPr/>
        </p:nvSpPr>
        <p:spPr>
          <a:xfrm>
            <a:off x="6144768" y="21214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AI 기반 일관된 탐지 (90% 이상 목표)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4663440" y="2578608"/>
            <a:ext cx="4114800" cy="502920"/>
          </a:xfrm>
          <a:prstGeom prst="rect">
            <a:avLst/>
          </a:prstGeom>
          <a:solidFill>
            <a:srgbClr val="F0F9FF"/>
          </a:solidFill>
          <a:ln/>
        </p:spPr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688336"/>
            <a:ext cx="256032" cy="256032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5138928" y="262432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52BA"/>
                </a:solidFill>
              </a:rPr>
              <a:t>위험 구역  </a:t>
            </a:r>
            <a:endParaRPr lang="en-US" sz="1000" dirty="0"/>
          </a:p>
        </p:txBody>
      </p:sp>
      <p:sp>
        <p:nvSpPr>
          <p:cNvPr id="44" name="Text 33"/>
          <p:cNvSpPr/>
          <p:nvPr/>
        </p:nvSpPr>
        <p:spPr>
          <a:xfrm>
            <a:off x="6144768" y="2624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LiDAR + 리프트로 무인 점검</a:t>
            </a:r>
            <a:endParaRPr lang="en-US" sz="1000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191256"/>
            <a:ext cx="256032" cy="256032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5138928" y="31272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52BA"/>
                </a:solidFill>
              </a:rPr>
              <a:t>균열 측정  </a:t>
            </a:r>
            <a:endParaRPr lang="en-US" sz="1000" dirty="0"/>
          </a:p>
        </p:txBody>
      </p:sp>
      <p:sp>
        <p:nvSpPr>
          <p:cNvPr id="47" name="Text 35"/>
          <p:cNvSpPr/>
          <p:nvPr/>
        </p:nvSpPr>
        <p:spPr>
          <a:xfrm>
            <a:off x="6144768" y="31272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OpenCV </a:t>
            </a:r>
            <a:r>
              <a:rPr lang="en-US" sz="1000" b="1" dirty="0" err="1">
                <a:solidFill>
                  <a:srgbClr val="1E293B"/>
                </a:solidFill>
              </a:rPr>
              <a:t>0.</a:t>
            </a:r>
            <a:r>
              <a:rPr lang="en-US" sz="1000" b="1" dirty="0">
                <a:solidFill>
                  <a:srgbClr val="1E293B"/>
                </a:solidFill>
              </a:rPr>
              <a:t>1</a:t>
            </a:r>
            <a:r>
              <a:rPr lang="en-US" sz="1000" b="1" dirty="0" err="1">
                <a:solidFill>
                  <a:srgbClr val="1E293B"/>
                </a:solidFill>
              </a:rPr>
              <a:t>mm</a:t>
            </a:r>
            <a:r>
              <a:rPr lang="en-US" sz="1000" b="1" dirty="0">
                <a:solidFill>
                  <a:srgbClr val="1E293B"/>
                </a:solidFill>
              </a:rPr>
              <a:t> </a:t>
            </a:r>
            <a:r>
              <a:rPr lang="en-US" sz="1000" b="1" dirty="0" err="1">
                <a:solidFill>
                  <a:srgbClr val="1E293B"/>
                </a:solidFill>
              </a:rPr>
              <a:t>단위</a:t>
            </a:r>
            <a:r>
              <a:rPr lang="en-US" sz="1000" b="1" dirty="0">
                <a:solidFill>
                  <a:srgbClr val="1E293B"/>
                </a:solidFill>
              </a:rPr>
              <a:t> 정밀 측정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4663440" y="3584448"/>
            <a:ext cx="4114800" cy="502920"/>
          </a:xfrm>
          <a:prstGeom prst="rect">
            <a:avLst/>
          </a:prstGeom>
          <a:solidFill>
            <a:srgbClr val="F0F9FF"/>
          </a:solidFill>
          <a:ln/>
        </p:spPr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694176"/>
            <a:ext cx="256032" cy="256032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5138928" y="363016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52BA"/>
                </a:solidFill>
              </a:rPr>
              <a:t>보고서  </a:t>
            </a:r>
            <a:endParaRPr lang="en-US" sz="1000" dirty="0"/>
          </a:p>
        </p:txBody>
      </p:sp>
      <p:sp>
        <p:nvSpPr>
          <p:cNvPr id="51" name="Text 38"/>
          <p:cNvSpPr/>
          <p:nvPr/>
        </p:nvSpPr>
        <p:spPr>
          <a:xfrm>
            <a:off x="6144768" y="36301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 err="1">
                <a:solidFill>
                  <a:srgbClr val="1E293B"/>
                </a:solidFill>
              </a:rPr>
              <a:t>국토안전관리원</a:t>
            </a:r>
            <a:r>
              <a:rPr lang="en-US" sz="1000" b="1" dirty="0">
                <a:solidFill>
                  <a:srgbClr val="1E293B"/>
                </a:solidFill>
              </a:rPr>
              <a:t> </a:t>
            </a:r>
            <a:r>
              <a:rPr lang="en-US" sz="1000" b="1" dirty="0" err="1">
                <a:solidFill>
                  <a:srgbClr val="1E293B"/>
                </a:solidFill>
              </a:rPr>
              <a:t>양식</a:t>
            </a:r>
            <a:r>
              <a:rPr lang="en-US" sz="1000" b="1" dirty="0">
                <a:solidFill>
                  <a:srgbClr val="1E293B"/>
                </a:solidFill>
              </a:rPr>
              <a:t> </a:t>
            </a:r>
            <a:r>
              <a:rPr lang="en-US" sz="1000" b="1" dirty="0" err="1">
                <a:solidFill>
                  <a:srgbClr val="1E293B"/>
                </a:solidFill>
              </a:rPr>
              <a:t>자동</a:t>
            </a:r>
            <a:r>
              <a:rPr lang="en-US" sz="1000" b="1" dirty="0">
                <a:solidFill>
                  <a:srgbClr val="1E293B"/>
                </a:solidFill>
              </a:rPr>
              <a:t> </a:t>
            </a:r>
            <a:r>
              <a:rPr lang="en-US" sz="1000" b="1" dirty="0" err="1">
                <a:solidFill>
                  <a:srgbClr val="1E293B"/>
                </a:solidFill>
              </a:rPr>
              <a:t>생성</a:t>
            </a:r>
            <a:endParaRPr lang="en-US" sz="1000" dirty="0" err="1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197096"/>
            <a:ext cx="256032" cy="256032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5138928" y="413308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52BA"/>
                </a:solidFill>
              </a:rPr>
              <a:t>하드웨어  </a:t>
            </a:r>
            <a:endParaRPr lang="en-US" sz="1000" dirty="0"/>
          </a:p>
        </p:txBody>
      </p:sp>
      <p:sp>
        <p:nvSpPr>
          <p:cNvPr id="54" name="Text 40"/>
          <p:cNvSpPr/>
          <p:nvPr/>
        </p:nvSpPr>
        <p:spPr>
          <a:xfrm>
            <a:off x="6144768" y="41330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자율주행 로봇 + 수직 리프트 카메라</a:t>
            </a:r>
            <a:endParaRPr lang="en-US" sz="1000" dirty="0"/>
          </a:p>
        </p:txBody>
      </p:sp>
      <p:sp>
        <p:nvSpPr>
          <p:cNvPr id="55" name="Shape 41"/>
          <p:cNvSpPr/>
          <p:nvPr/>
        </p:nvSpPr>
        <p:spPr>
          <a:xfrm>
            <a:off x="4073819" y="2530769"/>
            <a:ext cx="731520" cy="7315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6" name="Text 42"/>
          <p:cNvSpPr/>
          <p:nvPr/>
        </p:nvSpPr>
        <p:spPr>
          <a:xfrm>
            <a:off x="4073819" y="2530769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VS</a:t>
            </a:r>
            <a:endParaRPr lang="en-US" sz="1600" dirty="0"/>
          </a:p>
        </p:txBody>
      </p:sp>
      <p:sp>
        <p:nvSpPr>
          <p:cNvPr id="57" name="Text 4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AI </a:t>
            </a:r>
            <a:r>
              <a:rPr lang="en-US" sz="900" dirty="0" err="1">
                <a:solidFill>
                  <a:srgbClr val="94A3B8"/>
                </a:solidFill>
              </a:rPr>
              <a:t>CrackBot</a:t>
            </a:r>
            <a:r>
              <a:rPr lang="en-US" sz="900">
                <a:solidFill>
                  <a:srgbClr val="94A3B8"/>
                </a:solidFill>
              </a:rPr>
              <a:t>  |  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</a:rPr>
              <a:t>하드웨어 혁신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자율주행 AI 정밀 점검 로봇 — 어디에도 없는 혁신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3192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[이곳에 관련 이미지/도표를 삽입하세요]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자율주행 로봇 + 리프트 카메라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시스템 구성도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51560"/>
            <a:ext cx="914400" cy="1005840"/>
          </a:xfrm>
          <a:prstGeom prst="rect">
            <a:avLst/>
          </a:prstGeom>
          <a:solidFill>
            <a:srgbClr val="0F52BA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3258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15000" y="114300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</a:rPr>
              <a:t>자율주행 지상 로봇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715000" y="1508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LiDAR 센서로 주변 환경 자율 인식</a:t>
            </a:r>
            <a:endParaRPr lang="en-US" sz="9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인적 개입 없이 스스로 이동하며 점검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63440" y="2167128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167128"/>
            <a:ext cx="914400" cy="10058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44144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15000" y="225856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</a:rPr>
              <a:t>수직 리프트 카메라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715000" y="26243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상하좌우 구동으로 사람이 오르기 힘든</a:t>
            </a:r>
            <a:endParaRPr lang="en-US" sz="9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높은 곳까지 빈틈없이 촬영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663440" y="3282696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63440" y="3282696"/>
            <a:ext cx="914400" cy="100584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557016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715000" y="3374136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</a:rPr>
              <a:t>실시간 데이터 전송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715000" y="373989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수집 데이터를 분석 서버에 실시간 전송</a:t>
            </a:r>
            <a:endParaRPr lang="en-US" sz="9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점검 종료와 동시에 보고서 자동 완성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663440" y="4407408"/>
            <a:ext cx="4114800" cy="502920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23" name="Text 18"/>
          <p:cNvSpPr/>
          <p:nvPr/>
        </p:nvSpPr>
        <p:spPr>
          <a:xfrm>
            <a:off x="4709160" y="44074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⚡  점검 종료와 동시에 전문가 수준의 안전점검 보고서 자동 완성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AI </a:t>
            </a:r>
            <a:r>
              <a:rPr lang="en-US" sz="900" dirty="0" err="1">
                <a:solidFill>
                  <a:srgbClr val="94A3B8"/>
                </a:solidFill>
              </a:rPr>
              <a:t>CrackBot</a:t>
            </a:r>
            <a:r>
              <a:rPr lang="en-US" sz="900">
                <a:solidFill>
                  <a:srgbClr val="94A3B8"/>
                </a:solidFill>
              </a:rPr>
              <a:t>  |  4 / 14</a:t>
            </a:r>
            <a:endParaRPr lang="en-US" sz="900" dirty="0"/>
          </a:p>
        </p:txBody>
      </p:sp>
      <p:pic>
        <p:nvPicPr>
          <p:cNvPr id="25" name="그림 24" descr="바퀴, 타이어, 건물, 자동차 부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99A437-EF97-FD57-B2DC-B0B58CB6CD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913" y="1052396"/>
            <a:ext cx="3944718" cy="32896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</a:rPr>
              <a:t>소프트웨어 기술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OpenCV — AI </a:t>
            </a:r>
            <a:r>
              <a:rPr lang="en-US" sz="2000" b="1" dirty="0" err="1">
                <a:solidFill>
                  <a:srgbClr val="FFFFFF"/>
                </a:solidFill>
              </a:rPr>
              <a:t>기반</a:t>
            </a:r>
            <a:r>
              <a:rPr lang="en-US" sz="2000" b="1" dirty="0">
                <a:solidFill>
                  <a:srgbClr val="FFFFFF"/>
                </a:solidFill>
              </a:rPr>
              <a:t> </a:t>
            </a:r>
            <a:r>
              <a:rPr lang="en-US" sz="2000" b="1" dirty="0" err="1">
                <a:solidFill>
                  <a:srgbClr val="FFFFFF"/>
                </a:solidFill>
              </a:rPr>
              <a:t>초정밀</a:t>
            </a:r>
            <a:r>
              <a:rPr lang="en-US" sz="2000" b="1" dirty="0">
                <a:solidFill>
                  <a:srgbClr val="FFFFFF"/>
                </a:solidFill>
              </a:rPr>
              <a:t> </a:t>
            </a:r>
            <a:r>
              <a:rPr lang="en-US" sz="2000" b="1" dirty="0" err="1">
                <a:solidFill>
                  <a:srgbClr val="FFFFFF"/>
                </a:solidFill>
              </a:rPr>
              <a:t>결함</a:t>
            </a:r>
            <a:r>
              <a:rPr lang="en-US" sz="2000" b="1" dirty="0">
                <a:solidFill>
                  <a:srgbClr val="FFFFFF"/>
                </a:solidFill>
              </a:rPr>
              <a:t> </a:t>
            </a:r>
            <a:r>
              <a:rPr lang="en-US" sz="2000" b="1" dirty="0" err="1">
                <a:solidFill>
                  <a:srgbClr val="FFFFFF"/>
                </a:solidFill>
              </a:rPr>
              <a:t>탐지</a:t>
            </a:r>
            <a:r>
              <a:rPr lang="en-US" sz="2000" b="1" dirty="0">
                <a:solidFill>
                  <a:srgbClr val="FFFFFF"/>
                </a:solidFill>
              </a:rPr>
              <a:t> </a:t>
            </a:r>
            <a:r>
              <a:rPr lang="en-US" sz="2000" b="1" dirty="0" err="1">
                <a:solidFill>
                  <a:srgbClr val="FFFFFF"/>
                </a:solidFill>
              </a:rPr>
              <a:t>엔진</a:t>
            </a:r>
            <a:endParaRPr lang="en-US" sz="2000" dirty="0" err="1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탐지 대상 : 6대 주요 결함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280160" cy="566928"/>
          </a:xfrm>
          <a:prstGeom prst="rect">
            <a:avLst/>
          </a:prstGeom>
          <a:solidFill>
            <a:srgbClr val="EFF6FF"/>
          </a:solidFill>
          <a:ln w="6350">
            <a:solidFill>
              <a:srgbClr val="0F52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52BA"/>
                </a:solidFill>
              </a:rPr>
              <a:t>균열 (Crack)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37360" y="1417320"/>
            <a:ext cx="1280160" cy="566928"/>
          </a:xfrm>
          <a:prstGeom prst="rect">
            <a:avLst/>
          </a:prstGeom>
          <a:solidFill>
            <a:srgbClr val="EFF6FF"/>
          </a:solidFill>
          <a:ln w="6350">
            <a:solidFill>
              <a:srgbClr val="0F52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4173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52BA"/>
                </a:solidFill>
              </a:rPr>
              <a:t>박락 (Spalling)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1417320"/>
            <a:ext cx="1280160" cy="566928"/>
          </a:xfrm>
          <a:prstGeom prst="rect">
            <a:avLst/>
          </a:prstGeom>
          <a:solidFill>
            <a:srgbClr val="EFF6FF"/>
          </a:solidFill>
          <a:ln w="6350">
            <a:solidFill>
              <a:srgbClr val="0F52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4173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52BA"/>
                </a:solidFill>
              </a:rPr>
              <a:t>철근 노출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0F52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031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52BA"/>
                </a:solidFill>
              </a:rPr>
              <a:t>누수 흔적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37360" y="2103120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0F52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21031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52BA"/>
                </a:solidFill>
              </a:rPr>
              <a:t>백태·결로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2103120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0F52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21031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52BA"/>
                </a:solidFill>
              </a:rPr>
              <a:t>기타 손상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816352"/>
            <a:ext cx="3931920" cy="73152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926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정밀 균열 폭 측정 기술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3931920" cy="105156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OpenCV</a:t>
            </a:r>
            <a:r>
              <a:rPr lang="en-US" sz="1100" dirty="0">
                <a:solidFill>
                  <a:srgbClr val="475569"/>
                </a:solidFill>
              </a:rPr>
              <a:t> 기반 에지 검출 → 기하학 분석 → </a:t>
            </a:r>
            <a:r>
              <a:rPr lang="en-US" sz="1800" b="1" dirty="0">
                <a:solidFill>
                  <a:srgbClr val="10B981"/>
                </a:solidFill>
              </a:rPr>
              <a:t>0.1mm</a:t>
            </a:r>
            <a:r>
              <a:rPr lang="en-US" sz="1100" dirty="0">
                <a:solidFill>
                  <a:srgbClr val="475569"/>
                </a:solidFill>
              </a:rPr>
              <a:t> 단위 정밀 측정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794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안전 등급 A~E 자동 판정 → 국토안전관리원 기준 준수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005840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005840"/>
            <a:ext cx="64008" cy="566928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051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93B"/>
                </a:solidFill>
              </a:rPr>
              <a:t>Faster R-CNN</a:t>
            </a:r>
            <a:endParaRPr lang="en-US" sz="11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46320" y="12984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6대 결함 실시간 객체 탐지 및 라벨링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1664208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664208"/>
            <a:ext cx="64008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1709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</a:rPr>
              <a:t>OpenCV + PIL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19568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이미지 전처리 및 균열 기하학 수치 분석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322576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322576"/>
            <a:ext cx="64008" cy="5669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23682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</a:rPr>
              <a:t>Python / FastAPI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26151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고성능 API 서버 및 비즈니스 로직 처리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2980944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980944"/>
            <a:ext cx="64008" cy="5669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026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</a:rPr>
              <a:t>React Native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32735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iOS/Android 현장 실시간 모바일 앱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639312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639312"/>
            <a:ext cx="64008" cy="5669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3685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</a:rPr>
              <a:t>AWS/GCP + Docker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46320" y="3931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클라우드 인프라 및 컨테이너 배포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4297680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4297680"/>
            <a:ext cx="64008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4343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</a:rPr>
              <a:t>python-docx / ReportLab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46320" y="4590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보고서 자동 생성 (PDF/DOCX)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AI </a:t>
            </a:r>
            <a:r>
              <a:rPr lang="en-US" sz="900" dirty="0" err="1">
                <a:solidFill>
                  <a:srgbClr val="94A3B8"/>
                </a:solidFill>
              </a:rPr>
              <a:t>CrackBot</a:t>
            </a:r>
            <a:r>
              <a:rPr lang="en-US" sz="900">
                <a:solidFill>
                  <a:srgbClr val="94A3B8"/>
                </a:solidFill>
              </a:rPr>
              <a:t>  |  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</a:rPr>
              <a:t>업무 워크플로우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무인 스캔부터 공식 보고서까지 — 완전 자동 원스톱 프로세스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572768" cy="21031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1280160"/>
            <a:ext cx="548640" cy="548640"/>
          </a:xfrm>
          <a:prstGeom prst="ellipse">
            <a:avLst/>
          </a:prstGeom>
          <a:solidFill>
            <a:srgbClr val="0F52BA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9202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4688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현장 배치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7889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자율주행 로봇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현장 투입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5104" y="2057400"/>
            <a:ext cx="73152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084832" y="1143000"/>
            <a:ext cx="1572768" cy="210312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596896" y="12801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0"/>
          <p:cNvSpPr/>
          <p:nvPr/>
        </p:nvSpPr>
        <p:spPr>
          <a:xfrm>
            <a:off x="2596896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2616" y="19202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76272" y="24688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자동 스캔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2176272" y="27889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LiDAR + 카메라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전방위 촬영</a:t>
            </a:r>
            <a:endParaRPr lang="en-US" sz="9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176" y="2057400"/>
            <a:ext cx="73152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803904" y="1143000"/>
            <a:ext cx="1572768" cy="210312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315968" y="12801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5"/>
          <p:cNvSpPr/>
          <p:nvPr/>
        </p:nvSpPr>
        <p:spPr>
          <a:xfrm>
            <a:off x="4315968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1688" y="192024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95344" y="24688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실시간 분석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895344" y="27889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>
                <a:solidFill>
                  <a:srgbClr val="475569"/>
                </a:solidFill>
              </a:rPr>
              <a:t>결함 탐지</a:t>
            </a:r>
            <a:endParaRPr lang="en-US" sz="90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+ GPS </a:t>
            </a:r>
            <a:r>
              <a:rPr lang="en-US" sz="900" dirty="0" err="1">
                <a:solidFill>
                  <a:srgbClr val="475569"/>
                </a:solidFill>
              </a:rPr>
              <a:t>매핑</a:t>
            </a:r>
            <a:endParaRPr lang="en-US" sz="900" dirty="0" err="1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2057400"/>
            <a:ext cx="73152" cy="2743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5522976" y="1143000"/>
            <a:ext cx="1572768" cy="210312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035040" y="128016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8" name="Text 20"/>
          <p:cNvSpPr/>
          <p:nvPr/>
        </p:nvSpPr>
        <p:spPr>
          <a:xfrm>
            <a:off x="60350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0" y="1920240"/>
            <a:ext cx="457200" cy="4572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614416" y="24688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AI 판정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5614416" y="27889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안전등급 A~E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자동 산출</a:t>
            </a:r>
            <a:endParaRPr lang="en-US" sz="9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2057400"/>
            <a:ext cx="73152" cy="274320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7242048" y="1143000"/>
            <a:ext cx="1572768" cy="210312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7754112" y="128016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25"/>
          <p:cNvSpPr/>
          <p:nvPr/>
        </p:nvSpPr>
        <p:spPr>
          <a:xfrm>
            <a:off x="7754112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9832" y="1920240"/>
            <a:ext cx="457200" cy="45720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333488" y="24688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보고서 생성</a:t>
            </a:r>
            <a:endParaRPr lang="en-US" sz="1200" dirty="0"/>
          </a:p>
        </p:txBody>
      </p:sp>
      <p:sp>
        <p:nvSpPr>
          <p:cNvPr id="38" name="Text 27"/>
          <p:cNvSpPr/>
          <p:nvPr/>
        </p:nvSpPr>
        <p:spPr>
          <a:xfrm>
            <a:off x="7333488" y="27889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국토안전관리원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양식 자동 출력</a:t>
            </a:r>
            <a:endParaRPr lang="en-US" sz="900" dirty="0"/>
          </a:p>
        </p:txBody>
      </p:sp>
      <p:sp>
        <p:nvSpPr>
          <p:cNvPr id="39" name="Shape 28"/>
          <p:cNvSpPr/>
          <p:nvPr/>
        </p:nvSpPr>
        <p:spPr>
          <a:xfrm>
            <a:off x="365760" y="3429000"/>
            <a:ext cx="3931920" cy="123444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502920" y="3493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4444"/>
                </a:solidFill>
              </a:rPr>
              <a:t>⏱  기존 방식</a:t>
            </a:r>
            <a:endParaRPr lang="en-US" sz="1200" dirty="0"/>
          </a:p>
        </p:txBody>
      </p:sp>
      <p:sp>
        <p:nvSpPr>
          <p:cNvPr id="41" name="Text 30"/>
          <p:cNvSpPr/>
          <p:nvPr/>
        </p:nvSpPr>
        <p:spPr>
          <a:xfrm>
            <a:off x="502920" y="38221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현장 촬영 → 사무실 복귀 → 수동 사진 분류 → 수기 보고서
</a:t>
            </a:r>
            <a:r>
              <a:rPr lang="en-US" sz="1000" b="1" dirty="0">
                <a:solidFill>
                  <a:srgbClr val="475569"/>
                </a:solidFill>
              </a:rPr>
              <a:t>⟶  최소 하루 ~ 최대 7일 소요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4846320" y="3429000"/>
            <a:ext cx="3931920" cy="123444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4983480" y="3493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</a:rPr>
              <a:t>⚡  AI CrackBot</a:t>
            </a:r>
            <a:endParaRPr lang="en-US" sz="1200" dirty="0"/>
          </a:p>
        </p:txBody>
      </p:sp>
      <p:sp>
        <p:nvSpPr>
          <p:cNvPr id="44" name="Text 33"/>
          <p:cNvSpPr/>
          <p:nvPr/>
        </p:nvSpPr>
        <p:spPr>
          <a:xfrm>
            <a:off x="4983480" y="38221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로봇 투입 → 자동 스캔 → 실시간 AI 분석 → 보고서 자동 생성
</a:t>
            </a:r>
            <a:r>
              <a:rPr lang="en-US" sz="1000" b="1" dirty="0">
                <a:solidFill>
                  <a:srgbClr val="475569"/>
                </a:solidFill>
              </a:rPr>
              <a:t>⟶  점검 종료 즉시 완성 (시간 대폭 절감)</a:t>
            </a:r>
            <a:endParaRPr lang="en-US" sz="1000" dirty="0"/>
          </a:p>
        </p:txBody>
      </p:sp>
      <p:sp>
        <p:nvSpPr>
          <p:cNvPr id="45" name="Text 34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AI </a:t>
            </a:r>
            <a:r>
              <a:rPr lang="en-US" sz="900" dirty="0" err="1">
                <a:solidFill>
                  <a:srgbClr val="94A3B8"/>
                </a:solidFill>
              </a:rPr>
              <a:t>CrackBot</a:t>
            </a:r>
            <a:r>
              <a:rPr lang="en-US" sz="900">
                <a:solidFill>
                  <a:srgbClr val="94A3B8"/>
                </a:solidFill>
              </a:rPr>
              <a:t>  |  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</a:rPr>
              <a:t>시장 분석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폭발적 성장 중인 시장 — 지금이 골든 타임이다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9202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444"/>
                </a:solidFill>
              </a:rPr>
              <a:t>40%↑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30년 이상 노후 건축물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전체 건축물 대비 비중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05840"/>
            <a:ext cx="1920240" cy="54864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1430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52BA"/>
                </a:solidFill>
              </a:rPr>
              <a:t>3년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6032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정기점검 의무 주기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건축물관리법 개정 기준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0584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1430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</a:rPr>
              <a:t>70%↓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6344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보고서 작성 시간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AI 자동화 후 절감 목표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1005840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10058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11430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</a:rPr>
              <a:t>50%↓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76656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현장 점검 시간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자율주행 로봇 투입 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377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시장 성장 드라이버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28346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노후 건축물 비중 (30년↑)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66160" y="2926080"/>
            <a:ext cx="4754880" cy="2011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3566160" y="2926080"/>
            <a:ext cx="1901952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28346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F4444"/>
                </a:solidFill>
              </a:rPr>
              <a:t>40%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3101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건축물관리법 정기점검 의무화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66160" y="3401568"/>
            <a:ext cx="4754880" cy="2011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3566160" y="3401568"/>
            <a:ext cx="4041648" cy="201168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29" name="Text 27"/>
          <p:cNvSpPr/>
          <p:nvPr/>
        </p:nvSpPr>
        <p:spPr>
          <a:xfrm>
            <a:off x="8366760" y="33101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52BA"/>
                </a:solidFill>
              </a:rPr>
              <a:t>85%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37856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디지털 전환(DX) 정부 예산 증가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66160" y="3877056"/>
            <a:ext cx="4754880" cy="2011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30"/>
          <p:cNvSpPr/>
          <p:nvPr/>
        </p:nvSpPr>
        <p:spPr>
          <a:xfrm>
            <a:off x="3566160" y="3877056"/>
            <a:ext cx="3328416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8366760" y="378561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9488"/>
                </a:solidFill>
              </a:rPr>
              <a:t>70%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2611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AI 안전진단 솔루션 수요 (B2G)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566160" y="4352544"/>
            <a:ext cx="4754880" cy="2011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Shape 34"/>
          <p:cNvSpPr/>
          <p:nvPr/>
        </p:nvSpPr>
        <p:spPr>
          <a:xfrm>
            <a:off x="3566160" y="4352544"/>
            <a:ext cx="285292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8366760" y="426110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</a:rPr>
              <a:t>60%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AI </a:t>
            </a:r>
            <a:r>
              <a:rPr lang="en-US" sz="900" dirty="0" err="1">
                <a:solidFill>
                  <a:srgbClr val="94A3B8"/>
                </a:solidFill>
              </a:rPr>
              <a:t>CrackBot</a:t>
            </a:r>
            <a:r>
              <a:rPr lang="en-US" sz="900">
                <a:solidFill>
                  <a:srgbClr val="94A3B8"/>
                </a:solidFill>
              </a:rPr>
              <a:t>  |  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</a:rPr>
              <a:t>성장 전략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중소업체 경쟁력 강화 + B2G 시장 선점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주요 타겟 고객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777240" cy="914400"/>
          </a:xfrm>
          <a:prstGeom prst="rect">
            <a:avLst/>
          </a:prstGeom>
          <a:solidFill>
            <a:srgbClr val="0F52B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6916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15727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중소형 안전진단 업체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61872" y="19385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현장 인력 부담 절감 + 소규모 점검 수익성 향상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2514600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514600"/>
            <a:ext cx="777240" cy="9144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27432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61872" y="26243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지자체 공공기관 (B2G)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261872" y="29900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공공건축물 안전점검 효율화 사업 적극 연계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5760" y="3566160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3566160"/>
            <a:ext cx="777240" cy="91440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79476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61872" y="36758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노후 건물주·관리자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261872" y="40416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저비용으로 빌라·다가구 등 소규모 건물 상시 점검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기대 효과 &amp; 성과 목표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4754880" y="1463040"/>
            <a:ext cx="2011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1463040"/>
            <a:ext cx="2011680" cy="64008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24" name="Text 19"/>
          <p:cNvSpPr/>
          <p:nvPr/>
        </p:nvSpPr>
        <p:spPr>
          <a:xfrm>
            <a:off x="4846320" y="16642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52BA"/>
                </a:solidFill>
              </a:rPr>
              <a:t>50%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4846320" y="2240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현장 점검 시간 단축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903720" y="1463040"/>
            <a:ext cx="2011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903720" y="1463040"/>
            <a:ext cx="201168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3"/>
          <p:cNvSpPr/>
          <p:nvPr/>
        </p:nvSpPr>
        <p:spPr>
          <a:xfrm>
            <a:off x="6995160" y="16642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</a:rPr>
              <a:t>70%</a:t>
            </a:r>
            <a:endParaRPr lang="en-US" sz="3000" dirty="0"/>
          </a:p>
        </p:txBody>
      </p:sp>
      <p:sp>
        <p:nvSpPr>
          <p:cNvPr id="29" name="Text 24"/>
          <p:cNvSpPr/>
          <p:nvPr/>
        </p:nvSpPr>
        <p:spPr>
          <a:xfrm>
            <a:off x="6995160" y="2240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보고서 작성 시간 절감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4754880" y="2761488"/>
            <a:ext cx="2011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754880" y="2761488"/>
            <a:ext cx="201168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27"/>
          <p:cNvSpPr/>
          <p:nvPr/>
        </p:nvSpPr>
        <p:spPr>
          <a:xfrm>
            <a:off x="4846320" y="29626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</a:rPr>
              <a:t>90%+</a:t>
            </a:r>
            <a:endParaRPr lang="en-US" sz="3000" dirty="0"/>
          </a:p>
        </p:txBody>
      </p:sp>
      <p:sp>
        <p:nvSpPr>
          <p:cNvPr id="33" name="Text 28"/>
          <p:cNvSpPr/>
          <p:nvPr/>
        </p:nvSpPr>
        <p:spPr>
          <a:xfrm>
            <a:off x="4846320" y="3538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결함 탐지 정확도 목표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6903720" y="2761488"/>
            <a:ext cx="2011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6903720" y="2761488"/>
            <a:ext cx="201168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6" name="Text 31"/>
          <p:cNvSpPr/>
          <p:nvPr/>
        </p:nvSpPr>
        <p:spPr>
          <a:xfrm>
            <a:off x="6995160" y="29626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7316"/>
                </a:solidFill>
              </a:rPr>
              <a:t>0.1mm</a:t>
            </a:r>
            <a:endParaRPr lang="en-US" sz="3000" dirty="0"/>
          </a:p>
        </p:txBody>
      </p:sp>
      <p:sp>
        <p:nvSpPr>
          <p:cNvPr id="37" name="Text 32"/>
          <p:cNvSpPr/>
          <p:nvPr/>
        </p:nvSpPr>
        <p:spPr>
          <a:xfrm>
            <a:off x="6995160" y="3538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균열 측정 정밀도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4754880" y="4160520"/>
            <a:ext cx="4023360" cy="594360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39" name="Text 34"/>
          <p:cNvSpPr/>
          <p:nvPr/>
        </p:nvSpPr>
        <p:spPr>
          <a:xfrm>
            <a:off x="4846320" y="4160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🏆  성과목표 : 특허출원 + 논문게재 (SCI/KCI)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AI </a:t>
            </a:r>
            <a:r>
              <a:rPr lang="en-US" sz="900" dirty="0" err="1">
                <a:solidFill>
                  <a:srgbClr val="94A3B8"/>
                </a:solidFill>
              </a:rPr>
              <a:t>CrackBot</a:t>
            </a:r>
            <a:r>
              <a:rPr lang="en-US" sz="900">
                <a:solidFill>
                  <a:srgbClr val="94A3B8"/>
                </a:solidFill>
              </a:rPr>
              <a:t>  |  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</a:rPr>
              <a:t>미래 비전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구조 점검을 넘어 — 통합 스마트 안전관리 플랫폼으로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97480" cy="822960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51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현재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AI CrackBot v1.0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" y="2093976"/>
            <a:ext cx="146304" cy="146304"/>
          </a:xfrm>
          <a:prstGeom prst="ellipse">
            <a:avLst/>
          </a:prstGeom>
          <a:solidFill>
            <a:srgbClr val="0F52BA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스마트폰 + 자율주행 로봇 점검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2715768"/>
            <a:ext cx="146304" cy="146304"/>
          </a:xfrm>
          <a:prstGeom prst="ellipse">
            <a:avLst/>
          </a:prstGeom>
          <a:solidFill>
            <a:srgbClr val="0F52BA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6334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6대 </a:t>
            </a:r>
            <a:r>
              <a:rPr lang="en-US" sz="1000" dirty="0" err="1">
                <a:solidFill>
                  <a:srgbClr val="1E293B"/>
                </a:solidFill>
              </a:rPr>
              <a:t>결함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  <a:r>
              <a:rPr lang="en-US" sz="1000" dirty="0" err="1">
                <a:solidFill>
                  <a:srgbClr val="1E293B"/>
                </a:solidFill>
              </a:rPr>
              <a:t>자동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  <a:r>
              <a:rPr lang="en-US" sz="1000" dirty="0" err="1">
                <a:solidFill>
                  <a:srgbClr val="1E293B"/>
                </a:solidFill>
              </a:rPr>
              <a:t>탐지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" y="3337560"/>
            <a:ext cx="146304" cy="146304"/>
          </a:xfrm>
          <a:prstGeom prst="ellipse">
            <a:avLst/>
          </a:prstGeom>
          <a:solidFill>
            <a:srgbClr val="0F52BA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25526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0.1mm 정밀 균열 측정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3959352"/>
            <a:ext cx="146304" cy="146304"/>
          </a:xfrm>
          <a:prstGeom prst="ellipse">
            <a:avLst/>
          </a:prstGeom>
          <a:solidFill>
            <a:srgbClr val="0F52B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8770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국토안전관리원 보고서 자동 생성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1005840"/>
            <a:ext cx="2697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005840"/>
            <a:ext cx="269748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1051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확장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11887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디지털 트윈 연동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10712" y="2093976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630168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드론 + 지상 로봇 다각도 스캔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10712" y="271576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3630168" y="26334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건축물 3D 디지털 트윈 구축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10712" y="333756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3630168" y="325526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시계열 결함 이력 관리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10712" y="3959352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3630168" y="38770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보수 견적 자동 산출 + 업체 매칭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1005840"/>
            <a:ext cx="2697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1005840"/>
            <a:ext cx="2697480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1051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미래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11887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통합 안전관리 플랫폼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91072" y="2093976"/>
            <a:ext cx="146304" cy="14630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4" name="Text 32"/>
          <p:cNvSpPr/>
          <p:nvPr/>
        </p:nvSpPr>
        <p:spPr>
          <a:xfrm>
            <a:off x="6510528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소방 시설 상태 AI 탐지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91072" y="2715768"/>
            <a:ext cx="146304" cy="14630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6510528" y="26334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화재 취약 요소 선제 예측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91072" y="3337560"/>
            <a:ext cx="146304" cy="14630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8" name="Text 36"/>
          <p:cNvSpPr/>
          <p:nvPr/>
        </p:nvSpPr>
        <p:spPr>
          <a:xfrm>
            <a:off x="6510528" y="325526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건설 현장 품질 관리 자동화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91072" y="3959352"/>
            <a:ext cx="146304" cy="14630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0" name="Text 38"/>
          <p:cNvSpPr/>
          <p:nvPr/>
        </p:nvSpPr>
        <p:spPr>
          <a:xfrm>
            <a:off x="6510528" y="38770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B2G 지자체 통합 안전 플랫폼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645152"/>
            <a:ext cx="8412480" cy="0"/>
          </a:xfrm>
          <a:prstGeom prst="rect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AI </a:t>
            </a:r>
            <a:r>
              <a:rPr lang="en-US" sz="900" dirty="0" err="1">
                <a:solidFill>
                  <a:srgbClr val="94A3B8"/>
                </a:solidFill>
              </a:rPr>
              <a:t>CrackBot</a:t>
            </a:r>
            <a:r>
              <a:rPr lang="en-US" sz="900" dirty="0">
                <a:solidFill>
                  <a:srgbClr val="94A3B8"/>
                </a:solidFill>
              </a:rPr>
              <a:t>  |  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팀 구성 &amp; 역할 분담 (R&amp;R)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AI CrackBot — 4인 팀 업무 분장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187952" cy="18836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4187952" cy="64008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024128"/>
            <a:ext cx="914400" cy="1883664"/>
          </a:xfrm>
          <a:prstGeom prst="rect">
            <a:avLst/>
          </a:prstGeom>
          <a:solidFill>
            <a:srgbClr val="0F52B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16736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44168" y="111556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김광훈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344168" y="1444752"/>
            <a:ext cx="2560320" cy="228600"/>
          </a:xfrm>
          <a:prstGeom prst="rect">
            <a:avLst/>
          </a:prstGeom>
          <a:solidFill>
            <a:srgbClr val="0F52BA">
              <a:alpha val="2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344168" y="1444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52BA"/>
                </a:solidFill>
              </a:rPr>
              <a:t>Project Manager (팀장) / 기획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344168" y="1792224"/>
            <a:ext cx="91440" cy="91440"/>
          </a:xfrm>
          <a:prstGeom prst="line">
            <a:avLst/>
          </a:prstGeom>
          <a:solidFill>
            <a:srgbClr val="0F52BA"/>
          </a:solidFill>
          <a:ln/>
        </p:spPr>
      </p:sp>
      <p:sp>
        <p:nvSpPr>
          <p:cNvPr id="13" name="Text 10"/>
          <p:cNvSpPr/>
          <p:nvPr/>
        </p:nvSpPr>
        <p:spPr>
          <a:xfrm>
            <a:off x="1508760" y="173736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프로젝트 총괄 관리 및 마일스톤(일정) 제어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344168" y="2061972"/>
            <a:ext cx="91440" cy="91440"/>
          </a:xfrm>
          <a:prstGeom prst="line">
            <a:avLst/>
          </a:prstGeom>
          <a:solidFill>
            <a:srgbClr val="0F52BA"/>
          </a:solidFill>
          <a:ln/>
        </p:spPr>
      </p:sp>
      <p:sp>
        <p:nvSpPr>
          <p:cNvPr id="15" name="Text 12"/>
          <p:cNvSpPr/>
          <p:nvPr/>
        </p:nvSpPr>
        <p:spPr>
          <a:xfrm>
            <a:off x="1508760" y="200710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대외 문서(수행계획서·개요서) 및 발표 PPT 작성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344168" y="2331720"/>
            <a:ext cx="91440" cy="91440"/>
          </a:xfrm>
          <a:prstGeom prst="line">
            <a:avLst/>
          </a:prstGeom>
          <a:solidFill>
            <a:srgbClr val="0F52BA"/>
          </a:solidFill>
          <a:ln/>
        </p:spPr>
      </p:sp>
      <p:sp>
        <p:nvSpPr>
          <p:cNvPr id="17" name="Text 14"/>
          <p:cNvSpPr/>
          <p:nvPr/>
        </p:nvSpPr>
        <p:spPr>
          <a:xfrm>
            <a:off x="1508760" y="227685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국내외 최신 논문 및 특허 자료 조사·정리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344168" y="2601468"/>
            <a:ext cx="91440" cy="91440"/>
          </a:xfrm>
          <a:prstGeom prst="line">
            <a:avLst/>
          </a:prstGeom>
          <a:solidFill>
            <a:srgbClr val="0F52BA"/>
          </a:solidFill>
          <a:ln/>
        </p:spPr>
      </p:sp>
      <p:sp>
        <p:nvSpPr>
          <p:cNvPr id="19" name="Text 16"/>
          <p:cNvSpPr/>
          <p:nvPr/>
        </p:nvSpPr>
        <p:spPr>
          <a:xfrm>
            <a:off x="1508760" y="25466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기술 난제(H/W 오류·비용 절감) 해결 방안 제시 및 지도교수 자문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754880" y="1024128"/>
            <a:ext cx="4187952" cy="18836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1024128"/>
            <a:ext cx="4187952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Shape 19"/>
          <p:cNvSpPr/>
          <p:nvPr/>
        </p:nvSpPr>
        <p:spPr>
          <a:xfrm>
            <a:off x="4754880" y="1024128"/>
            <a:ext cx="914400" cy="18836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316736"/>
            <a:ext cx="420624" cy="42062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779008" y="111556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김민규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5779008" y="1444752"/>
            <a:ext cx="2560320" cy="22860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26" name="Text 22"/>
          <p:cNvSpPr/>
          <p:nvPr/>
        </p:nvSpPr>
        <p:spPr>
          <a:xfrm>
            <a:off x="5779008" y="1444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AI 모델링 및 데이터 분석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5779008" y="1792224"/>
            <a:ext cx="91440" cy="91440"/>
          </a:xfrm>
          <a:prstGeom prst="line">
            <a:avLst/>
          </a:prstGeom>
          <a:solidFill>
            <a:srgbClr val="0D9488"/>
          </a:solidFill>
          <a:ln/>
        </p:spPr>
      </p:sp>
      <p:sp>
        <p:nvSpPr>
          <p:cNvPr id="28" name="Text 24"/>
          <p:cNvSpPr/>
          <p:nvPr/>
        </p:nvSpPr>
        <p:spPr>
          <a:xfrm>
            <a:off x="5943600" y="173736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YOLOv8 기반 6대 결함 탐지 모델 설계 및 최적화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5779008" y="2061972"/>
            <a:ext cx="91440" cy="91440"/>
          </a:xfrm>
          <a:prstGeom prst="line">
            <a:avLst/>
          </a:prstGeom>
          <a:solidFill>
            <a:srgbClr val="0D9488"/>
          </a:solidFill>
          <a:ln/>
        </p:spPr>
      </p:sp>
      <p:sp>
        <p:nvSpPr>
          <p:cNvPr id="30" name="Text 26"/>
          <p:cNvSpPr/>
          <p:nvPr/>
        </p:nvSpPr>
        <p:spPr>
          <a:xfrm>
            <a:off x="5943600" y="200710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앙상블(Ensemble) 기법으로 모델 신뢰도 향상 (0.75 → 0.84)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5779008" y="2331720"/>
            <a:ext cx="91440" cy="91440"/>
          </a:xfrm>
          <a:prstGeom prst="line">
            <a:avLst/>
          </a:prstGeom>
          <a:solidFill>
            <a:srgbClr val="0D9488"/>
          </a:solidFill>
          <a:ln/>
        </p:spPr>
      </p:sp>
      <p:sp>
        <p:nvSpPr>
          <p:cNvPr id="32" name="Text 28"/>
          <p:cNvSpPr/>
          <p:nvPr/>
        </p:nvSpPr>
        <p:spPr>
          <a:xfrm>
            <a:off x="5943600" y="227685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Roboflow 활용 데이터 세그멘테이션 라벨링 및 추가 학습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5779008" y="2601468"/>
            <a:ext cx="91440" cy="91440"/>
          </a:xfrm>
          <a:prstGeom prst="line">
            <a:avLst/>
          </a:prstGeom>
          <a:solidFill>
            <a:srgbClr val="0D9488"/>
          </a:solidFill>
          <a:ln/>
        </p:spPr>
      </p:sp>
      <p:sp>
        <p:nvSpPr>
          <p:cNvPr id="34" name="Text 30"/>
          <p:cNvSpPr/>
          <p:nvPr/>
        </p:nvSpPr>
        <p:spPr>
          <a:xfrm>
            <a:off x="5943600" y="25466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OpenCV 기반 0.1mm 단위 정밀 균열 폭 측정 알고리즘 개발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320040" y="3035808"/>
            <a:ext cx="4187952" cy="18836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320040" y="3035808"/>
            <a:ext cx="4187952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7" name="Shape 33"/>
          <p:cNvSpPr/>
          <p:nvPr/>
        </p:nvSpPr>
        <p:spPr>
          <a:xfrm>
            <a:off x="320040" y="3035808"/>
            <a:ext cx="914400" cy="18836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328416"/>
            <a:ext cx="420624" cy="420624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344168" y="31272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김태훈</a:t>
            </a:r>
            <a:endParaRPr lang="en-US" sz="1600" dirty="0"/>
          </a:p>
        </p:txBody>
      </p:sp>
      <p:sp>
        <p:nvSpPr>
          <p:cNvPr id="40" name="Shape 35"/>
          <p:cNvSpPr/>
          <p:nvPr/>
        </p:nvSpPr>
        <p:spPr>
          <a:xfrm>
            <a:off x="1344168" y="3456432"/>
            <a:ext cx="2560320" cy="228600"/>
          </a:xfrm>
          <a:prstGeom prst="rect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41" name="Text 36"/>
          <p:cNvSpPr/>
          <p:nvPr/>
        </p:nvSpPr>
        <p:spPr>
          <a:xfrm>
            <a:off x="1344168" y="34564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</a:rPr>
              <a:t>하드웨어 및 자율주행 제어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1344168" y="3803904"/>
            <a:ext cx="91440" cy="91440"/>
          </a:xfrm>
          <a:prstGeom prst="line">
            <a:avLst/>
          </a:prstGeom>
          <a:solidFill>
            <a:srgbClr val="F97316"/>
          </a:solidFill>
          <a:ln/>
        </p:spPr>
      </p:sp>
      <p:sp>
        <p:nvSpPr>
          <p:cNvPr id="43" name="Text 38"/>
          <p:cNvSpPr/>
          <p:nvPr/>
        </p:nvSpPr>
        <p:spPr>
          <a:xfrm>
            <a:off x="1508760" y="3749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Raspberry Pi 4, RPLiDAR A1, 웹캠 기반 자율주행 시스템 구축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1344168" y="4073652"/>
            <a:ext cx="91440" cy="91440"/>
          </a:xfrm>
          <a:prstGeom prst="line">
            <a:avLst/>
          </a:prstGeom>
          <a:solidFill>
            <a:srgbClr val="F97316"/>
          </a:solidFill>
          <a:ln/>
        </p:spPr>
      </p:sp>
      <p:sp>
        <p:nvSpPr>
          <p:cNvPr id="45" name="Text 40"/>
          <p:cNvSpPr/>
          <p:nvPr/>
        </p:nvSpPr>
        <p:spPr>
          <a:xfrm>
            <a:off x="1508760" y="40187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실시간 위험 감지 및 긴급 정지·회피 로직 구현</a:t>
            </a:r>
            <a:endParaRPr lang="en-US" sz="850" dirty="0"/>
          </a:p>
        </p:txBody>
      </p:sp>
      <p:sp>
        <p:nvSpPr>
          <p:cNvPr id="46" name="Shape 41"/>
          <p:cNvSpPr/>
          <p:nvPr/>
        </p:nvSpPr>
        <p:spPr>
          <a:xfrm>
            <a:off x="1344168" y="4343400"/>
            <a:ext cx="91440" cy="91440"/>
          </a:xfrm>
          <a:prstGeom prst="line">
            <a:avLst/>
          </a:prstGeom>
          <a:solidFill>
            <a:srgbClr val="F97316"/>
          </a:solidFill>
          <a:ln/>
        </p:spPr>
      </p:sp>
      <p:sp>
        <p:nvSpPr>
          <p:cNvPr id="47" name="Text 42"/>
          <p:cNvSpPr/>
          <p:nvPr/>
        </p:nvSpPr>
        <p:spPr>
          <a:xfrm>
            <a:off x="1508760" y="428853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LAMP AI 모듈 H/W 인터페이스 제어 및 안정화</a:t>
            </a:r>
            <a:endParaRPr lang="en-US" sz="850" dirty="0"/>
          </a:p>
        </p:txBody>
      </p:sp>
      <p:sp>
        <p:nvSpPr>
          <p:cNvPr id="48" name="Shape 43"/>
          <p:cNvSpPr/>
          <p:nvPr/>
        </p:nvSpPr>
        <p:spPr>
          <a:xfrm>
            <a:off x="1344168" y="4613148"/>
            <a:ext cx="91440" cy="91440"/>
          </a:xfrm>
          <a:prstGeom prst="line">
            <a:avLst/>
          </a:prstGeom>
          <a:solidFill>
            <a:srgbClr val="F97316"/>
          </a:solidFill>
          <a:ln/>
        </p:spPr>
      </p:sp>
      <p:sp>
        <p:nvSpPr>
          <p:cNvPr id="49" name="Text 44"/>
          <p:cNvSpPr/>
          <p:nvPr/>
        </p:nvSpPr>
        <p:spPr>
          <a:xfrm>
            <a:off x="1508760" y="455828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외부 전문가(주영욱) 협력 → 자율주행 최적화 코드 확보·적용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4754880" y="3035808"/>
            <a:ext cx="4187952" cy="18836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6"/>
          <p:cNvSpPr/>
          <p:nvPr/>
        </p:nvSpPr>
        <p:spPr>
          <a:xfrm>
            <a:off x="4754880" y="3035808"/>
            <a:ext cx="4187952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2" name="Shape 47"/>
          <p:cNvSpPr/>
          <p:nvPr/>
        </p:nvSpPr>
        <p:spPr>
          <a:xfrm>
            <a:off x="4754880" y="3035808"/>
            <a:ext cx="914400" cy="18836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5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328416"/>
            <a:ext cx="420624" cy="420624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5779008" y="31272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김준우</a:t>
            </a:r>
            <a:endParaRPr lang="en-US" sz="1600" dirty="0"/>
          </a:p>
        </p:txBody>
      </p:sp>
      <p:sp>
        <p:nvSpPr>
          <p:cNvPr id="55" name="Shape 49"/>
          <p:cNvSpPr/>
          <p:nvPr/>
        </p:nvSpPr>
        <p:spPr>
          <a:xfrm>
            <a:off x="5779008" y="3456432"/>
            <a:ext cx="2560320" cy="228600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56" name="Text 50"/>
          <p:cNvSpPr/>
          <p:nvPr/>
        </p:nvSpPr>
        <p:spPr>
          <a:xfrm>
            <a:off x="5779008" y="34564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서버 및 UI/UX 설계</a:t>
            </a:r>
            <a:endParaRPr lang="en-US" sz="900" dirty="0"/>
          </a:p>
        </p:txBody>
      </p:sp>
      <p:sp>
        <p:nvSpPr>
          <p:cNvPr id="57" name="Shape 51"/>
          <p:cNvSpPr/>
          <p:nvPr/>
        </p:nvSpPr>
        <p:spPr>
          <a:xfrm>
            <a:off x="5779008" y="3803904"/>
            <a:ext cx="91440" cy="91440"/>
          </a:xfrm>
          <a:prstGeom prst="line">
            <a:avLst/>
          </a:prstGeom>
          <a:solidFill>
            <a:srgbClr val="7C3AED"/>
          </a:solidFill>
          <a:ln/>
        </p:spPr>
      </p:sp>
      <p:sp>
        <p:nvSpPr>
          <p:cNvPr id="58" name="Text 52"/>
          <p:cNvSpPr/>
          <p:nvPr/>
        </p:nvSpPr>
        <p:spPr>
          <a:xfrm>
            <a:off x="5943600" y="3749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FastAPI 기반 고성능 API 서버 구축 및 결함 이력 관리 DB 설계</a:t>
            </a:r>
            <a:endParaRPr lang="en-US" sz="850" dirty="0"/>
          </a:p>
        </p:txBody>
      </p:sp>
      <p:sp>
        <p:nvSpPr>
          <p:cNvPr id="59" name="Shape 53"/>
          <p:cNvSpPr/>
          <p:nvPr/>
        </p:nvSpPr>
        <p:spPr>
          <a:xfrm>
            <a:off x="5779008" y="4073652"/>
            <a:ext cx="91440" cy="91440"/>
          </a:xfrm>
          <a:prstGeom prst="line">
            <a:avLst/>
          </a:prstGeom>
          <a:solidFill>
            <a:srgbClr val="7C3AED"/>
          </a:solidFill>
          <a:ln/>
        </p:spPr>
      </p:sp>
      <p:sp>
        <p:nvSpPr>
          <p:cNvPr id="60" name="Text 54"/>
          <p:cNvSpPr/>
          <p:nvPr/>
        </p:nvSpPr>
        <p:spPr>
          <a:xfrm>
            <a:off x="5943600" y="40187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직관적 UI/UX 방향성 설정 및 설계 (김광훈 팀장 협업)</a:t>
            </a:r>
            <a:endParaRPr lang="en-US" sz="850" dirty="0"/>
          </a:p>
        </p:txBody>
      </p:sp>
      <p:sp>
        <p:nvSpPr>
          <p:cNvPr id="61" name="Shape 55"/>
          <p:cNvSpPr/>
          <p:nvPr/>
        </p:nvSpPr>
        <p:spPr>
          <a:xfrm>
            <a:off x="5779008" y="4343400"/>
            <a:ext cx="91440" cy="91440"/>
          </a:xfrm>
          <a:prstGeom prst="line">
            <a:avLst/>
          </a:prstGeom>
          <a:solidFill>
            <a:srgbClr val="7C3AED"/>
          </a:solidFill>
          <a:ln/>
        </p:spPr>
      </p:sp>
      <p:sp>
        <p:nvSpPr>
          <p:cNvPr id="62" name="Text 56"/>
          <p:cNvSpPr/>
          <p:nvPr/>
        </p:nvSpPr>
        <p:spPr>
          <a:xfrm>
            <a:off x="5943600" y="428853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오라클 클라우드 활용 시스템 배포 및 서버 운영 전략 수립</a:t>
            </a:r>
            <a:endParaRPr lang="en-US" sz="850" dirty="0"/>
          </a:p>
        </p:txBody>
      </p:sp>
      <p:sp>
        <p:nvSpPr>
          <p:cNvPr id="63" name="Shape 57"/>
          <p:cNvSpPr/>
          <p:nvPr/>
        </p:nvSpPr>
        <p:spPr>
          <a:xfrm>
            <a:off x="5779008" y="4613148"/>
            <a:ext cx="91440" cy="91440"/>
          </a:xfrm>
          <a:prstGeom prst="line">
            <a:avLst/>
          </a:prstGeom>
          <a:solidFill>
            <a:srgbClr val="7C3AED"/>
          </a:solidFill>
          <a:ln/>
        </p:spPr>
      </p:sp>
      <p:sp>
        <p:nvSpPr>
          <p:cNvPr id="64" name="Text 58"/>
          <p:cNvSpPr/>
          <p:nvPr/>
        </p:nvSpPr>
        <p:spPr>
          <a:xfrm>
            <a:off x="5943600" y="455828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보고서 자동 생성 엔진(python-docx / ReportLab) 백엔드 구현</a:t>
            </a:r>
            <a:endParaRPr lang="en-US" sz="850" dirty="0"/>
          </a:p>
        </p:txBody>
      </p:sp>
      <p:sp>
        <p:nvSpPr>
          <p:cNvPr id="65" name="Text 5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AI </a:t>
            </a:r>
            <a:r>
              <a:rPr lang="en-US" sz="900" dirty="0" err="1">
                <a:solidFill>
                  <a:srgbClr val="94A3B8"/>
                </a:solidFill>
              </a:rPr>
              <a:t>CrackBot</a:t>
            </a:r>
            <a:r>
              <a:rPr lang="en-US" sz="900" dirty="0">
                <a:solidFill>
                  <a:srgbClr val="94A3B8"/>
                </a:solidFill>
              </a:rPr>
              <a:t>  |  10 / 14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30878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OMT 방법론 ① 객체 모델 (Object Model)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시스템의 정적 구조 — 객체와 관계 정의 (DB 설계의 뼈대)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52BA"/>
                </a:solidFill>
              </a:rPr>
              <a:t>시스템을 구성하는 핵심 객체(Class)들과 상호 관계를 정의합니다. 데이터베이스 설계의 뼈대가 됩니다.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761488" cy="1609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761488" cy="475488"/>
          </a:xfrm>
          <a:prstGeom prst="rect">
            <a:avLst/>
          </a:prstGeom>
          <a:solidFill>
            <a:srgbClr val="0F52BA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1499616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0392" y="146304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CrackBot Robot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0392" y="1682496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H/W 제어 객체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48056" y="1993392"/>
            <a:ext cx="73152" cy="73152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13" name="Text 10"/>
          <p:cNvSpPr/>
          <p:nvPr/>
        </p:nvSpPr>
        <p:spPr>
          <a:xfrm>
            <a:off x="576072" y="192938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로봇 ID (robot_id)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48056" y="2249424"/>
            <a:ext cx="73152" cy="73152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15" name="Text 12"/>
          <p:cNvSpPr/>
          <p:nvPr/>
        </p:nvSpPr>
        <p:spPr>
          <a:xfrm>
            <a:off x="576072" y="2185416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현재 위치 (SLAM/GPS 좌표)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48056" y="2505456"/>
            <a:ext cx="73152" cy="73152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17" name="Text 14"/>
          <p:cNvSpPr/>
          <p:nvPr/>
        </p:nvSpPr>
        <p:spPr>
          <a:xfrm>
            <a:off x="576072" y="2441448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배터리 잔량 (battery_%)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48056" y="2761488"/>
            <a:ext cx="73152" cy="73152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19" name="Text 16"/>
          <p:cNvSpPr/>
          <p:nvPr/>
        </p:nvSpPr>
        <p:spPr>
          <a:xfrm>
            <a:off x="576072" y="2697480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리프트 높이 상태 (lift_level)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227832" y="1417320"/>
            <a:ext cx="2761488" cy="1609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27832" y="1417320"/>
            <a:ext cx="2761488" cy="475488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499616"/>
            <a:ext cx="310896" cy="31089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758184" y="146304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Inspection Data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758184" y="1682496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데이터 객체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3355848" y="1993392"/>
            <a:ext cx="73152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2"/>
          <p:cNvSpPr/>
          <p:nvPr/>
        </p:nvSpPr>
        <p:spPr>
          <a:xfrm>
            <a:off x="3483864" y="192938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수집 영상/이미지 (image_blob)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3355848" y="2249424"/>
            <a:ext cx="73152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4"/>
          <p:cNvSpPr/>
          <p:nvPr/>
        </p:nvSpPr>
        <p:spPr>
          <a:xfrm>
            <a:off x="3483864" y="2185416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촬영 좌표 (lat, lng)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355848" y="2505456"/>
            <a:ext cx="73152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6"/>
          <p:cNvSpPr/>
          <p:nvPr/>
        </p:nvSpPr>
        <p:spPr>
          <a:xfrm>
            <a:off x="3483864" y="2441448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타임스탬프 (captured_at)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3355848" y="2761488"/>
            <a:ext cx="73152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28"/>
          <p:cNvSpPr/>
          <p:nvPr/>
        </p:nvSpPr>
        <p:spPr>
          <a:xfrm>
            <a:off x="3483864" y="2697480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점검 세션 ID (session_id)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6135624" y="1417320"/>
            <a:ext cx="2761488" cy="1609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135624" y="1417320"/>
            <a:ext cx="2761488" cy="475488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499616"/>
            <a:ext cx="310896" cy="310896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665976" y="146304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Analysis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6665976" y="1682496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분석 객체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6263640" y="1993392"/>
            <a:ext cx="73152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9" name="Text 34"/>
          <p:cNvSpPr/>
          <p:nvPr/>
        </p:nvSpPr>
        <p:spPr>
          <a:xfrm>
            <a:off x="6391656" y="192938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결함 종류 (defect_type: 6종)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6263640" y="2249424"/>
            <a:ext cx="73152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1" name="Text 36"/>
          <p:cNvSpPr/>
          <p:nvPr/>
        </p:nvSpPr>
        <p:spPr>
          <a:xfrm>
            <a:off x="6391656" y="2185416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검출 신뢰도 (confidence)</a:t>
            </a:r>
            <a:endParaRPr lang="en-US" sz="850" dirty="0"/>
          </a:p>
        </p:txBody>
      </p:sp>
      <p:sp>
        <p:nvSpPr>
          <p:cNvPr id="42" name="Shape 37"/>
          <p:cNvSpPr/>
          <p:nvPr/>
        </p:nvSpPr>
        <p:spPr>
          <a:xfrm>
            <a:off x="6263640" y="2505456"/>
            <a:ext cx="73152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3" name="Text 38"/>
          <p:cNvSpPr/>
          <p:nvPr/>
        </p:nvSpPr>
        <p:spPr>
          <a:xfrm>
            <a:off x="6391656" y="2441448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바운딩 박스 (bbox_xywh)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6263640" y="2761488"/>
            <a:ext cx="73152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5" name="Text 40"/>
          <p:cNvSpPr/>
          <p:nvPr/>
        </p:nvSpPr>
        <p:spPr>
          <a:xfrm>
            <a:off x="6391656" y="2697480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모델 버전 (model_ver)</a:t>
            </a:r>
            <a:endParaRPr lang="en-US" sz="850" dirty="0"/>
          </a:p>
        </p:txBody>
      </p:sp>
      <p:sp>
        <p:nvSpPr>
          <p:cNvPr id="46" name="Shape 41"/>
          <p:cNvSpPr/>
          <p:nvPr/>
        </p:nvSpPr>
        <p:spPr>
          <a:xfrm>
            <a:off x="320040" y="3136392"/>
            <a:ext cx="2761488" cy="1609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2"/>
          <p:cNvSpPr/>
          <p:nvPr/>
        </p:nvSpPr>
        <p:spPr>
          <a:xfrm>
            <a:off x="320040" y="3136392"/>
            <a:ext cx="2761488" cy="475488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" y="3218688"/>
            <a:ext cx="310896" cy="310896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850392" y="318211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Diagnostic Result</a:t>
            </a:r>
            <a:endParaRPr lang="en-US" sz="1200" dirty="0"/>
          </a:p>
        </p:txBody>
      </p:sp>
      <p:sp>
        <p:nvSpPr>
          <p:cNvPr id="50" name="Text 44"/>
          <p:cNvSpPr/>
          <p:nvPr/>
        </p:nvSpPr>
        <p:spPr>
          <a:xfrm>
            <a:off x="850392" y="3401568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진단 객체</a:t>
            </a:r>
            <a:endParaRPr lang="en-US" sz="850" dirty="0"/>
          </a:p>
        </p:txBody>
      </p:sp>
      <p:sp>
        <p:nvSpPr>
          <p:cNvPr id="51" name="Shape 45"/>
          <p:cNvSpPr/>
          <p:nvPr/>
        </p:nvSpPr>
        <p:spPr>
          <a:xfrm>
            <a:off x="448056" y="3712464"/>
            <a:ext cx="73152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2" name="Text 46"/>
          <p:cNvSpPr/>
          <p:nvPr/>
        </p:nvSpPr>
        <p:spPr>
          <a:xfrm>
            <a:off x="576072" y="3648456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균열 폭 (crack_width_mm)</a:t>
            </a:r>
            <a:endParaRPr lang="en-US" sz="850" dirty="0"/>
          </a:p>
        </p:txBody>
      </p:sp>
      <p:sp>
        <p:nvSpPr>
          <p:cNvPr id="53" name="Shape 47"/>
          <p:cNvSpPr/>
          <p:nvPr/>
        </p:nvSpPr>
        <p:spPr>
          <a:xfrm>
            <a:off x="448056" y="3968496"/>
            <a:ext cx="73152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4" name="Text 48"/>
          <p:cNvSpPr/>
          <p:nvPr/>
        </p:nvSpPr>
        <p:spPr>
          <a:xfrm>
            <a:off x="576072" y="3904488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손상 면적 (damage_area)</a:t>
            </a:r>
            <a:endParaRPr lang="en-US" sz="850" dirty="0"/>
          </a:p>
        </p:txBody>
      </p:sp>
      <p:sp>
        <p:nvSpPr>
          <p:cNvPr id="55" name="Shape 49"/>
          <p:cNvSpPr/>
          <p:nvPr/>
        </p:nvSpPr>
        <p:spPr>
          <a:xfrm>
            <a:off x="448056" y="4224528"/>
            <a:ext cx="73152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6" name="Text 50"/>
          <p:cNvSpPr/>
          <p:nvPr/>
        </p:nvSpPr>
        <p:spPr>
          <a:xfrm>
            <a:off x="576072" y="4160520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안전 등급 (grade: A~E)</a:t>
            </a:r>
            <a:endParaRPr lang="en-US" sz="850" dirty="0"/>
          </a:p>
        </p:txBody>
      </p:sp>
      <p:sp>
        <p:nvSpPr>
          <p:cNvPr id="57" name="Shape 51"/>
          <p:cNvSpPr/>
          <p:nvPr/>
        </p:nvSpPr>
        <p:spPr>
          <a:xfrm>
            <a:off x="448056" y="4480560"/>
            <a:ext cx="73152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8" name="Text 52"/>
          <p:cNvSpPr/>
          <p:nvPr/>
        </p:nvSpPr>
        <p:spPr>
          <a:xfrm>
            <a:off x="576072" y="4416552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측정 일시 (measured_at)</a:t>
            </a:r>
            <a:endParaRPr lang="en-US" sz="850" dirty="0"/>
          </a:p>
        </p:txBody>
      </p:sp>
      <p:sp>
        <p:nvSpPr>
          <p:cNvPr id="59" name="Shape 53"/>
          <p:cNvSpPr/>
          <p:nvPr/>
        </p:nvSpPr>
        <p:spPr>
          <a:xfrm>
            <a:off x="3227832" y="3136392"/>
            <a:ext cx="2761488" cy="1609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0" name="Shape 54"/>
          <p:cNvSpPr/>
          <p:nvPr/>
        </p:nvSpPr>
        <p:spPr>
          <a:xfrm>
            <a:off x="3227832" y="3136392"/>
            <a:ext cx="2761488" cy="475488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6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5848" y="3218688"/>
            <a:ext cx="310896" cy="310896"/>
          </a:xfrm>
          <a:prstGeom prst="rect">
            <a:avLst/>
          </a:prstGeom>
        </p:spPr>
      </p:pic>
      <p:sp>
        <p:nvSpPr>
          <p:cNvPr id="62" name="Text 55"/>
          <p:cNvSpPr/>
          <p:nvPr/>
        </p:nvSpPr>
        <p:spPr>
          <a:xfrm>
            <a:off x="3758184" y="318211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/ Admin</a:t>
            </a:r>
            <a:endParaRPr lang="en-US" sz="1200" dirty="0"/>
          </a:p>
        </p:txBody>
      </p:sp>
      <p:sp>
        <p:nvSpPr>
          <p:cNvPr id="63" name="Text 56"/>
          <p:cNvSpPr/>
          <p:nvPr/>
        </p:nvSpPr>
        <p:spPr>
          <a:xfrm>
            <a:off x="3758184" y="3401568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사용자 객체</a:t>
            </a:r>
            <a:endParaRPr lang="en-US" sz="850" dirty="0"/>
          </a:p>
        </p:txBody>
      </p:sp>
      <p:sp>
        <p:nvSpPr>
          <p:cNvPr id="64" name="Shape 57"/>
          <p:cNvSpPr/>
          <p:nvPr/>
        </p:nvSpPr>
        <p:spPr>
          <a:xfrm>
            <a:off x="3355848" y="3712464"/>
            <a:ext cx="7315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5" name="Text 58"/>
          <p:cNvSpPr/>
          <p:nvPr/>
        </p:nvSpPr>
        <p:spPr>
          <a:xfrm>
            <a:off x="3483864" y="3648456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점검자 계정 (user_id)</a:t>
            </a:r>
            <a:endParaRPr lang="en-US" sz="850" dirty="0"/>
          </a:p>
        </p:txBody>
      </p:sp>
      <p:sp>
        <p:nvSpPr>
          <p:cNvPr id="66" name="Shape 59"/>
          <p:cNvSpPr/>
          <p:nvPr/>
        </p:nvSpPr>
        <p:spPr>
          <a:xfrm>
            <a:off x="3355848" y="3968496"/>
            <a:ext cx="7315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7" name="Text 60"/>
          <p:cNvSpPr/>
          <p:nvPr/>
        </p:nvSpPr>
        <p:spPr>
          <a:xfrm>
            <a:off x="3483864" y="3904488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관리 권한 (role: ADMIN/USER)</a:t>
            </a:r>
            <a:endParaRPr lang="en-US" sz="850" dirty="0"/>
          </a:p>
        </p:txBody>
      </p:sp>
      <p:sp>
        <p:nvSpPr>
          <p:cNvPr id="68" name="Shape 61"/>
          <p:cNvSpPr/>
          <p:nvPr/>
        </p:nvSpPr>
        <p:spPr>
          <a:xfrm>
            <a:off x="3355848" y="4224528"/>
            <a:ext cx="7315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9" name="Text 62"/>
          <p:cNvSpPr/>
          <p:nvPr/>
        </p:nvSpPr>
        <p:spPr>
          <a:xfrm>
            <a:off x="3483864" y="4160520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점검 이력 (history[ ])</a:t>
            </a:r>
            <a:endParaRPr lang="en-US" sz="850" dirty="0"/>
          </a:p>
        </p:txBody>
      </p:sp>
      <p:sp>
        <p:nvSpPr>
          <p:cNvPr id="70" name="Shape 63"/>
          <p:cNvSpPr/>
          <p:nvPr/>
        </p:nvSpPr>
        <p:spPr>
          <a:xfrm>
            <a:off x="3355848" y="4480560"/>
            <a:ext cx="7315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1" name="Text 64"/>
          <p:cNvSpPr/>
          <p:nvPr/>
        </p:nvSpPr>
        <p:spPr>
          <a:xfrm>
            <a:off x="3483864" y="4416552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소속 기관 (org_name)</a:t>
            </a:r>
            <a:endParaRPr lang="en-US" sz="850" dirty="0"/>
          </a:p>
        </p:txBody>
      </p:sp>
      <p:sp>
        <p:nvSpPr>
          <p:cNvPr id="72" name="Shape 65"/>
          <p:cNvSpPr/>
          <p:nvPr/>
        </p:nvSpPr>
        <p:spPr>
          <a:xfrm>
            <a:off x="6135624" y="3136392"/>
            <a:ext cx="2761488" cy="1609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3" name="Shape 66"/>
          <p:cNvSpPr/>
          <p:nvPr/>
        </p:nvSpPr>
        <p:spPr>
          <a:xfrm>
            <a:off x="6135624" y="3136392"/>
            <a:ext cx="2761488" cy="475488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7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218688"/>
            <a:ext cx="310896" cy="310896"/>
          </a:xfrm>
          <a:prstGeom prst="rect">
            <a:avLst/>
          </a:prstGeom>
        </p:spPr>
      </p:pic>
      <p:sp>
        <p:nvSpPr>
          <p:cNvPr id="75" name="Text 67"/>
          <p:cNvSpPr/>
          <p:nvPr/>
        </p:nvSpPr>
        <p:spPr>
          <a:xfrm>
            <a:off x="6665976" y="318211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Report</a:t>
            </a:r>
            <a:endParaRPr lang="en-US" sz="1200" dirty="0"/>
          </a:p>
        </p:txBody>
      </p:sp>
      <p:sp>
        <p:nvSpPr>
          <p:cNvPr id="76" name="Text 68"/>
          <p:cNvSpPr/>
          <p:nvPr/>
        </p:nvSpPr>
        <p:spPr>
          <a:xfrm>
            <a:off x="6665976" y="3401568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산출물 객체</a:t>
            </a:r>
            <a:endParaRPr lang="en-US" sz="850" dirty="0"/>
          </a:p>
        </p:txBody>
      </p:sp>
      <p:sp>
        <p:nvSpPr>
          <p:cNvPr id="77" name="Shape 69"/>
          <p:cNvSpPr/>
          <p:nvPr/>
        </p:nvSpPr>
        <p:spPr>
          <a:xfrm>
            <a:off x="6263640" y="3712464"/>
            <a:ext cx="73152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8" name="Text 70"/>
          <p:cNvSpPr/>
          <p:nvPr/>
        </p:nvSpPr>
        <p:spPr>
          <a:xfrm>
            <a:off x="6391656" y="3648456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보고서 ID (report_id)</a:t>
            </a:r>
            <a:endParaRPr lang="en-US" sz="850" dirty="0"/>
          </a:p>
        </p:txBody>
      </p:sp>
      <p:sp>
        <p:nvSpPr>
          <p:cNvPr id="79" name="Shape 71"/>
          <p:cNvSpPr/>
          <p:nvPr/>
        </p:nvSpPr>
        <p:spPr>
          <a:xfrm>
            <a:off x="6263640" y="3968496"/>
            <a:ext cx="73152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0" name="Text 72"/>
          <p:cNvSpPr/>
          <p:nvPr/>
        </p:nvSpPr>
        <p:spPr>
          <a:xfrm>
            <a:off x="6391656" y="3904488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국토안전관리원 표준 양식</a:t>
            </a:r>
            <a:endParaRPr lang="en-US" sz="850" dirty="0"/>
          </a:p>
        </p:txBody>
      </p:sp>
      <p:sp>
        <p:nvSpPr>
          <p:cNvPr id="81" name="Shape 73"/>
          <p:cNvSpPr/>
          <p:nvPr/>
        </p:nvSpPr>
        <p:spPr>
          <a:xfrm>
            <a:off x="6263640" y="4224528"/>
            <a:ext cx="73152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2" name="Text 74"/>
          <p:cNvSpPr/>
          <p:nvPr/>
        </p:nvSpPr>
        <p:spPr>
          <a:xfrm>
            <a:off x="6391656" y="4160520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생성 파일 (PDF / DOCX)</a:t>
            </a:r>
            <a:endParaRPr lang="en-US" sz="850" dirty="0"/>
          </a:p>
        </p:txBody>
      </p:sp>
      <p:sp>
        <p:nvSpPr>
          <p:cNvPr id="83" name="Shape 75"/>
          <p:cNvSpPr/>
          <p:nvPr/>
        </p:nvSpPr>
        <p:spPr>
          <a:xfrm>
            <a:off x="6263640" y="4480560"/>
            <a:ext cx="73152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4" name="Text 76"/>
          <p:cNvSpPr/>
          <p:nvPr/>
        </p:nvSpPr>
        <p:spPr>
          <a:xfrm>
            <a:off x="6391656" y="4416552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생성 일시 (created_at)</a:t>
            </a:r>
            <a:endParaRPr lang="en-US" sz="850" dirty="0"/>
          </a:p>
        </p:txBody>
      </p:sp>
      <p:sp>
        <p:nvSpPr>
          <p:cNvPr id="85" name="Shape 77"/>
          <p:cNvSpPr/>
          <p:nvPr/>
        </p:nvSpPr>
        <p:spPr>
          <a:xfrm>
            <a:off x="320040" y="4736592"/>
            <a:ext cx="8503920" cy="0"/>
          </a:xfrm>
          <a:prstGeom prst="rect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6" name="Text 7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AI </a:t>
            </a:r>
            <a:r>
              <a:rPr lang="en-US" sz="900" dirty="0" err="1">
                <a:solidFill>
                  <a:srgbClr val="94A3B8"/>
                </a:solidFill>
              </a:rPr>
              <a:t>CrackBot</a:t>
            </a:r>
            <a:r>
              <a:rPr lang="en-US" sz="900" dirty="0">
                <a:solidFill>
                  <a:srgbClr val="94A3B8"/>
                </a:solidFill>
              </a:rPr>
              <a:t>  | 11 / 14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67175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OMT 방법론 ② 동적 모델 (Dynamic Model)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시스템의 상태 변화와 상호작용 — 이벤트 흐름 기술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347472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0B981"/>
                </a:solidFill>
              </a:rPr>
              <a:t>시간에 따른 시스템의 상태 변화와 이벤트 흐름을 기술합니다. 로봇 주행과 AI 분석 시퀀스가 핵심입니다.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60520" cy="384048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173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 자율점검 시퀀스 (상태 전이)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883664"/>
            <a:ext cx="4160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83664"/>
            <a:ext cx="54864" cy="6858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2039112"/>
            <a:ext cx="365760" cy="365760"/>
          </a:xfrm>
          <a:prstGeom prst="line">
            <a:avLst/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039112"/>
            <a:ext cx="310896" cy="31089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86968" y="1938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대기 (Idle)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86968" y="221284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점검 명령 수신 대기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시스템 초기화 완료 상태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75488" y="2569464"/>
            <a:ext cx="54864" cy="8229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7" name="Shape 14"/>
          <p:cNvSpPr/>
          <p:nvPr/>
        </p:nvSpPr>
        <p:spPr>
          <a:xfrm>
            <a:off x="320040" y="2651760"/>
            <a:ext cx="4160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" y="2651760"/>
            <a:ext cx="54864" cy="685800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19" name="Shape 16"/>
          <p:cNvSpPr/>
          <p:nvPr/>
        </p:nvSpPr>
        <p:spPr>
          <a:xfrm>
            <a:off x="411480" y="2807208"/>
            <a:ext cx="365760" cy="365760"/>
          </a:xfrm>
          <a:prstGeom prst="line">
            <a:avLst/>
          </a:prstGeom>
          <a:solidFill>
            <a:srgbClr val="0F52BA"/>
          </a:solidFill>
          <a:ln/>
        </p:spPr>
      </p:sp>
      <p:sp>
        <p:nvSpPr>
          <p:cNvPr id="20" name="Text 17"/>
          <p:cNvSpPr/>
          <p:nvPr/>
        </p:nvSpPr>
        <p:spPr>
          <a:xfrm>
            <a:off x="411480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807208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86968" y="27066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주행 (Navigation)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886968" y="298094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LiDAR SLAM 기반 자율 이동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실시간 장애물 감지·회피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75488" y="3337560"/>
            <a:ext cx="54864" cy="82296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25" name="Shape 21"/>
          <p:cNvSpPr/>
          <p:nvPr/>
        </p:nvSpPr>
        <p:spPr>
          <a:xfrm>
            <a:off x="320040" y="3419856"/>
            <a:ext cx="4160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20040" y="3419856"/>
            <a:ext cx="54864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Shape 23"/>
          <p:cNvSpPr/>
          <p:nvPr/>
        </p:nvSpPr>
        <p:spPr>
          <a:xfrm>
            <a:off x="411480" y="3575304"/>
            <a:ext cx="365760" cy="365760"/>
          </a:xfrm>
          <a:prstGeom prst="line">
            <a:avLst/>
          </a:prstGeom>
          <a:solidFill>
            <a:srgbClr val="EF4444"/>
          </a:solidFill>
          <a:ln/>
        </p:spPr>
      </p:sp>
      <p:sp>
        <p:nvSpPr>
          <p:cNvPr id="28" name="Text 24"/>
          <p:cNvSpPr/>
          <p:nvPr/>
        </p:nvSpPr>
        <p:spPr>
          <a:xfrm>
            <a:off x="411480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575304"/>
            <a:ext cx="310896" cy="31089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86968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이벤트 발생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886968" y="374904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위험 요소 감지 시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긴급 정지 및 회피 구동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475488" y="4105656"/>
            <a:ext cx="54864" cy="822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Shape 28"/>
          <p:cNvSpPr/>
          <p:nvPr/>
        </p:nvSpPr>
        <p:spPr>
          <a:xfrm>
            <a:off x="320040" y="4187952"/>
            <a:ext cx="4160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320040" y="4187952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Shape 30"/>
          <p:cNvSpPr/>
          <p:nvPr/>
        </p:nvSpPr>
        <p:spPr>
          <a:xfrm>
            <a:off x="411480" y="4343400"/>
            <a:ext cx="365760" cy="365760"/>
          </a:xfrm>
          <a:prstGeom prst="line">
            <a:avLst/>
          </a:prstGeom>
          <a:solidFill>
            <a:srgbClr val="0D9488"/>
          </a:solidFill>
          <a:ln/>
        </p:spPr>
      </p:sp>
      <p:sp>
        <p:nvSpPr>
          <p:cNvPr id="36" name="Text 31"/>
          <p:cNvSpPr/>
          <p:nvPr/>
        </p:nvSpPr>
        <p:spPr>
          <a:xfrm>
            <a:off x="41148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4343400"/>
            <a:ext cx="310896" cy="310896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886968" y="42428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스캔 (Scanning)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886968" y="451713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수직 리프트 구동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고해상도 벽면 촬영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4663440" y="1417320"/>
            <a:ext cx="416052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5"/>
          <p:cNvSpPr/>
          <p:nvPr/>
        </p:nvSpPr>
        <p:spPr>
          <a:xfrm>
            <a:off x="4754880" y="14173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📡  데이터 처리 시퀀스 (Pipeline)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663440" y="1883664"/>
            <a:ext cx="4160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4663440" y="1883664"/>
            <a:ext cx="54864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4" name="Shape 38"/>
          <p:cNvSpPr/>
          <p:nvPr/>
        </p:nvSpPr>
        <p:spPr>
          <a:xfrm>
            <a:off x="4754880" y="2039112"/>
            <a:ext cx="365760" cy="365760"/>
          </a:xfrm>
          <a:prstGeom prst="line">
            <a:avLst/>
          </a:prstGeom>
          <a:solidFill>
            <a:srgbClr val="3B82F6"/>
          </a:solidFill>
          <a:ln/>
        </p:spPr>
      </p:sp>
      <p:sp>
        <p:nvSpPr>
          <p:cNvPr id="45" name="Text 39"/>
          <p:cNvSpPr/>
          <p:nvPr/>
        </p:nvSpPr>
        <p:spPr>
          <a:xfrm>
            <a:off x="4754880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2312" y="2039112"/>
            <a:ext cx="310896" cy="310896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5230368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전송 (Transfer)</a:t>
            </a:r>
            <a:endParaRPr lang="en-US" sz="1200" dirty="0"/>
          </a:p>
        </p:txBody>
      </p:sp>
      <p:sp>
        <p:nvSpPr>
          <p:cNvPr id="48" name="Text 41"/>
          <p:cNvSpPr/>
          <p:nvPr/>
        </p:nvSpPr>
        <p:spPr>
          <a:xfrm>
            <a:off x="5230368" y="221284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로봇 → 서버 영상 데이터 실시간 전송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FastAPI WebSocket / REST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7754112" y="2084832"/>
            <a:ext cx="1005840" cy="256032"/>
          </a:xfrm>
          <a:prstGeom prst="rect">
            <a:avLst/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7754112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82F6"/>
                </a:solidFill>
              </a:rPr>
              <a:t>김태훈 · 김준우</a:t>
            </a:r>
            <a:endParaRPr lang="en-US" sz="750" dirty="0"/>
          </a:p>
        </p:txBody>
      </p:sp>
      <p:sp>
        <p:nvSpPr>
          <p:cNvPr id="51" name="Shape 44"/>
          <p:cNvSpPr/>
          <p:nvPr/>
        </p:nvSpPr>
        <p:spPr>
          <a:xfrm>
            <a:off x="4818888" y="2569464"/>
            <a:ext cx="54864" cy="8229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2" name="Shape 45"/>
          <p:cNvSpPr/>
          <p:nvPr/>
        </p:nvSpPr>
        <p:spPr>
          <a:xfrm>
            <a:off x="4663440" y="2651760"/>
            <a:ext cx="4160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46"/>
          <p:cNvSpPr/>
          <p:nvPr/>
        </p:nvSpPr>
        <p:spPr>
          <a:xfrm>
            <a:off x="4663440" y="265176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4" name="Shape 47"/>
          <p:cNvSpPr/>
          <p:nvPr/>
        </p:nvSpPr>
        <p:spPr>
          <a:xfrm>
            <a:off x="4754880" y="2807208"/>
            <a:ext cx="365760" cy="365760"/>
          </a:xfrm>
          <a:prstGeom prst="line">
            <a:avLst/>
          </a:prstGeom>
          <a:solidFill>
            <a:srgbClr val="0D9488"/>
          </a:solidFill>
          <a:ln/>
        </p:spPr>
      </p:sp>
      <p:sp>
        <p:nvSpPr>
          <p:cNvPr id="55" name="Text 48"/>
          <p:cNvSpPr/>
          <p:nvPr/>
        </p:nvSpPr>
        <p:spPr>
          <a:xfrm>
            <a:off x="4754880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pic>
        <p:nvPicPr>
          <p:cNvPr id="5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2312" y="2807208"/>
            <a:ext cx="310896" cy="310896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5230368" y="27066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탐지 (Detection)</a:t>
            </a:r>
            <a:endParaRPr lang="en-US" sz="1200" dirty="0"/>
          </a:p>
        </p:txBody>
      </p:sp>
      <p:sp>
        <p:nvSpPr>
          <p:cNvPr id="58" name="Text 50"/>
          <p:cNvSpPr/>
          <p:nvPr/>
        </p:nvSpPr>
        <p:spPr>
          <a:xfrm>
            <a:off x="5230368" y="29809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YOLOv8 앙상블 모델 결함 실시간 식별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신뢰도 0.84 기준 필터링</a:t>
            </a:r>
            <a:endParaRPr lang="en-US" sz="900" dirty="0"/>
          </a:p>
        </p:txBody>
      </p:sp>
      <p:sp>
        <p:nvSpPr>
          <p:cNvPr id="59" name="Shape 51"/>
          <p:cNvSpPr/>
          <p:nvPr/>
        </p:nvSpPr>
        <p:spPr>
          <a:xfrm>
            <a:off x="7754112" y="2852928"/>
            <a:ext cx="1005840" cy="256032"/>
          </a:xfrm>
          <a:prstGeom prst="rect">
            <a:avLst/>
          </a:prstGeom>
          <a:solidFill>
            <a:srgbClr val="0D9488">
              <a:alpha val="2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7754112" y="28529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</a:rPr>
              <a:t>김민규</a:t>
            </a:r>
            <a:endParaRPr lang="en-US" sz="750" dirty="0"/>
          </a:p>
        </p:txBody>
      </p:sp>
      <p:sp>
        <p:nvSpPr>
          <p:cNvPr id="61" name="Shape 53"/>
          <p:cNvSpPr/>
          <p:nvPr/>
        </p:nvSpPr>
        <p:spPr>
          <a:xfrm>
            <a:off x="4818888" y="3337560"/>
            <a:ext cx="54864" cy="822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2" name="Shape 54"/>
          <p:cNvSpPr/>
          <p:nvPr/>
        </p:nvSpPr>
        <p:spPr>
          <a:xfrm>
            <a:off x="4663440" y="3419856"/>
            <a:ext cx="4160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3" name="Shape 55"/>
          <p:cNvSpPr/>
          <p:nvPr/>
        </p:nvSpPr>
        <p:spPr>
          <a:xfrm>
            <a:off x="4663440" y="3419856"/>
            <a:ext cx="54864" cy="685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4" name="Shape 56"/>
          <p:cNvSpPr/>
          <p:nvPr/>
        </p:nvSpPr>
        <p:spPr>
          <a:xfrm>
            <a:off x="4754880" y="3575304"/>
            <a:ext cx="365760" cy="365760"/>
          </a:xfrm>
          <a:prstGeom prst="line">
            <a:avLst/>
          </a:prstGeom>
          <a:solidFill>
            <a:srgbClr val="F97316"/>
          </a:solidFill>
          <a:ln/>
        </p:spPr>
      </p:sp>
      <p:sp>
        <p:nvSpPr>
          <p:cNvPr id="65" name="Text 57"/>
          <p:cNvSpPr/>
          <p:nvPr/>
        </p:nvSpPr>
        <p:spPr>
          <a:xfrm>
            <a:off x="4754880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pic>
        <p:nvPicPr>
          <p:cNvPr id="6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2312" y="3575304"/>
            <a:ext cx="310896" cy="310896"/>
          </a:xfrm>
          <a:prstGeom prst="rect">
            <a:avLst/>
          </a:prstGeom>
        </p:spPr>
      </p:pic>
      <p:sp>
        <p:nvSpPr>
          <p:cNvPr id="67" name="Text 58"/>
          <p:cNvSpPr/>
          <p:nvPr/>
        </p:nvSpPr>
        <p:spPr>
          <a:xfrm>
            <a:off x="5230368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측정 (Measurement)</a:t>
            </a:r>
            <a:endParaRPr lang="en-US" sz="1200" dirty="0"/>
          </a:p>
        </p:txBody>
      </p:sp>
      <p:sp>
        <p:nvSpPr>
          <p:cNvPr id="68" name="Text 59"/>
          <p:cNvSpPr/>
          <p:nvPr/>
        </p:nvSpPr>
        <p:spPr>
          <a:xfrm>
            <a:off x="5230368" y="37490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OpenCV 에지 검출 → 균열 폭 정밀 계산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0.1mm 단위 출력</a:t>
            </a:r>
            <a:endParaRPr lang="en-US" sz="900" dirty="0"/>
          </a:p>
        </p:txBody>
      </p:sp>
      <p:sp>
        <p:nvSpPr>
          <p:cNvPr id="69" name="Shape 60"/>
          <p:cNvSpPr/>
          <p:nvPr/>
        </p:nvSpPr>
        <p:spPr>
          <a:xfrm>
            <a:off x="7754112" y="3621024"/>
            <a:ext cx="1005840" cy="256032"/>
          </a:xfrm>
          <a:prstGeom prst="rect">
            <a:avLst/>
          </a:prstGeom>
          <a:solidFill>
            <a:srgbClr val="F97316">
              <a:alpha val="2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70" name="Text 61"/>
          <p:cNvSpPr/>
          <p:nvPr/>
        </p:nvSpPr>
        <p:spPr>
          <a:xfrm>
            <a:off x="7754112" y="36210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97316"/>
                </a:solidFill>
              </a:rPr>
              <a:t>김민규</a:t>
            </a:r>
            <a:endParaRPr lang="en-US" sz="750" dirty="0"/>
          </a:p>
        </p:txBody>
      </p:sp>
      <p:sp>
        <p:nvSpPr>
          <p:cNvPr id="71" name="Shape 62"/>
          <p:cNvSpPr/>
          <p:nvPr/>
        </p:nvSpPr>
        <p:spPr>
          <a:xfrm>
            <a:off x="4818888" y="4105656"/>
            <a:ext cx="54864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2" name="Shape 63"/>
          <p:cNvSpPr/>
          <p:nvPr/>
        </p:nvSpPr>
        <p:spPr>
          <a:xfrm>
            <a:off x="4663440" y="4187952"/>
            <a:ext cx="4160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3" name="Shape 64"/>
          <p:cNvSpPr/>
          <p:nvPr/>
        </p:nvSpPr>
        <p:spPr>
          <a:xfrm>
            <a:off x="4663440" y="4187952"/>
            <a:ext cx="54864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4" name="Shape 65"/>
          <p:cNvSpPr/>
          <p:nvPr/>
        </p:nvSpPr>
        <p:spPr>
          <a:xfrm>
            <a:off x="4754880" y="4343400"/>
            <a:ext cx="365760" cy="365760"/>
          </a:xfrm>
          <a:prstGeom prst="line">
            <a:avLst/>
          </a:prstGeom>
          <a:solidFill>
            <a:srgbClr val="10B981"/>
          </a:solidFill>
          <a:ln/>
        </p:spPr>
      </p:sp>
      <p:sp>
        <p:nvSpPr>
          <p:cNvPr id="75" name="Text 66"/>
          <p:cNvSpPr/>
          <p:nvPr/>
        </p:nvSpPr>
        <p:spPr>
          <a:xfrm>
            <a:off x="475488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pic>
        <p:nvPicPr>
          <p:cNvPr id="7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4343400"/>
            <a:ext cx="310896" cy="310896"/>
          </a:xfrm>
          <a:prstGeom prst="rect">
            <a:avLst/>
          </a:prstGeom>
        </p:spPr>
      </p:pic>
      <p:sp>
        <p:nvSpPr>
          <p:cNvPr id="77" name="Text 67"/>
          <p:cNvSpPr/>
          <p:nvPr/>
        </p:nvSpPr>
        <p:spPr>
          <a:xfrm>
            <a:off x="5230368" y="4242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판정 (Grading)</a:t>
            </a:r>
            <a:endParaRPr lang="en-US" sz="1200" dirty="0"/>
          </a:p>
        </p:txBody>
      </p:sp>
      <p:sp>
        <p:nvSpPr>
          <p:cNvPr id="78" name="Text 68"/>
          <p:cNvSpPr/>
          <p:nvPr/>
        </p:nvSpPr>
        <p:spPr>
          <a:xfrm>
            <a:off x="5230368" y="451713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산출 수치 기준 안전 등급 A~E 자동 부여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국토안전관리원 기준 적용</a:t>
            </a:r>
            <a:endParaRPr lang="en-US" sz="900" dirty="0"/>
          </a:p>
        </p:txBody>
      </p:sp>
      <p:sp>
        <p:nvSpPr>
          <p:cNvPr id="79" name="Shape 69"/>
          <p:cNvSpPr/>
          <p:nvPr/>
        </p:nvSpPr>
        <p:spPr>
          <a:xfrm>
            <a:off x="7754112" y="4389120"/>
            <a:ext cx="1005840" cy="256032"/>
          </a:xfrm>
          <a:prstGeom prst="rect">
            <a:avLst/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80" name="Text 70"/>
          <p:cNvSpPr/>
          <p:nvPr/>
        </p:nvSpPr>
        <p:spPr>
          <a:xfrm>
            <a:off x="7754112" y="4389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</a:rPr>
              <a:t>김민규 · 김광훈</a:t>
            </a:r>
            <a:endParaRPr lang="en-US" sz="750" dirty="0"/>
          </a:p>
        </p:txBody>
      </p:sp>
      <p:sp>
        <p:nvSpPr>
          <p:cNvPr id="81" name="Text 71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AI </a:t>
            </a:r>
            <a:r>
              <a:rPr lang="en-US" sz="900" dirty="0" err="1">
                <a:solidFill>
                  <a:srgbClr val="94A3B8"/>
                </a:solidFill>
              </a:rPr>
              <a:t>CrackBot</a:t>
            </a:r>
            <a:r>
              <a:rPr lang="en-US" sz="900" dirty="0">
                <a:solidFill>
                  <a:srgbClr val="94A3B8"/>
                </a:solidFill>
              </a:rPr>
              <a:t>  | 12 /14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11003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OMT 방법론 ③ 기능 모델 (Functional Model)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입력 → 변환 → 출력 — 데이터 흐름과 팀원 업무 직결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347472"/>
          </a:xfrm>
          <a:prstGeom prst="rect">
            <a:avLst/>
          </a:prstGeom>
          <a:solidFill>
            <a:srgbClr val="EEF2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C3AED"/>
                </a:solidFill>
              </a:rPr>
              <a:t>입력 데이터가 어떤 과정을 거쳐 최종 결과물로 변환되는지를 정의합니다. 각 팀원의 세부 업무와 직결됩니다.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1691640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47218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자율주행 및 인지 기능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1837944"/>
            <a:ext cx="1481328" cy="18288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83794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 err="1"/>
              <a:t>담당</a:t>
            </a:r>
            <a:r>
              <a:rPr lang="en-US" sz="750" b="1" dirty="0"/>
              <a:t> : </a:t>
            </a:r>
            <a:r>
              <a:rPr lang="en-US" sz="750" b="1" dirty="0" err="1"/>
              <a:t>김태훈</a:t>
            </a:r>
            <a:endParaRPr lang="en-US" sz="750" dirty="0" err="1"/>
          </a:p>
        </p:txBody>
      </p:sp>
      <p:sp>
        <p:nvSpPr>
          <p:cNvPr id="11" name="Shape 9"/>
          <p:cNvSpPr/>
          <p:nvPr/>
        </p:nvSpPr>
        <p:spPr>
          <a:xfrm>
            <a:off x="2066544" y="141732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66544" y="1417320"/>
            <a:ext cx="1920240" cy="201168"/>
          </a:xfrm>
          <a:prstGeom prst="rect">
            <a:avLst/>
          </a:prstGeom>
          <a:solidFill>
            <a:srgbClr val="F97316">
              <a:alpha val="2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066544" y="1417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</a:rPr>
              <a:t>INPUT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21408" y="16367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LiDAR 거리 데이터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+ 웹캠 영상 스트림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041648" y="1691640"/>
            <a:ext cx="256032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Shape 14"/>
          <p:cNvSpPr/>
          <p:nvPr/>
        </p:nvSpPr>
        <p:spPr>
          <a:xfrm>
            <a:off x="4261104" y="1618488"/>
            <a:ext cx="54864" cy="21945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Shape 15"/>
          <p:cNvSpPr/>
          <p:nvPr/>
        </p:nvSpPr>
        <p:spPr>
          <a:xfrm>
            <a:off x="4352544" y="1417320"/>
            <a:ext cx="2084832" cy="640080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352544" y="1417320"/>
            <a:ext cx="2084832" cy="2011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4352544" y="141732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PROCESS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407408" y="1636776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SLAM 알고리즘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+ 회피 로직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92240" y="1691640"/>
            <a:ext cx="256032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Shape 20"/>
          <p:cNvSpPr/>
          <p:nvPr/>
        </p:nvSpPr>
        <p:spPr>
          <a:xfrm>
            <a:off x="6711696" y="1618488"/>
            <a:ext cx="54864" cy="21945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Shape 21"/>
          <p:cNvSpPr/>
          <p:nvPr/>
        </p:nvSpPr>
        <p:spPr>
          <a:xfrm>
            <a:off x="6821424" y="1417320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21424" y="1417320"/>
            <a:ext cx="2011680" cy="2011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6821424" y="1417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OUTPUT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76288" y="163677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최적 주행 경로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+ 제어 신호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2130552"/>
            <a:ext cx="169164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218541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결함 탐지 및 분석 기능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4048" y="2551176"/>
            <a:ext cx="1481328" cy="18288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" y="2551176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 err="1"/>
              <a:t>담당</a:t>
            </a:r>
            <a:r>
              <a:rPr lang="en-US" sz="750" b="1" dirty="0"/>
              <a:t> : </a:t>
            </a:r>
            <a:r>
              <a:rPr lang="en-US" sz="750" b="1" dirty="0" err="1"/>
              <a:t>김민규</a:t>
            </a:r>
            <a:endParaRPr lang="en-US" sz="750" dirty="0" err="1"/>
          </a:p>
        </p:txBody>
      </p:sp>
      <p:sp>
        <p:nvSpPr>
          <p:cNvPr id="31" name="Shape 29"/>
          <p:cNvSpPr/>
          <p:nvPr/>
        </p:nvSpPr>
        <p:spPr>
          <a:xfrm>
            <a:off x="2066544" y="2130552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66544" y="2130552"/>
            <a:ext cx="1920240" cy="201168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066544" y="21305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</a:rPr>
              <a:t>INPUT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121408" y="23500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원본 이미지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(고해상도 JPEG)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041648" y="2404872"/>
            <a:ext cx="256032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Shape 34"/>
          <p:cNvSpPr/>
          <p:nvPr/>
        </p:nvSpPr>
        <p:spPr>
          <a:xfrm>
            <a:off x="4261104" y="2331720"/>
            <a:ext cx="54864" cy="2194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Shape 35"/>
          <p:cNvSpPr/>
          <p:nvPr/>
        </p:nvSpPr>
        <p:spPr>
          <a:xfrm>
            <a:off x="4352544" y="2130552"/>
            <a:ext cx="2084832" cy="64008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352544" y="2130552"/>
            <a:ext cx="2084832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4352544" y="213055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PROCESS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07408" y="235000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YOLOv8 앙상블 엔진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(Confidence ≥ 0.84)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92240" y="2404872"/>
            <a:ext cx="256032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Shape 40"/>
          <p:cNvSpPr/>
          <p:nvPr/>
        </p:nvSpPr>
        <p:spPr>
          <a:xfrm>
            <a:off x="6711696" y="2331720"/>
            <a:ext cx="54864" cy="2194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Shape 41"/>
          <p:cNvSpPr/>
          <p:nvPr/>
        </p:nvSpPr>
        <p:spPr>
          <a:xfrm>
            <a:off x="6821424" y="2130552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21424" y="2130552"/>
            <a:ext cx="201168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6821424" y="21305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OUTPUT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876288" y="235000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결함 식별 결과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+ BBox 좌표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" y="2843784"/>
            <a:ext cx="169164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384048" y="289864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정밀 측정 기능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84048" y="3264408"/>
            <a:ext cx="1481328" cy="18288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384048" y="326440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 err="1"/>
              <a:t>담당</a:t>
            </a:r>
            <a:r>
              <a:rPr lang="en-US" sz="750" b="1" dirty="0"/>
              <a:t> : </a:t>
            </a:r>
            <a:r>
              <a:rPr lang="en-US" sz="750" b="1" dirty="0" err="1"/>
              <a:t>김민규</a:t>
            </a:r>
            <a:endParaRPr lang="en-US" sz="750" dirty="0" err="1"/>
          </a:p>
        </p:txBody>
      </p:sp>
      <p:sp>
        <p:nvSpPr>
          <p:cNvPr id="51" name="Shape 49"/>
          <p:cNvSpPr/>
          <p:nvPr/>
        </p:nvSpPr>
        <p:spPr>
          <a:xfrm>
            <a:off x="2066544" y="2843784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066544" y="2843784"/>
            <a:ext cx="1920240" cy="201168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2066544" y="28437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</a:rPr>
              <a:t>INPUT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121408" y="3063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결함 식별 이미지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(BBox 크롭)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041648" y="3118104"/>
            <a:ext cx="256032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6" name="Shape 54"/>
          <p:cNvSpPr/>
          <p:nvPr/>
        </p:nvSpPr>
        <p:spPr>
          <a:xfrm>
            <a:off x="4261104" y="3044952"/>
            <a:ext cx="54864" cy="21945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7" name="Shape 55"/>
          <p:cNvSpPr/>
          <p:nvPr/>
        </p:nvSpPr>
        <p:spPr>
          <a:xfrm>
            <a:off x="4352544" y="2843784"/>
            <a:ext cx="2084832" cy="640080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4352544" y="2843784"/>
            <a:ext cx="2084832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9" name="Text 57"/>
          <p:cNvSpPr/>
          <p:nvPr/>
        </p:nvSpPr>
        <p:spPr>
          <a:xfrm>
            <a:off x="4352544" y="2843784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PROCESS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407408" y="306324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OpenCV 기하학 분석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(Canny + Skeleton)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492240" y="3118104"/>
            <a:ext cx="256032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2" name="Shape 60"/>
          <p:cNvSpPr/>
          <p:nvPr/>
        </p:nvSpPr>
        <p:spPr>
          <a:xfrm>
            <a:off x="6711696" y="3044952"/>
            <a:ext cx="54864" cy="21945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3" name="Shape 61"/>
          <p:cNvSpPr/>
          <p:nvPr/>
        </p:nvSpPr>
        <p:spPr>
          <a:xfrm>
            <a:off x="6821424" y="2843784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821424" y="2843784"/>
            <a:ext cx="201168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5" name="Text 63"/>
          <p:cNvSpPr/>
          <p:nvPr/>
        </p:nvSpPr>
        <p:spPr>
          <a:xfrm>
            <a:off x="6821424" y="28437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OUTPUT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876288" y="306324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0.1mm 단위 수치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+ 안전 등급 (A~E)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20040" y="3557016"/>
            <a:ext cx="1691640" cy="640080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68" name="Text 66"/>
          <p:cNvSpPr/>
          <p:nvPr/>
        </p:nvSpPr>
        <p:spPr>
          <a:xfrm>
            <a:off x="384048" y="361188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시스템 인터페이스 &amp; 인프라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84048" y="3977640"/>
            <a:ext cx="1481328" cy="18288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384048" y="397764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 err="1"/>
              <a:t>담당</a:t>
            </a:r>
            <a:r>
              <a:rPr lang="en-US" sz="750" b="1" dirty="0"/>
              <a:t> : </a:t>
            </a:r>
            <a:r>
              <a:rPr lang="en-US" sz="750" b="1" dirty="0" err="1"/>
              <a:t>김준우</a:t>
            </a:r>
            <a:r>
              <a:rPr lang="en-US" sz="750" b="1" dirty="0"/>
              <a:t> · </a:t>
            </a:r>
            <a:r>
              <a:rPr lang="en-US" sz="750" b="1" dirty="0" err="1"/>
              <a:t>김광훈</a:t>
            </a:r>
            <a:endParaRPr lang="en-US" sz="750" dirty="0" err="1"/>
          </a:p>
        </p:txBody>
      </p:sp>
      <p:sp>
        <p:nvSpPr>
          <p:cNvPr id="71" name="Shape 69"/>
          <p:cNvSpPr/>
          <p:nvPr/>
        </p:nvSpPr>
        <p:spPr>
          <a:xfrm>
            <a:off x="2066544" y="3557016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066544" y="3557016"/>
            <a:ext cx="1920240" cy="201168"/>
          </a:xfrm>
          <a:prstGeom prst="rect">
            <a:avLst/>
          </a:prstGeom>
          <a:solidFill>
            <a:srgbClr val="0F52BA">
              <a:alpha val="25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2066544" y="35570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52BA"/>
                </a:solidFill>
              </a:rPr>
              <a:t>INPUT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2121408" y="37764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AI 분석 데이터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(JSON 결과값)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041648" y="3831336"/>
            <a:ext cx="256032" cy="73152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76" name="Shape 74"/>
          <p:cNvSpPr/>
          <p:nvPr/>
        </p:nvSpPr>
        <p:spPr>
          <a:xfrm>
            <a:off x="4261104" y="3758184"/>
            <a:ext cx="54864" cy="219456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77" name="Shape 75"/>
          <p:cNvSpPr/>
          <p:nvPr/>
        </p:nvSpPr>
        <p:spPr>
          <a:xfrm>
            <a:off x="4352544" y="3557016"/>
            <a:ext cx="2084832" cy="640080"/>
          </a:xfrm>
          <a:prstGeom prst="rect">
            <a:avLst/>
          </a:prstGeom>
          <a:solidFill>
            <a:srgbClr val="0F52BA">
              <a:alpha val="12000"/>
            </a:srgbClr>
          </a:solidFill>
          <a:ln w="12700">
            <a:solidFill>
              <a:srgbClr val="0F52BA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4352544" y="3557016"/>
            <a:ext cx="2084832" cy="201168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79" name="Text 77"/>
          <p:cNvSpPr/>
          <p:nvPr/>
        </p:nvSpPr>
        <p:spPr>
          <a:xfrm>
            <a:off x="4352544" y="3557016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PROCESS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407408" y="377647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FastAPI 서버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+ UI 매핑 로직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492240" y="3831336"/>
            <a:ext cx="256032" cy="73152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82" name="Shape 80"/>
          <p:cNvSpPr/>
          <p:nvPr/>
        </p:nvSpPr>
        <p:spPr>
          <a:xfrm>
            <a:off x="6711696" y="3758184"/>
            <a:ext cx="54864" cy="219456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83" name="Shape 81"/>
          <p:cNvSpPr/>
          <p:nvPr/>
        </p:nvSpPr>
        <p:spPr>
          <a:xfrm>
            <a:off x="6821424" y="3557016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821424" y="3557016"/>
            <a:ext cx="2011680" cy="201168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85" name="Text 83"/>
          <p:cNvSpPr/>
          <p:nvPr/>
        </p:nvSpPr>
        <p:spPr>
          <a:xfrm>
            <a:off x="6821424" y="3557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OUTPUT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876288" y="377647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실시간 모니터링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화면 (React Native)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320040" y="4270248"/>
            <a:ext cx="169164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8" name="Text 86"/>
          <p:cNvSpPr/>
          <p:nvPr/>
        </p:nvSpPr>
        <p:spPr>
          <a:xfrm>
            <a:off x="384048" y="43251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보고서 자동화 기능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384048" y="4690872"/>
            <a:ext cx="1481328" cy="18288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384048" y="469087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 err="1"/>
              <a:t>담당</a:t>
            </a:r>
            <a:r>
              <a:rPr lang="en-US" sz="750" b="1" dirty="0"/>
              <a:t> : </a:t>
            </a:r>
            <a:r>
              <a:rPr lang="en-US" sz="750" b="1" dirty="0" err="1"/>
              <a:t>김준우</a:t>
            </a:r>
            <a:r>
              <a:rPr lang="en-US" sz="750" b="1" dirty="0"/>
              <a:t> · </a:t>
            </a:r>
            <a:r>
              <a:rPr lang="en-US" sz="750" b="1" dirty="0" err="1"/>
              <a:t>김광훈</a:t>
            </a:r>
            <a:endParaRPr lang="en-US" sz="750" err="1">
              <a:ea typeface="Calibri"/>
              <a:cs typeface="Calibri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2066544" y="4270248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066544" y="4270248"/>
            <a:ext cx="1920240" cy="201168"/>
          </a:xfrm>
          <a:prstGeom prst="rect">
            <a:avLst/>
          </a:prstGeom>
          <a:solidFill>
            <a:srgbClr val="D97706">
              <a:alpha val="25000"/>
            </a:srgbClr>
          </a:solidFill>
          <a:ln/>
        </p:spPr>
      </p:sp>
      <p:sp>
        <p:nvSpPr>
          <p:cNvPr id="93" name="Text 91"/>
          <p:cNvSpPr/>
          <p:nvPr/>
        </p:nvSpPr>
        <p:spPr>
          <a:xfrm>
            <a:off x="2066544" y="42702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INPUT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2121408" y="44897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진단 결과 전체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(등급 + 수치 + 이미지)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041648" y="4544568"/>
            <a:ext cx="256032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6" name="Shape 94"/>
          <p:cNvSpPr/>
          <p:nvPr/>
        </p:nvSpPr>
        <p:spPr>
          <a:xfrm>
            <a:off x="4261104" y="4471416"/>
            <a:ext cx="54864" cy="2194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7" name="Shape 95"/>
          <p:cNvSpPr/>
          <p:nvPr/>
        </p:nvSpPr>
        <p:spPr>
          <a:xfrm>
            <a:off x="4352544" y="4270248"/>
            <a:ext cx="2084832" cy="640080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dash"/>
          </a:ln>
        </p:spPr>
      </p:sp>
      <p:sp>
        <p:nvSpPr>
          <p:cNvPr id="98" name="Shape 96"/>
          <p:cNvSpPr/>
          <p:nvPr/>
        </p:nvSpPr>
        <p:spPr>
          <a:xfrm>
            <a:off x="4352544" y="4270248"/>
            <a:ext cx="2084832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9" name="Text 97"/>
          <p:cNvSpPr/>
          <p:nvPr/>
        </p:nvSpPr>
        <p:spPr>
          <a:xfrm>
            <a:off x="4352544" y="427024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PROCESS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4407408" y="448970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보고서 생성 엔진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(python-docx / ReportLab)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6492240" y="4544568"/>
            <a:ext cx="256032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2" name="Shape 100"/>
          <p:cNvSpPr/>
          <p:nvPr/>
        </p:nvSpPr>
        <p:spPr>
          <a:xfrm>
            <a:off x="6711696" y="4471416"/>
            <a:ext cx="54864" cy="2194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3" name="Shape 101"/>
          <p:cNvSpPr/>
          <p:nvPr/>
        </p:nvSpPr>
        <p:spPr>
          <a:xfrm>
            <a:off x="6821424" y="4270248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821424" y="4270248"/>
            <a:ext cx="2011680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5" name="Text 103"/>
          <p:cNvSpPr/>
          <p:nvPr/>
        </p:nvSpPr>
        <p:spPr>
          <a:xfrm>
            <a:off x="6821424" y="4270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OUTPUT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6876288" y="448970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국토안전관리원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표준 보고서 (PDF/DOCX)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320040" y="5010912"/>
            <a:ext cx="8503920" cy="0"/>
          </a:xfrm>
          <a:prstGeom prst="rect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4A3B8"/>
                </a:solidFill>
              </a:rPr>
              <a:t>AI </a:t>
            </a:r>
            <a:r>
              <a:rPr lang="en-US" sz="900" dirty="0" err="1">
                <a:solidFill>
                  <a:srgbClr val="94A3B8"/>
                </a:solidFill>
              </a:rPr>
              <a:t>CrackBot</a:t>
            </a:r>
            <a:r>
              <a:rPr lang="en-US" sz="900" dirty="0">
                <a:solidFill>
                  <a:srgbClr val="94A3B8"/>
                </a:solidFill>
              </a:rPr>
              <a:t>  | 13 / 14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22000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F52BA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CrackBot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93C5FD"/>
                </a:solidFill>
              </a:rPr>
              <a:t>인간의 한계를 넘어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93C5FD"/>
                </a:solidFill>
              </a:rPr>
              <a:t>건축물 안전의 새 기준을 세우다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200400" cy="36576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718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⏱  점검 시간 50% 단축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29718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📄  보고서 작성 70% 절감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🎯  탐지 정확도 90%+ 목표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35661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🔩  0.1mm 초정밀 균열 측정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발표자  김광훈  |  2026 한이음 드림업 프로젝트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83680" y="1371600"/>
            <a:ext cx="1645920" cy="1645920"/>
          </a:xfrm>
          <a:prstGeom prst="ellipse">
            <a:avLst/>
          </a:prstGeom>
          <a:solidFill>
            <a:srgbClr val="0F52BA">
              <a:alpha val="50000"/>
            </a:srgbClr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691640"/>
            <a:ext cx="1005840" cy="10058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217920" y="3200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Thank You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217920" y="3749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3C5FD"/>
                </a:solidFill>
              </a:rPr>
              <a:t>Q &amp; 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화면 슬라이드 쇼(16:9)</PresentationFormat>
  <Paragraphs>0</Paragraphs>
  <Slides>14</Slides>
  <Notes>14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CrackBot - 2026 한이음 드림업 프로젝트</dc:title>
  <dc:subject>PptxGenJS Presentation</dc:subject>
  <dc:creator>김광훈</dc:creator>
  <cp:lastModifiedBy>김광훈</cp:lastModifiedBy>
  <cp:revision>84</cp:revision>
  <dcterms:created xsi:type="dcterms:W3CDTF">2026-03-10T06:26:27Z</dcterms:created>
  <dcterms:modified xsi:type="dcterms:W3CDTF">2026-03-27T03:38:42Z</dcterms:modified>
</cp:coreProperties>
</file>